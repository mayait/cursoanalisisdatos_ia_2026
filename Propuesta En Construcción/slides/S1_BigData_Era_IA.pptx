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del curso: por qué los datos se volvieron el activo central de los negocios.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números son estimaciones para dimensionar la escala, no cifras auditadas.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Desmontar la idea de que Big Data es solo 'muchos datos': es un problema de capacidad relativa.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las 5 V rápido y detenerse en Valor: el hilo conductor del semestre.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ejemplos de cada fuente en negocios ecuatorianos que los estudiantes conozcan.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peldaño responde una pregunta distinta y vale distinto para el negocio.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Metáfora combustible-motor-destino. La IAG bajó la barrera de entrada; el criterio sigue siendo humano.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Casos cercanos a la experiencia de los estudiantes. Todos usan los modelos que veremos en el semestre.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la sesión 1: el rol del analista. Transición a la presentación del proyecto integrador.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3108960"/>
            <a:ext cx="146304" cy="146304"/>
          </a:xfrm>
          <a:prstGeom prst="ellipse">
            <a:avLst/>
          </a:prstGeom>
          <a:solidFill>
            <a:srgbClr val="38BDF8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23960" y="3108960"/>
            <a:ext cx="146304" cy="146304"/>
          </a:xfrm>
          <a:prstGeom prst="ellipse">
            <a:avLst/>
          </a:prstGeom>
          <a:solidFill>
            <a:srgbClr val="38BDF8">
              <a:alpha val="61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3108960"/>
            <a:ext cx="146304" cy="146304"/>
          </a:xfrm>
          <a:prstGeom prst="ellipse">
            <a:avLst/>
          </a:prstGeom>
          <a:solidFill>
            <a:srgbClr val="38BDF8">
              <a:alpha val="5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29800" y="3108960"/>
            <a:ext cx="146304" cy="146304"/>
          </a:xfrm>
          <a:prstGeom prst="ellipse">
            <a:avLst/>
          </a:prstGeom>
          <a:solidFill>
            <a:srgbClr val="38BDF8">
              <a:alpha val="43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0" y="3108960"/>
            <a:ext cx="146304" cy="146304"/>
          </a:xfrm>
          <a:prstGeom prst="ellipse">
            <a:avLst/>
          </a:prstGeom>
          <a:solidFill>
            <a:srgbClr val="38BDF8">
              <a:alpha val="3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35640" y="3108960"/>
            <a:ext cx="146304" cy="146304"/>
          </a:xfrm>
          <a:prstGeom prst="ellipse">
            <a:avLst/>
          </a:prstGeom>
          <a:solidFill>
            <a:srgbClr val="38BDF8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0" y="3108960"/>
            <a:ext cx="146304" cy="146304"/>
          </a:xfrm>
          <a:prstGeom prst="ellipse">
            <a:avLst/>
          </a:prstGeom>
          <a:solidFill>
            <a:srgbClr val="38BDF8">
              <a:alpha val="1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3611880"/>
            <a:ext cx="146304" cy="146304"/>
          </a:xfrm>
          <a:prstGeom prst="ellipse">
            <a:avLst/>
          </a:prstGeom>
          <a:solidFill>
            <a:srgbClr val="38BDF8">
              <a:alpha val="69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823960" y="3611880"/>
            <a:ext cx="146304" cy="146304"/>
          </a:xfrm>
          <a:prstGeom prst="ellipse">
            <a:avLst/>
          </a:prstGeom>
          <a:solidFill>
            <a:srgbClr val="38BDF8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26880" y="3611880"/>
            <a:ext cx="146304" cy="146304"/>
          </a:xfrm>
          <a:prstGeom prst="ellipse">
            <a:avLst/>
          </a:prstGeom>
          <a:solidFill>
            <a:srgbClr val="38BDF8">
              <a:alpha val="51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829800" y="3611880"/>
            <a:ext cx="146304" cy="146304"/>
          </a:xfrm>
          <a:prstGeom prst="ellipse">
            <a:avLst/>
          </a:prstGeom>
          <a:solidFill>
            <a:srgbClr val="38BDF8">
              <a:alpha val="4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332720" y="3611880"/>
            <a:ext cx="146304" cy="146304"/>
          </a:xfrm>
          <a:prstGeom prst="ellipse">
            <a:avLst/>
          </a:prstGeom>
          <a:solidFill>
            <a:srgbClr val="38BDF8">
              <a:alpha val="3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835640" y="3611880"/>
            <a:ext cx="146304" cy="146304"/>
          </a:xfrm>
          <a:prstGeom prst="ellipse">
            <a:avLst/>
          </a:prstGeom>
          <a:solidFill>
            <a:srgbClr val="38BDF8">
              <a:alpha val="2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38560" y="3611880"/>
            <a:ext cx="146304" cy="146304"/>
          </a:xfrm>
          <a:prstGeom prst="ellipse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4114800"/>
            <a:ext cx="146304" cy="146304"/>
          </a:xfrm>
          <a:prstGeom prst="ellipse">
            <a:avLst/>
          </a:prstGeom>
          <a:solidFill>
            <a:srgbClr val="38BDF8">
              <a:alpha val="6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823960" y="4114800"/>
            <a:ext cx="146304" cy="146304"/>
          </a:xfrm>
          <a:prstGeom prst="ellipse">
            <a:avLst/>
          </a:prstGeom>
          <a:solidFill>
            <a:srgbClr val="38BDF8">
              <a:alpha val="59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326880" y="4114800"/>
            <a:ext cx="146304" cy="146304"/>
          </a:xfrm>
          <a:prstGeom prst="ellipse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829800" y="4114800"/>
            <a:ext cx="146304" cy="146304"/>
          </a:xfrm>
          <a:prstGeom prst="ellipse">
            <a:avLst/>
          </a:prstGeom>
          <a:solidFill>
            <a:srgbClr val="38BDF8">
              <a:alpha val="41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332720" y="4114800"/>
            <a:ext cx="146304" cy="146304"/>
          </a:xfrm>
          <a:prstGeom prst="ellipse">
            <a:avLst/>
          </a:prstGeom>
          <a:solidFill>
            <a:srgbClr val="38BDF8">
              <a:alpha val="3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835640" y="4114800"/>
            <a:ext cx="146304" cy="146304"/>
          </a:xfrm>
          <a:prstGeom prst="ellipse">
            <a:avLst/>
          </a:prstGeom>
          <a:solidFill>
            <a:srgbClr val="38BDF8">
              <a:alpha val="2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4114800"/>
            <a:ext cx="146304" cy="146304"/>
          </a:xfrm>
          <a:prstGeom prst="ellipse">
            <a:avLst/>
          </a:prstGeom>
          <a:solidFill>
            <a:srgbClr val="38BDF8">
              <a:alpha val="1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321040" y="4617720"/>
            <a:ext cx="146304" cy="146304"/>
          </a:xfrm>
          <a:prstGeom prst="ellipse">
            <a:avLst/>
          </a:prstGeom>
          <a:solidFill>
            <a:srgbClr val="38BDF8">
              <a:alpha val="67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823960" y="4617720"/>
            <a:ext cx="146304" cy="146304"/>
          </a:xfrm>
          <a:prstGeom prst="ellipse">
            <a:avLst/>
          </a:prstGeom>
          <a:solidFill>
            <a:srgbClr val="38BDF8">
              <a:alpha val="5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326880" y="4617720"/>
            <a:ext cx="146304" cy="146304"/>
          </a:xfrm>
          <a:prstGeom prst="ellipse">
            <a:avLst/>
          </a:prstGeom>
          <a:solidFill>
            <a:srgbClr val="38BDF8">
              <a:alpha val="49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829800" y="4617720"/>
            <a:ext cx="146304" cy="146304"/>
          </a:xfrm>
          <a:prstGeom prst="ellipse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332720" y="4617720"/>
            <a:ext cx="146304" cy="146304"/>
          </a:xfrm>
          <a:prstGeom prst="ellipse">
            <a:avLst/>
          </a:prstGeom>
          <a:solidFill>
            <a:srgbClr val="38BDF8">
              <a:alpha val="31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835640" y="4617720"/>
            <a:ext cx="146304" cy="146304"/>
          </a:xfrm>
          <a:prstGeom prst="ellipse">
            <a:avLst/>
          </a:prstGeom>
          <a:solidFill>
            <a:srgbClr val="38BDF8">
              <a:alpha val="2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338560" y="4617720"/>
            <a:ext cx="146304" cy="146304"/>
          </a:xfrm>
          <a:prstGeom prst="ellipse">
            <a:avLst/>
          </a:prstGeom>
          <a:solidFill>
            <a:srgbClr val="38BDF8">
              <a:alpha val="13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5120640"/>
            <a:ext cx="146304" cy="146304"/>
          </a:xfrm>
          <a:prstGeom prst="ellipse">
            <a:avLst/>
          </a:prstGeom>
          <a:solidFill>
            <a:srgbClr val="38BDF8">
              <a:alpha val="66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823960" y="5120640"/>
            <a:ext cx="146304" cy="146304"/>
          </a:xfrm>
          <a:prstGeom prst="ellipse">
            <a:avLst/>
          </a:prstGeom>
          <a:solidFill>
            <a:srgbClr val="38BDF8">
              <a:alpha val="57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326880" y="5120640"/>
            <a:ext cx="146304" cy="146304"/>
          </a:xfrm>
          <a:prstGeom prst="ellipse">
            <a:avLst/>
          </a:prstGeom>
          <a:solidFill>
            <a:srgbClr val="38BDF8">
              <a:alpha val="4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829800" y="5120640"/>
            <a:ext cx="146304" cy="146304"/>
          </a:xfrm>
          <a:prstGeom prst="ellipse">
            <a:avLst/>
          </a:prstGeom>
          <a:solidFill>
            <a:srgbClr val="38BDF8">
              <a:alpha val="39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332720" y="5120640"/>
            <a:ext cx="146304" cy="146304"/>
          </a:xfrm>
          <a:prstGeom prst="ellipse">
            <a:avLst/>
          </a:prstGeom>
          <a:solidFill>
            <a:srgbClr val="38BDF8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835640" y="5120640"/>
            <a:ext cx="146304" cy="146304"/>
          </a:xfrm>
          <a:prstGeom prst="ellipse">
            <a:avLst/>
          </a:prstGeom>
          <a:solidFill>
            <a:srgbClr val="38BDF8">
              <a:alpha val="21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338560" y="5120640"/>
            <a:ext cx="146304" cy="146304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321040" y="5623560"/>
            <a:ext cx="146304" cy="146304"/>
          </a:xfrm>
          <a:prstGeom prst="ellipse">
            <a:avLst/>
          </a:prstGeom>
          <a:solidFill>
            <a:srgbClr val="38BDF8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823960" y="5623560"/>
            <a:ext cx="146304" cy="146304"/>
          </a:xfrm>
          <a:prstGeom prst="ellipse">
            <a:avLst/>
          </a:prstGeom>
          <a:solidFill>
            <a:srgbClr val="38BDF8">
              <a:alpha val="56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326880" y="5623560"/>
            <a:ext cx="146304" cy="146304"/>
          </a:xfrm>
          <a:prstGeom prst="ellipse">
            <a:avLst/>
          </a:prstGeom>
          <a:solidFill>
            <a:srgbClr val="38BDF8">
              <a:alpha val="47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829800" y="5623560"/>
            <a:ext cx="146304" cy="146304"/>
          </a:xfrm>
          <a:prstGeom prst="ellipse">
            <a:avLst/>
          </a:prstGeom>
          <a:solidFill>
            <a:srgbClr val="38BDF8">
              <a:alpha val="3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332720" y="5623560"/>
            <a:ext cx="146304" cy="146304"/>
          </a:xfrm>
          <a:prstGeom prst="ellipse">
            <a:avLst/>
          </a:prstGeom>
          <a:solidFill>
            <a:srgbClr val="38BDF8">
              <a:alpha val="29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835640" y="5623560"/>
            <a:ext cx="146304" cy="146304"/>
          </a:xfrm>
          <a:prstGeom prst="ellipse">
            <a:avLst/>
          </a:prstGeom>
          <a:solidFill>
            <a:srgbClr val="38BDF8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338560" y="5623560"/>
            <a:ext cx="146304" cy="146304"/>
          </a:xfrm>
          <a:prstGeom prst="ellipse">
            <a:avLst/>
          </a:prstGeom>
          <a:solidFill>
            <a:srgbClr val="38BDF8">
              <a:alpha val="11000"/>
            </a:srgbClr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9436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 2003 · ANÁLISIS DE DATOS CON IA · SESIÓN 1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18288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</a:t>
            </a:r>
            <a:endParaRPr lang="en-US" sz="8000" dirty="0"/>
          </a:p>
        </p:txBody>
      </p:sp>
      <p:sp>
        <p:nvSpPr>
          <p:cNvPr id="46" name="Text 44"/>
          <p:cNvSpPr txBox="1"/>
          <p:nvPr/>
        </p:nvSpPr>
        <p:spPr>
          <a:xfrm>
            <a:off x="59436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era de la inteligencia artificial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PUNTO DE PARTIDA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mundo produce datos sin parar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514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400 M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terabytes de datos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nuevos cada día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21031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2514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h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video suben a YouTube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minuto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66760" y="210312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0" y="2514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 mil M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3611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personas conectadas</a:t>
            </a:r>
            <a:endParaRPr lang="en-US" sz="14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internet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Estimaciones globales 2024–2025. El punto no es la cifra exacta: es la escala.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DEFINICIÓN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2344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 es cuando los datos superan lo que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 herramientas de siempre pueden manejar.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306324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3355848"/>
            <a:ext cx="603504" cy="603504"/>
          </a:xfrm>
          <a:prstGeom prst="ellipse">
            <a:avLst/>
          </a:prstGeom>
          <a:solidFill>
            <a:srgbClr val="8FA0B8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809" y="3500689"/>
            <a:ext cx="313822" cy="3138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hoja de cálculo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2976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1.048.576 filas. Ahí se acaba Excel.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306324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1A2337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10528" y="3355848"/>
            <a:ext cx="603504" cy="603504"/>
          </a:xfrm>
          <a:prstGeom prst="ellipse">
            <a:avLst/>
          </a:prstGeom>
          <a:solidFill>
            <a:srgbClr val="38BDF8">
              <a:alpha val="14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3500689"/>
            <a:ext cx="313822" cy="3138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día de retail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42976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Decenas de millones de transacciones diarias en una sola cadena.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 tamaño fijo: es un desborde relativo a tu capacidad de procesarlo.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MARCO CLÁSICO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cinco V del Big Data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70916" y="2057400"/>
            <a:ext cx="2139696" cy="3017520"/>
          </a:xfrm>
          <a:prstGeom prst="roundRect">
            <a:avLst>
              <a:gd name="adj" fmla="val 3846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4148" y="2523744"/>
            <a:ext cx="713232" cy="713232"/>
          </a:xfrm>
          <a:prstGeom prst="ellipse">
            <a:avLst/>
          </a:prstGeom>
          <a:solidFill>
            <a:srgbClr val="38BDF8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5324" y="2694920"/>
            <a:ext cx="370881" cy="3708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2356" y="3429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Volumen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635508" y="384048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Cuántos datos hay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47772" y="2057400"/>
            <a:ext cx="2139696" cy="3017520"/>
          </a:xfrm>
          <a:prstGeom prst="roundRect">
            <a:avLst>
              <a:gd name="adj" fmla="val 3846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61004" y="2523744"/>
            <a:ext cx="713232" cy="713232"/>
          </a:xfrm>
          <a:prstGeom prst="ellipse">
            <a:avLst/>
          </a:prstGeom>
          <a:solidFill>
            <a:srgbClr val="38BDF8">
              <a:alpha val="14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180" y="2694920"/>
            <a:ext cx="370881" cy="37088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39212" y="3429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2912364" y="384048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qué ritmo llegan y caducan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4628" y="2057400"/>
            <a:ext cx="2139696" cy="3017520"/>
          </a:xfrm>
          <a:prstGeom prst="roundRect">
            <a:avLst>
              <a:gd name="adj" fmla="val 3846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37860" y="2523744"/>
            <a:ext cx="713232" cy="713232"/>
          </a:xfrm>
          <a:prstGeom prst="ellipse">
            <a:avLst/>
          </a:prstGeom>
          <a:solidFill>
            <a:srgbClr val="38BDF8">
              <a:alpha val="14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036" y="2694920"/>
            <a:ext cx="370881" cy="37088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16068" y="3429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Variedad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5189220" y="384048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Tablas, texto, imagen, audio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01484" y="2057400"/>
            <a:ext cx="2139696" cy="3017520"/>
          </a:xfrm>
          <a:prstGeom prst="roundRect">
            <a:avLst>
              <a:gd name="adj" fmla="val 3846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14716" y="2523744"/>
            <a:ext cx="713232" cy="713232"/>
          </a:xfrm>
          <a:prstGeom prst="ellipse">
            <a:avLst/>
          </a:prstGeom>
          <a:solidFill>
            <a:srgbClr val="38BDF8">
              <a:alpha val="14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892" y="2694920"/>
            <a:ext cx="370881" cy="37088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92924" y="3429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Veracidad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7466076" y="384048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tan confiables son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578340" y="2057400"/>
            <a:ext cx="2139696" cy="3017520"/>
          </a:xfrm>
          <a:prstGeom prst="roundRect">
            <a:avLst>
              <a:gd name="adj" fmla="val 3846"/>
            </a:avLst>
          </a:prstGeom>
          <a:solidFill>
            <a:srgbClr val="1A2337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291572" y="2523744"/>
            <a:ext cx="713232" cy="713232"/>
          </a:xfrm>
          <a:prstGeom prst="ellipse">
            <a:avLst/>
          </a:prstGeom>
          <a:solidFill>
            <a:srgbClr val="A78BFA">
              <a:alpha val="14000"/>
            </a:srgbClr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2748" y="2694920"/>
            <a:ext cx="370881" cy="37088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69780" y="342900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1650" dirty="0"/>
          </a:p>
        </p:txBody>
      </p:sp>
      <p:sp>
        <p:nvSpPr>
          <p:cNvPr id="28" name="Text 21"/>
          <p:cNvSpPr txBox="1"/>
          <p:nvPr/>
        </p:nvSpPr>
        <p:spPr>
          <a:xfrm>
            <a:off x="9742932" y="384048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decisión mejoran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59436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quinta es la que importa en este curso: datos sin decisión son solo costo de almacenamiento.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FUENTES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¿De dónde salen tantos datos?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231136"/>
            <a:ext cx="603504" cy="603504"/>
          </a:xfrm>
          <a:prstGeom prst="ellipse">
            <a:avLst/>
          </a:prstGeom>
          <a:solidFill>
            <a:srgbClr val="38BDF8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377" y="2375977"/>
            <a:ext cx="313822" cy="3138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258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67919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compra, factura y pago que registra un sistema.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83096" y="2231136"/>
            <a:ext cx="603504" cy="603504"/>
          </a:xfrm>
          <a:prstGeom prst="ellipse">
            <a:avLst/>
          </a:prstGeom>
          <a:solidFill>
            <a:srgbClr val="38BDF8">
              <a:alpha val="14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937" y="2375977"/>
            <a:ext cx="313822" cy="3138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258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e IoT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269480" y="267919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Máquinas, vehículos y tiendas que reportan solos, todo el tiempo.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402336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9536" y="4288536"/>
            <a:ext cx="603504" cy="603504"/>
          </a:xfrm>
          <a:prstGeom prst="ellipse">
            <a:avLst/>
          </a:prstGeom>
          <a:solidFill>
            <a:srgbClr val="38BDF8">
              <a:alpha val="14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77" y="4433377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315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Clics y redes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73659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interacción digital deja huella: búsquedas, likes, carritos abandonados.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83096" y="4288536"/>
            <a:ext cx="603504" cy="603504"/>
          </a:xfrm>
          <a:prstGeom prst="ellipse">
            <a:avLst/>
          </a:prstGeom>
          <a:solidFill>
            <a:srgbClr val="38BDF8">
              <a:alpha val="14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937" y="4433377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315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Texto, voz e imagen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269480" y="473659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mayoría de los datos del mundo no vive en tablas. La IA los volvió analizables.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DATOS A LA DECISIÓN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escalera analítica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63524" y="4480560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2230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3524" y="3977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pasó?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4964" y="5102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9292" y="3840480"/>
            <a:ext cx="2514600" cy="1828800"/>
          </a:xfrm>
          <a:prstGeom prst="roundRect">
            <a:avLst>
              <a:gd name="adj" fmla="val 3000"/>
            </a:avLst>
          </a:prstGeom>
          <a:solidFill>
            <a:srgbClr val="2743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9292" y="33375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pasó?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70732" y="5102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5060" y="3200400"/>
            <a:ext cx="2514600" cy="2468880"/>
          </a:xfrm>
          <a:prstGeom prst="roundRect">
            <a:avLst>
              <a:gd name="adj" fmla="val 2222"/>
            </a:avLst>
          </a:prstGeom>
          <a:solidFill>
            <a:srgbClr val="2E6E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95060" y="2697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va a pasar?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86500" y="5102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10828" y="2560320"/>
            <a:ext cx="2514600" cy="3108960"/>
          </a:xfrm>
          <a:prstGeom prst="roundRect">
            <a:avLst>
              <a:gd name="adj" fmla="val 2182"/>
            </a:avLst>
          </a:prstGeom>
          <a:solidFill>
            <a:srgbClr val="38BD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10828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hacemos?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002268" y="51023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Prescriptivo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curso sube la escalera completa en dieciséis semanas.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 + 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son el combustible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22376" y="2048256"/>
            <a:ext cx="658368" cy="658368"/>
          </a:xfrm>
          <a:prstGeom prst="ellipse">
            <a:avLst/>
          </a:prstGeom>
          <a:solidFill>
            <a:srgbClr val="38BDF8">
              <a:alpha val="14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384" y="2206264"/>
            <a:ext cx="342351" cy="3423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9933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— el combustible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39572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datos no hay nada que aprender. Con datos malos, se aprende mal.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22376" y="3218688"/>
            <a:ext cx="658368" cy="658368"/>
          </a:xfrm>
          <a:prstGeom prst="ellipse">
            <a:avLst/>
          </a:prstGeom>
          <a:solidFill>
            <a:srgbClr val="38BDF8">
              <a:alpha val="14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384" y="3376696"/>
            <a:ext cx="342351" cy="34235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316382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— el motor</a:t>
            </a:r>
            <a:endParaRPr lang="en-US" sz="175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5661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encuentra patrones que ningún humano alcanza a ver a esa escala.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22376" y="4389120"/>
            <a:ext cx="658368" cy="658368"/>
          </a:xfrm>
          <a:prstGeom prst="ellipse">
            <a:avLst/>
          </a:prstGeom>
          <a:solidFill>
            <a:srgbClr val="38BDF8">
              <a:alpha val="14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384" y="4547128"/>
            <a:ext cx="342351" cy="34235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433425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— el destino</a:t>
            </a:r>
            <a:endParaRPr lang="en-US" sz="1750" dirty="0"/>
          </a:p>
        </p:txBody>
      </p:sp>
      <p:sp>
        <p:nvSpPr>
          <p:cNvPr id="15" name="Text 10"/>
          <p:cNvSpPr txBox="1"/>
          <p:nvPr/>
        </p:nvSpPr>
        <p:spPr>
          <a:xfrm>
            <a:off x="1691640" y="473659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resultado no cambia ninguna decisión, no se creó valor.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909560" y="1965960"/>
            <a:ext cx="3703320" cy="3429000"/>
          </a:xfrm>
          <a:prstGeom prst="roundRect">
            <a:avLst>
              <a:gd name="adj" fmla="val 2400"/>
            </a:avLst>
          </a:prstGeom>
          <a:solidFill>
            <a:srgbClr val="1A2337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183880" y="2286000"/>
            <a:ext cx="640080" cy="640080"/>
          </a:xfrm>
          <a:prstGeom prst="ellipse">
            <a:avLst/>
          </a:prstGeom>
          <a:solidFill>
            <a:srgbClr val="A78BFA">
              <a:alpha val="14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499" y="2439619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27532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giro de la IAG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275320" y="35661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puedes conversar con tus datos en lenguaje natural.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semestre: aprender a hacerlo con criterio.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LOS NEGOCIOS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ya decide cosas todos los días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231136"/>
            <a:ext cx="603504" cy="603504"/>
          </a:xfrm>
          <a:prstGeom prst="ellipse">
            <a:avLst/>
          </a:prstGeom>
          <a:solidFill>
            <a:srgbClr val="38BDF8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377" y="2375977"/>
            <a:ext cx="313822" cy="31382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258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67919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y Spotify: “porque viste…”. El catálogo se ordena para ti.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83096" y="2231136"/>
            <a:ext cx="603504" cy="603504"/>
          </a:xfrm>
          <a:prstGeom prst="ellipse">
            <a:avLst/>
          </a:prstGeom>
          <a:solidFill>
            <a:srgbClr val="38BDF8">
              <a:alpha val="14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937" y="2375977"/>
            <a:ext cx="313822" cy="31382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258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269480" y="267919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banco aprueba o bloquea una transacción en milisegundos.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402336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9536" y="4288536"/>
            <a:ext cx="603504" cy="603504"/>
          </a:xfrm>
          <a:prstGeom prst="ellipse">
            <a:avLst/>
          </a:prstGeom>
          <a:solidFill>
            <a:srgbClr val="38BDF8">
              <a:alpha val="14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377" y="4433377"/>
            <a:ext cx="313822" cy="31382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315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73659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Retail: clientes que valen distinto reciben ofertas distintas.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83096" y="4288536"/>
            <a:ext cx="603504" cy="603504"/>
          </a:xfrm>
          <a:prstGeom prst="ellipse">
            <a:avLst/>
          </a:prstGeom>
          <a:solidFill>
            <a:srgbClr val="38BDF8">
              <a:alpha val="14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937" y="4433377"/>
            <a:ext cx="313822" cy="31382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315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Logística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269480" y="473659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que se recalculan con tráfico y demanda en vivo.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LADO B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" y="1316736"/>
            <a:ext cx="566928" cy="566928"/>
          </a:xfrm>
          <a:prstGeom prst="ellipse">
            <a:avLst/>
          </a:prstGeom>
          <a:solidFill>
            <a:srgbClr val="A78BFA">
              <a:alpha val="14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599" y="1452799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Sesgo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0574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modelo aprende del pasado, con sus injusticias incluidas.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80560" y="105156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45736" y="1316736"/>
            <a:ext cx="566928" cy="566928"/>
          </a:xfrm>
          <a:prstGeom prst="ellipse">
            <a:avLst/>
          </a:prstGeom>
          <a:solidFill>
            <a:srgbClr val="A78BFA">
              <a:alpha val="14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799" y="1452799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</a:t>
            </a:r>
            <a:endParaRPr lang="en-US" sz="1650" dirty="0"/>
          </a:p>
        </p:txBody>
      </p:sp>
      <p:sp>
        <p:nvSpPr>
          <p:cNvPr id="12" name="Text 8"/>
          <p:cNvSpPr txBox="1"/>
          <p:nvPr/>
        </p:nvSpPr>
        <p:spPr>
          <a:xfrm>
            <a:off x="4754880" y="20574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datos sobre personas exigen más responsabilidad.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366760" y="105156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141B2D"/>
          </a:solidFill>
          <a:ln w="9525">
            <a:solidFill>
              <a:srgbClr val="26324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631936" y="1316736"/>
            <a:ext cx="566928" cy="566928"/>
          </a:xfrm>
          <a:prstGeom prst="ellipse">
            <a:avLst/>
          </a:prstGeom>
          <a:solidFill>
            <a:srgbClr val="A78BFA">
              <a:alpha val="14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999" y="1452799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32688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</a:t>
            </a:r>
            <a:endParaRPr lang="en-US" sz="1650" dirty="0"/>
          </a:p>
        </p:txBody>
      </p:sp>
      <p:sp>
        <p:nvSpPr>
          <p:cNvPr id="17" name="Text 12"/>
          <p:cNvSpPr txBox="1"/>
          <p:nvPr/>
        </p:nvSpPr>
        <p:spPr>
          <a:xfrm>
            <a:off x="8641080" y="20574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Basura entra, basura sale. A cualquier escala.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594360" y="38862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no hablan solos.</a:t>
            </a:r>
            <a:endParaRPr lang="en-US" sz="3200" dirty="0"/>
          </a:p>
        </p:txBody>
      </p:sp>
      <p:sp>
        <p:nvSpPr>
          <p:cNvPr id="19" name="Text 14"/>
          <p:cNvSpPr txBox="1"/>
          <p:nvPr/>
        </p:nvSpPr>
        <p:spPr>
          <a:xfrm>
            <a:off x="594360" y="45262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Alguien tiene que hacerles las preguntas correctas.</a:t>
            </a:r>
            <a:endParaRPr lang="en-US" sz="3200" dirty="0"/>
          </a:p>
        </p:txBody>
      </p:sp>
      <p:sp>
        <p:nvSpPr>
          <p:cNvPr id="20" name="Text 15"/>
          <p:cNvSpPr txBox="1"/>
          <p:nvPr/>
        </p:nvSpPr>
        <p:spPr>
          <a:xfrm>
            <a:off x="59436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F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 alguien eres tú. Empezamos.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2026-08-26T02:43:54Z</dcterms:created>
  <dcterms:modified xsi:type="dcterms:W3CDTF">2026-08-26T02:43:54Z</dcterms:modified>
</cp:coreProperties>
</file>