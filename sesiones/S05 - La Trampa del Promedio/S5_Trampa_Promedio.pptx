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min. Luces plenas. Nada de chistes ni disculpas de apertura: saludo corto y directo a la promesa (siguiente slide). Los dos números de la derecha quedan sin explicar a propósito: son el anzuelo.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min. Leer casi literal: 'Al salir de esta sala vas a poder detectar, en tres minutos y con dos números, cuándo un promedio está mintiendo, y vas a saber qué número pedir en su lugar. Eso vale un presupuesto entero.' Es la idea que se repite tres veces hoy (promesa, regla, contribuciones).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4-12 min. Dibuja la escalera EN LA PIZARRA mientras hablas (reflejo espejo); esta slide queda de respaldo. Un ejemplo por escalón con Superstore. Cerca: 'descriptivo no es lo básico que se salta; es donde el negocio decide a diario'. Señal verbal: 'Ese es el mapa. Hoy, escalón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12-17 min. Teatraliza los mensajes de María (léelos como chat de WhatsApp; son los de la página 1 de D2L). Presenta la regla de casino: en este taller se apuesta antes de calcular; nadie pierde puntos por errar la apuesta, se pierde por no apostar.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 min. La única slide deliberadamente abrumadora de la sesión (hapax legomenon): déjala 20 segundos en silencio. Luego: 'esto es lo que el sistema le entrega a un analista; nadie VE los datos: por eso existe la estadística descriptiva'. Presenta columnas clave: pedido_id, venta, descuento, utilidad.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min. Microcaso de predicción. Cada estudiante escribe SU número en los campos de la página 3 (media y mediana de la muestra a mano). Pide 3 o 4 en voz alta y anótalos en la pizarra. Tolera los 7 segundos de silencio. Pregunta extra: ¿qué % queda debajo del promedio? La mayoría dirá ~50%: ese es el error productivo.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24-32 min. Reveal: todos desbloquean el candado de la página 3 en su dispositivo (media y mediana de la muestra a mano + apuesta del %); proyecta esta slide al abrirse. La sorpresa es el 72.5%. Cuenta el pedido monstruo: $23,661, casi todo un equipo Cisco de videoconferencia. Señal verbal: 'primera trampa cazada: cola larga; vamos a la segunda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32-36 min. Votación a mano alzada: ¿quién dice Muebles? ¿quién Suministros? Cuenta los votos en la pizarra. Pide a dos personas defender su voto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36-44 min. Reveal: candado de la página 4 (votación previa a mano alzada). Muestra en la página las encuadernadoras GBC/Ibico de ~$5,000. Frase clave: 'la media es tan sensible a los extremos que un puñado de ventas decide un plan de inventario'. Señal verbal: 'segunda trampa; queda la peor'.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44-48 min. Microcaso de error plantado: el memo es correcto en sus cifras y equivocado en su conclusión. Lee el memo con voz de auditor. Vota: ¿quién firma? El grupo, escarmentado por los actos 1 y 2, dirá 'la mediana debe ser positiva, no firmo'... y esta vez la mediana también engaña.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48-58 min. Reveal: candado de la página 5. Mediana +$4.13 (la venta típica gana) y aun así el total es -$3,473: 34 ventas pierden más de $100 y se comen $9,506. La tabla por descuento de la página cierra el diagnóstico: sin descuento +$101, con 50-70% pierde $236-260. La decisión no es matar Libreros: es la política de descuentos. Nota que la pregunta descriptiva empujó sola al escalón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58-62 min. El eslogan de la sesión, segunda de las tres repeticiones de la idea central. Que lo lean en voz alta. 'Si la semana que viene alguien les muestra un promedio, la pregunta automática es: ¿me enseñas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62-83 min. Trabajo individual en las páginas de D2L: cierran los candados que falten (página 6: el segmento de oro) y escriben el memo a María. Circula entre los equipos. Cierra pidiendo dos memos leídos en voz alta. La página 7 trae el encargo: reporte de 5 diapositivas para el VP, entrega el miércoles. El cuaderno de Colab queda como práctica opcional.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83-90 min. Slide final: se queda proyectada durante las preguntas (nunca 'Gracias' ni '¿Preguntas?'). Espeja la promesa. Palabras finales, marcando el cierre: 'La próxima vez que un promedio te mire a los ojos, ya sabes qué pedirle. Nos vemos el miércoles.'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685800" y="1188720"/>
            <a:ext cx="1051560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ADM 2003 · ANÁLISIS DE DATOS CON IA Y PYTHON · SESIÓN 5</a:t>
            </a:r>
            <a:endParaRPr lang="en-US" sz="1300" dirty="0"/>
          </a:p>
        </p:txBody>
      </p:sp>
      <p:sp>
        <p:nvSpPr>
          <p:cNvPr id="4" name="Text 1"/>
          <p:cNvSpPr txBox="1"/>
          <p:nvPr/>
        </p:nvSpPr>
        <p:spPr>
          <a:xfrm>
            <a:off x="640080" y="1691640"/>
            <a:ext cx="6858000" cy="2514600"/>
          </a:xfrm>
          <a:prstGeom prst="rect">
            <a:avLst/>
          </a:prstGeom>
          <a:noFill/>
          <a:ln/>
        </p:spPr>
        <p:txBody>
          <a:bodyPr wrap="square" lIns="0" tIns="0" rIns="0" bIns="0" rtlCol="0" anchor="ctr"/>
          <a:lstStyle/>
          <a:p>
            <a:pPr indent="0" marL="0">
              <a:lnSpc>
                <a:spcPts val="6600"/>
              </a:lnSpc>
              <a:buNone/>
            </a:pPr>
            <a:r>
              <a:rPr lang="en-US" sz="6000" b="1" dirty="0">
                <a:solidFill>
                  <a:srgbClr val="1E1E1E"/>
                </a:solidFill>
                <a:latin typeface="Arial" pitchFamily="34" charset="0"/>
                <a:ea typeface="Arial" pitchFamily="34" charset="-122"/>
                <a:cs typeface="Arial" pitchFamily="34" charset="-120"/>
              </a:rPr>
              <a:t>La trampa</a:t>
            </a:r>
            <a:endParaRPr lang="en-US" sz="6000" dirty="0"/>
          </a:p>
          <a:p>
            <a:pPr indent="0" marL="0">
              <a:lnSpc>
                <a:spcPts val="6600"/>
              </a:lnSpc>
              <a:buNone/>
            </a:pPr>
            <a:r>
              <a:rPr lang="en-US" sz="6000" b="1" dirty="0">
                <a:solidFill>
                  <a:srgbClr val="1E1E1E"/>
                </a:solidFill>
                <a:latin typeface="Arial" pitchFamily="34" charset="0"/>
                <a:ea typeface="Arial" pitchFamily="34" charset="-122"/>
                <a:cs typeface="Arial" pitchFamily="34" charset="-120"/>
              </a:rPr>
              <a:t>del promedio</a:t>
            </a:r>
            <a:endParaRPr lang="en-US" sz="6000" dirty="0"/>
          </a:p>
        </p:txBody>
      </p:sp>
      <p:sp>
        <p:nvSpPr>
          <p:cNvPr id="5" name="Text 2"/>
          <p:cNvSpPr txBox="1"/>
          <p:nvPr/>
        </p:nvSpPr>
        <p:spPr>
          <a:xfrm>
            <a:off x="685800" y="4434840"/>
            <a:ext cx="6583680" cy="1005840"/>
          </a:xfrm>
          <a:prstGeom prst="rect">
            <a:avLst/>
          </a:prstGeom>
          <a:noFill/>
          <a:ln/>
        </p:spPr>
        <p:txBody>
          <a:bodyPr wrap="square" lIns="0" tIns="0" rIns="0" bIns="0" rtlCol="0" anchor="ctr"/>
          <a:lstStyle/>
          <a:p>
            <a:pPr indent="0" marL="0">
              <a:lnSpc>
                <a:spcPts val="2800"/>
              </a:lnSpc>
              <a:buNone/>
            </a:pPr>
            <a:r>
              <a:rPr lang="en-US" sz="2000" dirty="0">
                <a:solidFill>
                  <a:srgbClr val="6B6B6B"/>
                </a:solidFill>
                <a:latin typeface="Arial" pitchFamily="34" charset="0"/>
                <a:ea typeface="Arial" pitchFamily="34" charset="-122"/>
                <a:cs typeface="Arial" pitchFamily="34" charset="-120"/>
              </a:rPr>
              <a:t>Tres preguntas fáciles.</a:t>
            </a:r>
            <a:endParaRPr lang="en-US" sz="2000" dirty="0"/>
          </a:p>
          <a:p>
            <a:pPr indent="0" marL="0">
              <a:lnSpc>
                <a:spcPts val="2800"/>
              </a:lnSpc>
              <a:buNone/>
            </a:pPr>
            <a:r>
              <a:rPr lang="en-US" sz="2000" dirty="0">
                <a:solidFill>
                  <a:srgbClr val="6B6B6B"/>
                </a:solidFill>
                <a:latin typeface="Arial" pitchFamily="34" charset="0"/>
                <a:ea typeface="Arial" pitchFamily="34" charset="-122"/>
                <a:cs typeface="Arial" pitchFamily="34" charset="-120"/>
              </a:rPr>
              <a:t>Tres decisiones a punto de arruinarse.</a:t>
            </a:r>
            <a:endParaRPr lang="en-US" sz="2000" dirty="0"/>
          </a:p>
        </p:txBody>
      </p:sp>
      <p:sp>
        <p:nvSpPr>
          <p:cNvPr id="6" name="Text 3"/>
          <p:cNvSpPr txBox="1"/>
          <p:nvPr/>
        </p:nvSpPr>
        <p:spPr>
          <a:xfrm>
            <a:off x="8001000" y="1783080"/>
            <a:ext cx="3566160" cy="914400"/>
          </a:xfrm>
          <a:prstGeom prst="rect">
            <a:avLst/>
          </a:prstGeom>
          <a:noFill/>
          <a:ln/>
        </p:spPr>
        <p:txBody>
          <a:bodyPr wrap="square" lIns="0" tIns="0" rIns="0" bIns="0" rtlCol="0" anchor="ctr"/>
          <a:lstStyle/>
          <a:p>
            <a:pPr indent="0" marL="0">
              <a:buNone/>
            </a:pPr>
            <a:r>
              <a:rPr lang="en-US" sz="6400" b="1" dirty="0">
                <a:solidFill>
                  <a:srgbClr val="A6192E"/>
                </a:solidFill>
                <a:latin typeface="Arial" pitchFamily="34" charset="0"/>
                <a:ea typeface="Arial" pitchFamily="34" charset="-122"/>
                <a:cs typeface="Arial" pitchFamily="34" charset="-120"/>
              </a:rPr>
              <a:t>$459</a:t>
            </a:r>
            <a:endParaRPr lang="en-US" sz="6400" dirty="0"/>
          </a:p>
        </p:txBody>
      </p:sp>
      <p:sp>
        <p:nvSpPr>
          <p:cNvPr id="7" name="Text 4"/>
          <p:cNvSpPr txBox="1"/>
          <p:nvPr/>
        </p:nvSpPr>
        <p:spPr>
          <a:xfrm>
            <a:off x="8046720" y="2743200"/>
            <a:ext cx="3566160"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lo que dice el promedio</a:t>
            </a:r>
            <a:endParaRPr lang="en-US" sz="1400" dirty="0"/>
          </a:p>
        </p:txBody>
      </p:sp>
      <p:sp>
        <p:nvSpPr>
          <p:cNvPr id="8" name="Text 5"/>
          <p:cNvSpPr txBox="1"/>
          <p:nvPr/>
        </p:nvSpPr>
        <p:spPr>
          <a:xfrm>
            <a:off x="8001000" y="3429000"/>
            <a:ext cx="3566160" cy="914400"/>
          </a:xfrm>
          <a:prstGeom prst="rect">
            <a:avLst/>
          </a:prstGeom>
          <a:noFill/>
          <a:ln/>
        </p:spPr>
        <p:txBody>
          <a:bodyPr wrap="square" lIns="0" tIns="0" rIns="0" bIns="0" rtlCol="0" anchor="ctr"/>
          <a:lstStyle/>
          <a:p>
            <a:pPr indent="0" marL="0">
              <a:buNone/>
            </a:pPr>
            <a:r>
              <a:rPr lang="en-US" sz="6400" b="1" dirty="0">
                <a:solidFill>
                  <a:srgbClr val="1E1E1E"/>
                </a:solidFill>
                <a:latin typeface="Arial" pitchFamily="34" charset="0"/>
                <a:ea typeface="Arial" pitchFamily="34" charset="-122"/>
                <a:cs typeface="Arial" pitchFamily="34" charset="-120"/>
              </a:rPr>
              <a:t>$152</a:t>
            </a:r>
            <a:endParaRPr lang="en-US" sz="6400" dirty="0"/>
          </a:p>
        </p:txBody>
      </p:sp>
      <p:sp>
        <p:nvSpPr>
          <p:cNvPr id="9" name="Text 6"/>
          <p:cNvSpPr txBox="1"/>
          <p:nvPr/>
        </p:nvSpPr>
        <p:spPr>
          <a:xfrm>
            <a:off x="8046720" y="4389120"/>
            <a:ext cx="3566160" cy="36576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lo que vale el pedido típico</a:t>
            </a:r>
            <a:endParaRPr lang="en-US" sz="1400" dirty="0"/>
          </a:p>
        </p:txBody>
      </p:sp>
      <p:sp>
        <p:nvSpPr>
          <p:cNvPr id="10" name="Text 7"/>
          <p:cNvSpPr txBox="1"/>
          <p:nvPr/>
        </p:nvSpPr>
        <p:spPr>
          <a:xfrm>
            <a:off x="685800" y="6309360"/>
            <a:ext cx="10515600" cy="320040"/>
          </a:xfrm>
          <a:prstGeom prst="rect">
            <a:avLst/>
          </a:prstGeom>
          <a:noFill/>
          <a:ln/>
        </p:spPr>
        <p:txBody>
          <a:bodyPr wrap="square" lIns="0" tIns="0" rIns="0" bIns="0" rtlCol="0" anchor="ctr"/>
          <a:lstStyle/>
          <a:p>
            <a:pPr indent="0" marL="0">
              <a:buNone/>
            </a:pPr>
            <a:r>
              <a:rPr lang="en-US" sz="1200" dirty="0">
                <a:solidFill>
                  <a:srgbClr val="6B6B6B"/>
                </a:solidFill>
                <a:latin typeface="Arial" pitchFamily="34" charset="0"/>
                <a:ea typeface="Arial" pitchFamily="34" charset="-122"/>
                <a:cs typeface="Arial" pitchFamily="34" charset="-120"/>
              </a:rPr>
              <a:t>Semana 3 · Lunes 31 de agosto de 2026 · USFQ Galápagos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LA PROMESA</a:t>
            </a:r>
            <a:endParaRPr lang="en-US" sz="1300" dirty="0"/>
          </a:p>
        </p:txBody>
      </p:sp>
      <p:sp>
        <p:nvSpPr>
          <p:cNvPr id="4" name="Text 1"/>
          <p:cNvSpPr txBox="1"/>
          <p:nvPr/>
        </p:nvSpPr>
        <p:spPr>
          <a:xfrm>
            <a:off x="685800" y="1691640"/>
            <a:ext cx="10881360" cy="3291840"/>
          </a:xfrm>
          <a:prstGeom prst="rect">
            <a:avLst/>
          </a:prstGeom>
          <a:noFill/>
          <a:ln/>
        </p:spPr>
        <p:txBody>
          <a:bodyPr wrap="square" lIns="0" tIns="0" rIns="0" bIns="0" rtlCol="0" anchor="ctr"/>
          <a:lstStyle/>
          <a:p>
            <a:pPr indent="0" marL="0">
              <a:lnSpc>
                <a:spcPts val="5400"/>
              </a:lnSpc>
              <a:buNone/>
            </a:pPr>
            <a:r>
              <a:rPr lang="en-US" sz="4000" b="1" dirty="0">
                <a:solidFill>
                  <a:srgbClr val="1E1E1E"/>
                </a:solidFill>
                <a:latin typeface="Arial" pitchFamily="34" charset="0"/>
                <a:ea typeface="Arial" pitchFamily="34" charset="-122"/>
                <a:cs typeface="Arial" pitchFamily="34" charset="-120"/>
              </a:rPr>
              <a:t>Al salir de esta sala vas a poder
</a:t>
            </a:r>
            <a:pPr indent="0" marL="0">
              <a:lnSpc>
                <a:spcPts val="5400"/>
              </a:lnSpc>
              <a:buNone/>
            </a:pPr>
            <a:r>
              <a:rPr lang="en-US" sz="4000" b="1" dirty="0">
                <a:solidFill>
                  <a:srgbClr val="A6192E"/>
                </a:solidFill>
                <a:latin typeface="Arial" pitchFamily="34" charset="0"/>
                <a:ea typeface="Arial" pitchFamily="34" charset="-122"/>
                <a:cs typeface="Arial" pitchFamily="34" charset="-120"/>
              </a:rPr>
              <a:t>detectar en tres minutos</a:t>
            </a:r>
            <a:endParaRPr lang="en-US" sz="4000" dirty="0"/>
          </a:p>
          <a:p>
            <a:pPr indent="0" marL="0">
              <a:lnSpc>
                <a:spcPts val="5400"/>
              </a:lnSpc>
              <a:buNone/>
            </a:pPr>
            <a:r>
              <a:rPr lang="en-US" sz="4000" b="1" dirty="0">
                <a:solidFill>
                  <a:srgbClr val="A6192E"/>
                </a:solidFill>
                <a:latin typeface="Arial" pitchFamily="34" charset="0"/>
                <a:ea typeface="Arial" pitchFamily="34" charset="-122"/>
                <a:cs typeface="Arial" pitchFamily="34" charset="-120"/>
              </a:rPr>
              <a:t>un promedio que está mintiendo</a:t>
            </a:r>
            <a:endParaRPr lang="en-US" sz="4000" dirty="0"/>
          </a:p>
          <a:p>
            <a:pPr indent="0" marL="0">
              <a:lnSpc>
                <a:spcPts val="5400"/>
              </a:lnSpc>
              <a:buNone/>
            </a:pPr>
            <a:endParaRPr lang="en-US" sz="4000" dirty="0"/>
          </a:p>
          <a:p>
            <a:pPr indent="0" marL="0">
              <a:lnSpc>
                <a:spcPts val="5400"/>
              </a:lnSpc>
              <a:buNone/>
            </a:pPr>
            <a:r>
              <a:rPr lang="en-US" sz="4000" b="1" dirty="0">
                <a:solidFill>
                  <a:srgbClr val="1E1E1E"/>
                </a:solidFill>
                <a:latin typeface="Arial" pitchFamily="34" charset="0"/>
                <a:ea typeface="Arial" pitchFamily="34" charset="-122"/>
                <a:cs typeface="Arial" pitchFamily="34" charset="-120"/>
              </a:rPr>
              <a:t>y saber qué número pedir en su lugar.</a:t>
            </a:r>
            <a:endParaRPr lang="en-US" sz="4000" dirty="0"/>
          </a:p>
        </p:txBody>
      </p:sp>
      <p:sp>
        <p:nvSpPr>
          <p:cNvPr id="5" name="Text 2"/>
          <p:cNvSpPr txBox="1"/>
          <p:nvPr/>
        </p:nvSpPr>
        <p:spPr>
          <a:xfrm>
            <a:off x="685800" y="5349240"/>
            <a:ext cx="10515600" cy="457200"/>
          </a:xfrm>
          <a:prstGeom prst="rect">
            <a:avLst/>
          </a:prstGeom>
          <a:noFill/>
          <a:ln/>
        </p:spPr>
        <p:txBody>
          <a:bodyPr wrap="square" lIns="0" tIns="0" rIns="0" bIns="0" rtlCol="0" anchor="ctr"/>
          <a:lstStyle/>
          <a:p>
            <a:pPr indent="0" marL="0">
              <a:buNone/>
            </a:pPr>
            <a:r>
              <a:rPr lang="en-US" sz="1600" dirty="0">
                <a:solidFill>
                  <a:srgbClr val="6B6B6B"/>
                </a:solidFill>
                <a:latin typeface="Arial" pitchFamily="34" charset="0"/>
                <a:ea typeface="Arial" pitchFamily="34" charset="-122"/>
                <a:cs typeface="Arial" pitchFamily="34" charset="-120"/>
              </a:rPr>
              <a:t>La diferencia de hoy vale una promoción entera: tres a uno.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MAPA DEL SEMESTRE</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Cuatro preguntas, cuatro escalones</a:t>
            </a:r>
            <a:endParaRPr lang="en-US" sz="2800" dirty="0"/>
          </a:p>
        </p:txBody>
      </p:sp>
      <p:pic>
        <p:nvPicPr>
          <p:cNvPr id="5" name="Image 0" descr="img/s05_escalera.png">    </p:cNvPr>
          <p:cNvPicPr>
            <a:picLocks noChangeAspect="1"/>
          </p:cNvPicPr>
          <p:nvPr/>
        </p:nvPicPr>
        <p:blipFill>
          <a:blip r:embed="rId1"/>
          <a:stretch>
            <a:fillRect/>
          </a:stretch>
        </p:blipFill>
        <p:spPr>
          <a:xfrm>
            <a:off x="2276856" y="1554480"/>
            <a:ext cx="7635240" cy="4508427"/>
          </a:xfrm>
          <a:prstGeom prst="rect">
            <a:avLst/>
          </a:prstGeom>
        </p:spPr>
      </p:pic>
      <p:sp>
        <p:nvSpPr>
          <p:cNvPr id="6" name="Text 2"/>
          <p:cNvSpPr txBox="1"/>
          <p:nvPr/>
        </p:nvSpPr>
        <p:spPr>
          <a:xfrm>
            <a:off x="685800" y="6263640"/>
            <a:ext cx="1078992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Arial" pitchFamily="34" charset="0"/>
                <a:ea typeface="Arial" pitchFamily="34" charset="-122"/>
                <a:cs typeface="Arial" pitchFamily="34" charset="-120"/>
              </a:rPr>
              <a:t>Descriptivo no significa básico: es el escalón donde el negocio decide a diario.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CASO · LA LLAMADA DE LAS 8H02</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María, gerente regional, necesita tres números</a:t>
            </a:r>
            <a:endParaRPr lang="en-US" sz="2800" dirty="0"/>
          </a:p>
        </p:txBody>
      </p:sp>
      <p:sp>
        <p:nvSpPr>
          <p:cNvPr id="5" name="Shape 2"/>
          <p:cNvSpPr/>
          <p:nvPr/>
        </p:nvSpPr>
        <p:spPr>
          <a:xfrm>
            <a:off x="777240" y="1691640"/>
            <a:ext cx="566928" cy="566928"/>
          </a:xfrm>
          <a:prstGeom prst="ellipse">
            <a:avLst/>
          </a:prstGeom>
          <a:solidFill>
            <a:srgbClr val="A6192E"/>
          </a:solidFill>
          <a:ln/>
        </p:spPr>
      </p:sp>
      <p:sp>
        <p:nvSpPr>
          <p:cNvPr id="6" name="Text 3"/>
          <p:cNvSpPr txBox="1"/>
          <p:nvPr/>
        </p:nvSpPr>
        <p:spPr>
          <a:xfrm>
            <a:off x="777240" y="169164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4"/>
          <p:cNvSpPr txBox="1"/>
          <p:nvPr/>
        </p:nvSpPr>
        <p:spPr>
          <a:xfrm>
            <a:off x="1600200" y="1636776"/>
            <a:ext cx="9875520" cy="457200"/>
          </a:xfrm>
          <a:prstGeom prst="rect">
            <a:avLst/>
          </a:prstGeom>
          <a:noFill/>
          <a:ln/>
        </p:spPr>
        <p:txBody>
          <a:bodyPr wrap="square" lIns="0" tIns="0" rIns="0" bIns="0" rtlCol="0" anchor="ctr"/>
          <a:lstStyle/>
          <a:p>
            <a:pPr indent="0" marL="0">
              <a:buNone/>
            </a:pPr>
            <a:r>
              <a:rPr lang="en-US" sz="2200" b="1" dirty="0">
                <a:solidFill>
                  <a:srgbClr val="1E1E1E"/>
                </a:solidFill>
                <a:latin typeface="Arial" pitchFamily="34" charset="0"/>
                <a:ea typeface="Arial" pitchFamily="34" charset="-122"/>
                <a:cs typeface="Arial" pitchFamily="34" charset="-120"/>
              </a:rPr>
              <a:t>¿Cuánto vale un pedido típico?</a:t>
            </a:r>
            <a:endParaRPr lang="en-US" sz="2200" dirty="0"/>
          </a:p>
        </p:txBody>
      </p:sp>
      <p:sp>
        <p:nvSpPr>
          <p:cNvPr id="8" name="Text 5"/>
          <p:cNvSpPr txBox="1"/>
          <p:nvPr/>
        </p:nvSpPr>
        <p:spPr>
          <a:xfrm>
            <a:off x="1600200" y="2093976"/>
            <a:ext cx="9875520" cy="365760"/>
          </a:xfrm>
          <a:prstGeom prst="rect">
            <a:avLst/>
          </a:prstGeom>
          <a:noFill/>
          <a:ln/>
        </p:spPr>
        <p:txBody>
          <a:bodyPr wrap="square" lIns="0" tIns="0" rIns="0" bIns="0" rtlCol="0" anchor="ctr"/>
          <a:lstStyle/>
          <a:p>
            <a:pPr indent="0" marL="0">
              <a:buNone/>
            </a:pPr>
            <a:r>
              <a:rPr lang="en-US" sz="1500" dirty="0">
                <a:solidFill>
                  <a:srgbClr val="6B6B6B"/>
                </a:solidFill>
                <a:latin typeface="Arial" pitchFamily="34" charset="0"/>
                <a:ea typeface="Arial" pitchFamily="34" charset="-122"/>
                <a:cs typeface="Arial" pitchFamily="34" charset="-120"/>
              </a:rPr>
              <a:t>Con él María fija el umbral de «envío gratis desde $X».</a:t>
            </a:r>
            <a:endParaRPr lang="en-US" sz="1500" dirty="0"/>
          </a:p>
        </p:txBody>
      </p:sp>
      <p:sp>
        <p:nvSpPr>
          <p:cNvPr id="9" name="Shape 6"/>
          <p:cNvSpPr/>
          <p:nvPr/>
        </p:nvSpPr>
        <p:spPr>
          <a:xfrm>
            <a:off x="777240" y="2926080"/>
            <a:ext cx="566928" cy="566928"/>
          </a:xfrm>
          <a:prstGeom prst="ellipse">
            <a:avLst/>
          </a:prstGeom>
          <a:solidFill>
            <a:srgbClr val="A6192E"/>
          </a:solidFill>
          <a:ln/>
        </p:spPr>
      </p:sp>
      <p:sp>
        <p:nvSpPr>
          <p:cNvPr id="10" name="Text 7"/>
          <p:cNvSpPr txBox="1"/>
          <p:nvPr/>
        </p:nvSpPr>
        <p:spPr>
          <a:xfrm>
            <a:off x="777240" y="292608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8"/>
          <p:cNvSpPr txBox="1"/>
          <p:nvPr/>
        </p:nvSpPr>
        <p:spPr>
          <a:xfrm>
            <a:off x="1600200" y="2871216"/>
            <a:ext cx="9875520" cy="457200"/>
          </a:xfrm>
          <a:prstGeom prst="rect">
            <a:avLst/>
          </a:prstGeom>
          <a:noFill/>
          <a:ln/>
        </p:spPr>
        <p:txBody>
          <a:bodyPr wrap="square" lIns="0" tIns="0" rIns="0" bIns="0" rtlCol="0" anchor="ctr"/>
          <a:lstStyle/>
          <a:p>
            <a:pPr indent="0" marL="0">
              <a:buNone/>
            </a:pPr>
            <a:r>
              <a:rPr lang="en-US" sz="2200" b="1" dirty="0">
                <a:solidFill>
                  <a:srgbClr val="1E1E1E"/>
                </a:solidFill>
                <a:latin typeface="Arial" pitchFamily="34" charset="0"/>
                <a:ea typeface="Arial" pitchFamily="34" charset="-122"/>
                <a:cs typeface="Arial" pitchFamily="34" charset="-120"/>
              </a:rPr>
              <a:t>¿Muebles o Suministros de Oficina?</a:t>
            </a:r>
            <a:endParaRPr lang="en-US" sz="2200" dirty="0"/>
          </a:p>
        </p:txBody>
      </p:sp>
      <p:sp>
        <p:nvSpPr>
          <p:cNvPr id="12" name="Text 9"/>
          <p:cNvSpPr txBox="1"/>
          <p:nvPr/>
        </p:nvSpPr>
        <p:spPr>
          <a:xfrm>
            <a:off x="1600200" y="3328416"/>
            <a:ext cx="9875520" cy="365760"/>
          </a:xfrm>
          <a:prstGeom prst="rect">
            <a:avLst/>
          </a:prstGeom>
          <a:noFill/>
          <a:ln/>
        </p:spPr>
        <p:txBody>
          <a:bodyPr wrap="square" lIns="0" tIns="0" rIns="0" bIns="0" rtlCol="0" anchor="ctr"/>
          <a:lstStyle/>
          <a:p>
            <a:pPr indent="0" marL="0">
              <a:buNone/>
            </a:pPr>
            <a:r>
              <a:rPr lang="en-US" sz="1500" dirty="0">
                <a:solidFill>
                  <a:srgbClr val="6B6B6B"/>
                </a:solidFill>
                <a:latin typeface="Arial" pitchFamily="34" charset="0"/>
                <a:ea typeface="Arial" pitchFamily="34" charset="-122"/>
                <a:cs typeface="Arial" pitchFamily="34" charset="-120"/>
              </a:rPr>
              <a:t>La categoría más rentable por venta duplica inventario.</a:t>
            </a:r>
            <a:endParaRPr lang="en-US" sz="1500" dirty="0"/>
          </a:p>
        </p:txBody>
      </p:sp>
      <p:sp>
        <p:nvSpPr>
          <p:cNvPr id="13" name="Shape 10"/>
          <p:cNvSpPr/>
          <p:nvPr/>
        </p:nvSpPr>
        <p:spPr>
          <a:xfrm>
            <a:off x="777240" y="4160520"/>
            <a:ext cx="566928" cy="566928"/>
          </a:xfrm>
          <a:prstGeom prst="ellipse">
            <a:avLst/>
          </a:prstGeom>
          <a:solidFill>
            <a:srgbClr val="A6192E"/>
          </a:solidFill>
          <a:ln/>
        </p:spPr>
      </p:sp>
      <p:sp>
        <p:nvSpPr>
          <p:cNvPr id="14" name="Text 11"/>
          <p:cNvSpPr txBox="1"/>
          <p:nvPr/>
        </p:nvSpPr>
        <p:spPr>
          <a:xfrm>
            <a:off x="777240" y="41605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Text 12"/>
          <p:cNvSpPr txBox="1"/>
          <p:nvPr/>
        </p:nvSpPr>
        <p:spPr>
          <a:xfrm>
            <a:off x="1600200" y="4105656"/>
            <a:ext cx="9875520" cy="457200"/>
          </a:xfrm>
          <a:prstGeom prst="rect">
            <a:avLst/>
          </a:prstGeom>
          <a:noFill/>
          <a:ln/>
        </p:spPr>
        <p:txBody>
          <a:bodyPr wrap="square" lIns="0" tIns="0" rIns="0" bIns="0" rtlCol="0" anchor="ctr"/>
          <a:lstStyle/>
          <a:p>
            <a:pPr indent="0" marL="0">
              <a:buNone/>
            </a:pPr>
            <a:r>
              <a:rPr lang="en-US" sz="2200" b="1" dirty="0">
                <a:solidFill>
                  <a:srgbClr val="1E1E1E"/>
                </a:solidFill>
                <a:latin typeface="Arial" pitchFamily="34" charset="0"/>
                <a:ea typeface="Arial" pitchFamily="34" charset="-122"/>
                <a:cs typeface="Arial" pitchFamily="34" charset="-120"/>
              </a:rPr>
              <a:t>¿Eliminamos Libreros?</a:t>
            </a:r>
            <a:endParaRPr lang="en-US" sz="2200" dirty="0"/>
          </a:p>
        </p:txBody>
      </p:sp>
      <p:sp>
        <p:nvSpPr>
          <p:cNvPr id="16" name="Text 13"/>
          <p:cNvSpPr txBox="1"/>
          <p:nvPr/>
        </p:nvSpPr>
        <p:spPr>
          <a:xfrm>
            <a:off x="1600200" y="4562856"/>
            <a:ext cx="9875520" cy="365760"/>
          </a:xfrm>
          <a:prstGeom prst="rect">
            <a:avLst/>
          </a:prstGeom>
          <a:noFill/>
          <a:ln/>
        </p:spPr>
        <p:txBody>
          <a:bodyPr wrap="square" lIns="0" tIns="0" rIns="0" bIns="0" rtlCol="0" anchor="ctr"/>
          <a:lstStyle/>
          <a:p>
            <a:pPr indent="0" marL="0">
              <a:buNone/>
            </a:pPr>
            <a:r>
              <a:rPr lang="en-US" sz="1500" dirty="0">
                <a:solidFill>
                  <a:srgbClr val="6B6B6B"/>
                </a:solidFill>
                <a:latin typeface="Arial" pitchFamily="34" charset="0"/>
                <a:ea typeface="Arial" pitchFamily="34" charset="-122"/>
                <a:cs typeface="Arial" pitchFamily="34" charset="-120"/>
              </a:rPr>
              <a:t>Auditoría dice que pierde plata. Hay que confirmarlo.</a:t>
            </a:r>
            <a:endParaRPr lang="en-US" sz="1500" dirty="0"/>
          </a:p>
        </p:txBody>
      </p:sp>
      <p:sp>
        <p:nvSpPr>
          <p:cNvPr id="17" name="Shape 14"/>
          <p:cNvSpPr/>
          <p:nvPr/>
        </p:nvSpPr>
        <p:spPr>
          <a:xfrm>
            <a:off x="777240" y="5623560"/>
            <a:ext cx="10607040" cy="713232"/>
          </a:xfrm>
          <a:prstGeom prst="rect">
            <a:avLst/>
          </a:prstGeom>
          <a:solidFill>
            <a:srgbClr val="FBEDEF"/>
          </a:solidFill>
          <a:ln/>
        </p:spPr>
      </p:sp>
      <p:sp>
        <p:nvSpPr>
          <p:cNvPr id="18" name="Text 15"/>
          <p:cNvSpPr txBox="1"/>
          <p:nvPr/>
        </p:nvSpPr>
        <p:spPr>
          <a:xfrm>
            <a:off x="777240" y="5623560"/>
            <a:ext cx="10607040" cy="713232"/>
          </a:xfrm>
          <a:prstGeom prst="rect">
            <a:avLst/>
          </a:prstGeom>
          <a:noFill/>
          <a:ln/>
        </p:spPr>
        <p:txBody>
          <a:bodyPr wrap="square" lIns="0" tIns="0" rIns="0" bIns="0" rtlCol="0" anchor="ctr"/>
          <a:lstStyle/>
          <a:p>
            <a:pPr algn="ctr" indent="0" marL="0">
              <a:buNone/>
            </a:pPr>
            <a:r>
              <a:rPr lang="en-US" sz="1700" b="1" dirty="0">
                <a:solidFill>
                  <a:srgbClr val="A6192E"/>
                </a:solidFill>
                <a:latin typeface="Arial" pitchFamily="34" charset="0"/>
                <a:ea typeface="Arial" pitchFamily="34" charset="-122"/>
                <a:cs typeface="Arial" pitchFamily="34" charset="-120"/>
              </a:rPr>
              <a:t>Regla del taller: se apuesta antes de calcular.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LOS DATOS</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9,994 líneas · 5,009 pedidos · cuatro años</a:t>
            </a:r>
            <a:endParaRPr lang="en-US" sz="2800" dirty="0"/>
          </a:p>
        </p:txBody>
      </p:sp>
      <p:pic>
        <p:nvPicPr>
          <p:cNvPr id="5" name="Image 0" descr="img/s05_hapax_datos.png">    </p:cNvPr>
          <p:cNvPicPr>
            <a:picLocks noChangeAspect="1"/>
          </p:cNvPicPr>
          <p:nvPr/>
        </p:nvPicPr>
        <p:blipFill>
          <a:blip r:embed="rId1"/>
          <a:stretch>
            <a:fillRect/>
          </a:stretch>
        </p:blipFill>
        <p:spPr>
          <a:xfrm>
            <a:off x="882396" y="1481328"/>
            <a:ext cx="10424160" cy="5053562"/>
          </a:xfrm>
          <a:prstGeom prst="rect">
            <a:avLst/>
          </a:prstGeom>
        </p:spPr>
      </p:pic>
      <p:sp>
        <p:nvSpPr>
          <p:cNvPr id="6" name="Text 2"/>
          <p:cNvSpPr txBox="1"/>
          <p:nvPr/>
        </p:nvSpPr>
        <p:spPr>
          <a:xfrm>
            <a:off x="685800" y="6309360"/>
            <a:ext cx="10789920" cy="384048"/>
          </a:xfrm>
          <a:prstGeom prst="rect">
            <a:avLst/>
          </a:prstGeom>
          <a:noFill/>
          <a:ln/>
        </p:spPr>
        <p:txBody>
          <a:bodyPr wrap="square" lIns="0" tIns="0" rIns="0" bIns="0" rtlCol="0" anchor="ctr"/>
          <a:lstStyle/>
          <a:p>
            <a:pPr algn="ctr" indent="0" marL="0">
              <a:buNone/>
            </a:pPr>
            <a:r>
              <a:rPr lang="en-US" sz="1700" b="1" dirty="0">
                <a:solidFill>
                  <a:srgbClr val="A6192E"/>
                </a:solidFill>
                <a:latin typeface="Arial" pitchFamily="34" charset="0"/>
                <a:ea typeface="Arial" pitchFamily="34" charset="-122"/>
                <a:cs typeface="Arial" pitchFamily="34" charset="-120"/>
              </a:rPr>
              <a:t>Nadie “ve” los datos. Para eso existe la estadística descriptiva.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APUESTA 1 · SE APUESTA ANTES DE CALCULAR</a:t>
            </a:r>
            <a:endParaRPr lang="en-US" sz="1300" dirty="0"/>
          </a:p>
        </p:txBody>
      </p:sp>
      <p:sp>
        <p:nvSpPr>
          <p:cNvPr id="4" name="Text 1"/>
          <p:cNvSpPr txBox="1"/>
          <p:nvPr/>
        </p:nvSpPr>
        <p:spPr>
          <a:xfrm>
            <a:off x="685800" y="1874520"/>
            <a:ext cx="10789920" cy="2103120"/>
          </a:xfrm>
          <a:prstGeom prst="rect">
            <a:avLst/>
          </a:prstGeom>
          <a:noFill/>
          <a:ln/>
        </p:spPr>
        <p:txBody>
          <a:bodyPr wrap="square" lIns="0" tIns="0" rIns="0" bIns="0" rtlCol="0" anchor="ctr"/>
          <a:lstStyle/>
          <a:p>
            <a:pPr algn="ctr" indent="0" marL="0">
              <a:lnSpc>
                <a:spcPts val="5600"/>
              </a:lnSpc>
              <a:buNone/>
            </a:pPr>
            <a:r>
              <a:rPr lang="en-US" sz="4800" b="1" dirty="0">
                <a:solidFill>
                  <a:srgbClr val="1E1E1E"/>
                </a:solidFill>
                <a:latin typeface="Arial" pitchFamily="34" charset="0"/>
                <a:ea typeface="Arial" pitchFamily="34" charset="-122"/>
                <a:cs typeface="Arial" pitchFamily="34" charset="-120"/>
              </a:rPr>
              <a:t>¿Cuánto vale un</a:t>
            </a:r>
            <a:endParaRPr lang="en-US" sz="4800" dirty="0"/>
          </a:p>
          <a:p>
            <a:pPr algn="ctr" indent="0" marL="0">
              <a:lnSpc>
                <a:spcPts val="5600"/>
              </a:lnSpc>
              <a:buNone/>
            </a:pPr>
            <a:r>
              <a:rPr lang="en-US" sz="4800" b="1" dirty="0">
                <a:solidFill>
                  <a:srgbClr val="1E1E1E"/>
                </a:solidFill>
                <a:latin typeface="Arial" pitchFamily="34" charset="0"/>
                <a:ea typeface="Arial" pitchFamily="34" charset="-122"/>
                <a:cs typeface="Arial" pitchFamily="34" charset="-120"/>
              </a:rPr>
              <a:t>pedido típico?</a:t>
            </a:r>
            <a:endParaRPr lang="en-US" sz="4800" dirty="0"/>
          </a:p>
        </p:txBody>
      </p:sp>
      <p:sp>
        <p:nvSpPr>
          <p:cNvPr id="5" name="Text 2"/>
          <p:cNvSpPr txBox="1"/>
          <p:nvPr/>
        </p:nvSpPr>
        <p:spPr>
          <a:xfrm>
            <a:off x="685800" y="4069080"/>
            <a:ext cx="10789920" cy="868680"/>
          </a:xfrm>
          <a:prstGeom prst="rect">
            <a:avLst/>
          </a:prstGeom>
          <a:noFill/>
          <a:ln/>
        </p:spPr>
        <p:txBody>
          <a:bodyPr wrap="square" lIns="0" tIns="0" rIns="0" bIns="0" rtlCol="0" anchor="ctr"/>
          <a:lstStyle/>
          <a:p>
            <a:pPr algn="ctr" indent="0" marL="0">
              <a:buNone/>
            </a:pPr>
            <a:r>
              <a:rPr lang="en-US" sz="4400" b="1" dirty="0">
                <a:solidFill>
                  <a:srgbClr val="A6192E"/>
                </a:solidFill>
                <a:latin typeface="Arial" pitchFamily="34" charset="0"/>
                <a:ea typeface="Arial" pitchFamily="34" charset="-122"/>
                <a:cs typeface="Arial" pitchFamily="34" charset="-120"/>
              </a:rPr>
              <a:t>$ ______</a:t>
            </a:r>
            <a:endParaRPr lang="en-US" sz="4400" dirty="0"/>
          </a:p>
        </p:txBody>
      </p:sp>
      <p:sp>
        <p:nvSpPr>
          <p:cNvPr id="6" name="Text 3"/>
          <p:cNvSpPr txBox="1"/>
          <p:nvPr/>
        </p:nvSpPr>
        <p:spPr>
          <a:xfrm>
            <a:off x="685800" y="5120640"/>
            <a:ext cx="10789920" cy="457200"/>
          </a:xfrm>
          <a:prstGeom prst="rect">
            <a:avLst/>
          </a:prstGeom>
          <a:noFill/>
          <a:ln/>
        </p:spPr>
        <p:txBody>
          <a:bodyPr wrap="square" lIns="0" tIns="0" rIns="0" bIns="0" rtlCol="0" anchor="ctr"/>
          <a:lstStyle/>
          <a:p>
            <a:pPr algn="ctr" indent="0" marL="0">
              <a:buNone/>
            </a:pPr>
            <a:r>
              <a:rPr lang="en-US" sz="1700" dirty="0">
                <a:solidFill>
                  <a:srgbClr val="6B6B6B"/>
                </a:solidFill>
                <a:latin typeface="Arial" pitchFamily="34" charset="0"/>
                <a:ea typeface="Arial" pitchFamily="34" charset="-122"/>
                <a:cs typeface="Arial" pitchFamily="34" charset="-120"/>
              </a:rPr>
              <a:t>Y de paso: ¿qué porcentaje de los pedidos queda debajo del promedio?</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LO QUE DICEN LOS 5,009 PEDIDOS</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El 72.5 % de los pedidos vale menos que el promedio</a:t>
            </a:r>
            <a:endParaRPr lang="en-US" sz="2700" dirty="0"/>
          </a:p>
        </p:txBody>
      </p:sp>
      <p:pic>
        <p:nvPicPr>
          <p:cNvPr id="5" name="Image 0" descr="img/s05_hist_pedidos.png">    </p:cNvPr>
          <p:cNvPicPr>
            <a:picLocks noChangeAspect="1"/>
          </p:cNvPicPr>
          <p:nvPr/>
        </p:nvPicPr>
        <p:blipFill>
          <a:blip r:embed="rId1"/>
          <a:stretch>
            <a:fillRect/>
          </a:stretch>
        </p:blipFill>
        <p:spPr>
          <a:xfrm>
            <a:off x="1362456" y="1572768"/>
            <a:ext cx="9464040" cy="50087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APUESTA 2</a:t>
            </a:r>
            <a:endParaRPr lang="en-US" sz="1300" dirty="0"/>
          </a:p>
        </p:txBody>
      </p:sp>
      <p:sp>
        <p:nvSpPr>
          <p:cNvPr id="4" name="Text 1"/>
          <p:cNvSpPr txBox="1"/>
          <p:nvPr/>
        </p:nvSpPr>
        <p:spPr>
          <a:xfrm>
            <a:off x="685800" y="2011680"/>
            <a:ext cx="10789920" cy="2103120"/>
          </a:xfrm>
          <a:prstGeom prst="rect">
            <a:avLst/>
          </a:prstGeom>
          <a:noFill/>
          <a:ln/>
        </p:spPr>
        <p:txBody>
          <a:bodyPr wrap="square" lIns="0" tIns="0" rIns="0" bIns="0" rtlCol="0" anchor="ctr"/>
          <a:lstStyle/>
          <a:p>
            <a:pPr algn="ctr" indent="0" marL="0">
              <a:lnSpc>
                <a:spcPts val="5600"/>
              </a:lnSpc>
              <a:buNone/>
            </a:pPr>
            <a:r>
              <a:rPr lang="en-US" sz="4800" b="1" dirty="0">
                <a:solidFill>
                  <a:srgbClr val="1E1E1E"/>
                </a:solidFill>
                <a:latin typeface="Arial" pitchFamily="34" charset="0"/>
                <a:ea typeface="Arial" pitchFamily="34" charset="-122"/>
                <a:cs typeface="Arial" pitchFamily="34" charset="-120"/>
              </a:rPr>
              <a:t>¿Muebles o</a:t>
            </a:r>
            <a:endParaRPr lang="en-US" sz="4800" dirty="0"/>
          </a:p>
          <a:p>
            <a:pPr algn="ctr" indent="0" marL="0">
              <a:lnSpc>
                <a:spcPts val="5600"/>
              </a:lnSpc>
              <a:buNone/>
            </a:pPr>
            <a:r>
              <a:rPr lang="en-US" sz="4800" b="1" dirty="0">
                <a:solidFill>
                  <a:srgbClr val="1E1E1E"/>
                </a:solidFill>
                <a:latin typeface="Arial" pitchFamily="34" charset="0"/>
                <a:ea typeface="Arial" pitchFamily="34" charset="-122"/>
                <a:cs typeface="Arial" pitchFamily="34" charset="-120"/>
              </a:rPr>
              <a:t>Suministros de Oficina?</a:t>
            </a:r>
            <a:endParaRPr lang="en-US" sz="4800" dirty="0"/>
          </a:p>
        </p:txBody>
      </p:sp>
      <p:sp>
        <p:nvSpPr>
          <p:cNvPr id="5" name="Text 2"/>
          <p:cNvSpPr txBox="1"/>
          <p:nvPr/>
        </p:nvSpPr>
        <p:spPr>
          <a:xfrm>
            <a:off x="685800" y="4480560"/>
            <a:ext cx="10789920" cy="777240"/>
          </a:xfrm>
          <a:prstGeom prst="rect">
            <a:avLst/>
          </a:prstGeom>
          <a:noFill/>
          <a:ln/>
        </p:spPr>
        <p:txBody>
          <a:bodyPr wrap="square" lIns="0" tIns="0" rIns="0" bIns="0" rtlCol="0" anchor="ctr"/>
          <a:lstStyle/>
          <a:p>
            <a:pPr algn="ctr" indent="0" marL="0">
              <a:lnSpc>
                <a:spcPts val="2400"/>
              </a:lnSpc>
              <a:buNone/>
            </a:pPr>
            <a:r>
              <a:rPr lang="en-US" sz="1700" dirty="0">
                <a:solidFill>
                  <a:srgbClr val="6B6B6B"/>
                </a:solidFill>
                <a:latin typeface="Arial" pitchFamily="34" charset="0"/>
                <a:ea typeface="Arial" pitchFamily="34" charset="-122"/>
                <a:cs typeface="Arial" pitchFamily="34" charset="-120"/>
              </a:rPr>
              <a:t>Utilidad por línea de venta. La ganadora duplica inventario:</a:t>
            </a:r>
            <a:endParaRPr lang="en-US" sz="1700" dirty="0"/>
          </a:p>
          <a:p>
            <a:pPr algn="ctr" indent="0" marL="0">
              <a:lnSpc>
                <a:spcPts val="2400"/>
              </a:lnSpc>
              <a:buNone/>
            </a:pPr>
            <a:r>
              <a:rPr lang="en-US" sz="1700" dirty="0">
                <a:solidFill>
                  <a:srgbClr val="6B6B6B"/>
                </a:solidFill>
                <a:latin typeface="Arial" pitchFamily="34" charset="0"/>
                <a:ea typeface="Arial" pitchFamily="34" charset="-122"/>
                <a:cs typeface="Arial" pitchFamily="34" charset="-120"/>
              </a:rPr>
              <a:t>apuesta y defiéndela.</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EL DUELO</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El veredicto depende del árbitro que elijas</a:t>
            </a:r>
            <a:endParaRPr lang="en-US" sz="2700" dirty="0"/>
          </a:p>
        </p:txBody>
      </p:sp>
      <p:pic>
        <p:nvPicPr>
          <p:cNvPr id="5" name="Image 0" descr="img/s05_categorias.png">    </p:cNvPr>
          <p:cNvPicPr>
            <a:picLocks noChangeAspect="1"/>
          </p:cNvPicPr>
          <p:nvPr/>
        </p:nvPicPr>
        <p:blipFill>
          <a:blip r:embed="rId1"/>
          <a:stretch>
            <a:fillRect/>
          </a:stretch>
        </p:blipFill>
        <p:spPr>
          <a:xfrm>
            <a:off x="836676" y="1600200"/>
            <a:ext cx="10515600" cy="4043435"/>
          </a:xfrm>
          <a:prstGeom prst="rect">
            <a:avLst/>
          </a:prstGeom>
        </p:spPr>
      </p:pic>
      <p:sp>
        <p:nvSpPr>
          <p:cNvPr id="6" name="Text 2"/>
          <p:cNvSpPr txBox="1"/>
          <p:nvPr/>
        </p:nvSpPr>
        <p:spPr>
          <a:xfrm>
            <a:off x="685800" y="5943600"/>
            <a:ext cx="1078992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Arial" pitchFamily="34" charset="0"/>
                <a:ea typeface="Arial" pitchFamily="34" charset="-122"/>
                <a:cs typeface="Arial" pitchFamily="34" charset="-120"/>
              </a:rPr>
              <a:t>A la media de Suministros de Oficina la sostienen unas pocas encuadernadoras de casi $5,000 por venta.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APUESTA 3 · EL MEMO DE AUDITORÍA</a:t>
            </a:r>
            <a:endParaRPr lang="en-US" sz="1300" dirty="0"/>
          </a:p>
        </p:txBody>
      </p:sp>
      <p:sp>
        <p:nvSpPr>
          <p:cNvPr id="4" name="Shape 1"/>
          <p:cNvSpPr/>
          <p:nvPr/>
        </p:nvSpPr>
        <p:spPr>
          <a:xfrm>
            <a:off x="1097280" y="1783080"/>
            <a:ext cx="9966960" cy="1920240"/>
          </a:xfrm>
          <a:prstGeom prst="rect">
            <a:avLst/>
          </a:prstGeom>
          <a:solidFill>
            <a:srgbClr val="FBEDEF"/>
          </a:solidFill>
          <a:ln/>
        </p:spPr>
      </p:sp>
      <p:sp>
        <p:nvSpPr>
          <p:cNvPr id="5" name="Text 2"/>
          <p:cNvSpPr txBox="1"/>
          <p:nvPr/>
        </p:nvSpPr>
        <p:spPr>
          <a:xfrm>
            <a:off x="1554480" y="1783080"/>
            <a:ext cx="9052560" cy="1920240"/>
          </a:xfrm>
          <a:prstGeom prst="rect">
            <a:avLst/>
          </a:prstGeom>
          <a:noFill/>
          <a:ln/>
        </p:spPr>
        <p:txBody>
          <a:bodyPr wrap="square" lIns="0" tIns="0" rIns="0" bIns="0" rtlCol="0" anchor="ctr"/>
          <a:lstStyle/>
          <a:p>
            <a:pPr indent="0" marL="0">
              <a:lnSpc>
                <a:spcPts val="3200"/>
              </a:lnSpc>
              <a:buNone/>
            </a:pPr>
            <a:r>
              <a:rPr lang="en-US" sz="2200" i="1" dirty="0">
                <a:solidFill>
                  <a:srgbClr val="1E1E1E"/>
                </a:solidFill>
                <a:latin typeface="Arial" pitchFamily="34" charset="0"/>
                <a:ea typeface="Arial" pitchFamily="34" charset="-122"/>
                <a:cs typeface="Arial" pitchFamily="34" charset="-120"/>
              </a:rPr>
              <a:t>«Libreros acumuló una pérdida neta de $3,473 en cuatro años, con una utilidad media de −$15.23 por línea. Recomendación: descontinuarla.»</a:t>
            </a:r>
            <a:endParaRPr lang="en-US" sz="2200" dirty="0"/>
          </a:p>
        </p:txBody>
      </p:sp>
      <p:sp>
        <p:nvSpPr>
          <p:cNvPr id="6" name="Text 3"/>
          <p:cNvSpPr txBox="1"/>
          <p:nvPr/>
        </p:nvSpPr>
        <p:spPr>
          <a:xfrm>
            <a:off x="685800" y="4297680"/>
            <a:ext cx="10789920" cy="548640"/>
          </a:xfrm>
          <a:prstGeom prst="rect">
            <a:avLst/>
          </a:prstGeom>
          <a:noFill/>
          <a:ln/>
        </p:spPr>
        <p:txBody>
          <a:bodyPr wrap="square" lIns="0" tIns="0" rIns="0" bIns="0" rtlCol="0" anchor="ctr"/>
          <a:lstStyle/>
          <a:p>
            <a:pPr algn="ctr" indent="0" marL="0">
              <a:buNone/>
            </a:pPr>
            <a:r>
              <a:rPr lang="en-US" sz="2200" b="1" dirty="0">
                <a:solidFill>
                  <a:srgbClr val="A6192E"/>
                </a:solidFill>
                <a:latin typeface="Arial" pitchFamily="34" charset="0"/>
                <a:ea typeface="Arial" pitchFamily="34" charset="-122"/>
                <a:cs typeface="Arial" pitchFamily="34" charset="-120"/>
              </a:rPr>
              <a:t>Las dos cifras son correctas. ¿Firmas?</a:t>
            </a:r>
            <a:endParaRPr lang="en-US" sz="2200" dirty="0"/>
          </a:p>
        </p:txBody>
      </p:sp>
      <p:sp>
        <p:nvSpPr>
          <p:cNvPr id="7" name="Text 4"/>
          <p:cNvSpPr txBox="1"/>
          <p:nvPr/>
        </p:nvSpPr>
        <p:spPr>
          <a:xfrm>
            <a:off x="685800" y="5120640"/>
            <a:ext cx="10789920" cy="457200"/>
          </a:xfrm>
          <a:prstGeom prst="rect">
            <a:avLst/>
          </a:prstGeom>
          <a:noFill/>
          <a:ln/>
        </p:spPr>
        <p:txBody>
          <a:bodyPr wrap="square" lIns="0" tIns="0" rIns="0" bIns="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Pista: ¿la venta típica de Libreros gana o pierde plata?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LA TRAMPA INVERSA</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700" b="1" dirty="0">
                <a:solidFill>
                  <a:srgbClr val="1E1E1E"/>
                </a:solidFill>
                <a:latin typeface="Arial" pitchFamily="34" charset="0"/>
                <a:ea typeface="Arial" pitchFamily="34" charset="-122"/>
                <a:cs typeface="Arial" pitchFamily="34" charset="-120"/>
              </a:rPr>
              <a:t>Aquí la que engaña es la mediana (+$4.13)</a:t>
            </a:r>
            <a:endParaRPr lang="en-US" sz="2700" dirty="0"/>
          </a:p>
        </p:txBody>
      </p:sp>
      <p:pic>
        <p:nvPicPr>
          <p:cNvPr id="5" name="Image 0" descr="img/s05_libreros.png">    </p:cNvPr>
          <p:cNvPicPr>
            <a:picLocks noChangeAspect="1"/>
          </p:cNvPicPr>
          <p:nvPr/>
        </p:nvPicPr>
        <p:blipFill>
          <a:blip r:embed="rId1"/>
          <a:stretch>
            <a:fillRect/>
          </a:stretch>
        </p:blipFill>
        <p:spPr>
          <a:xfrm>
            <a:off x="1545336" y="1536192"/>
            <a:ext cx="9098280" cy="4668227"/>
          </a:xfrm>
          <a:prstGeom prst="rect">
            <a:avLst/>
          </a:prstGeom>
        </p:spPr>
      </p:pic>
      <p:sp>
        <p:nvSpPr>
          <p:cNvPr id="6" name="Text 2"/>
          <p:cNvSpPr txBox="1"/>
          <p:nvPr/>
        </p:nvSpPr>
        <p:spPr>
          <a:xfrm>
            <a:off x="685800" y="6309360"/>
            <a:ext cx="1078992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Arial" pitchFamily="34" charset="0"/>
                <a:ea typeface="Arial" pitchFamily="34" charset="-122"/>
                <a:cs typeface="Arial" pitchFamily="34" charset="-120"/>
              </a:rPr>
              <a:t>El problema no es el mueble: son los descuentos del 50 y del 70 por ciento.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LA REGLA DE LA CASA</a:t>
            </a:r>
            <a:endParaRPr lang="en-US" sz="1300" dirty="0"/>
          </a:p>
        </p:txBody>
      </p:sp>
      <p:sp>
        <p:nvSpPr>
          <p:cNvPr id="4" name="Text 1"/>
          <p:cNvSpPr txBox="1"/>
          <p:nvPr/>
        </p:nvSpPr>
        <p:spPr>
          <a:xfrm>
            <a:off x="685800" y="1874520"/>
            <a:ext cx="10789920" cy="2194560"/>
          </a:xfrm>
          <a:prstGeom prst="rect">
            <a:avLst/>
          </a:prstGeom>
          <a:noFill/>
          <a:ln/>
        </p:spPr>
        <p:txBody>
          <a:bodyPr wrap="square" lIns="0" tIns="0" rIns="0" bIns="0" rtlCol="0" anchor="ctr"/>
          <a:lstStyle/>
          <a:p>
            <a:pPr algn="ctr" indent="0" marL="0">
              <a:lnSpc>
                <a:spcPts val="6000"/>
              </a:lnSpc>
              <a:buNone/>
            </a:pPr>
            <a:r>
              <a:rPr lang="en-US" sz="5200" b="1" dirty="0">
                <a:solidFill>
                  <a:srgbClr val="A6192E"/>
                </a:solidFill>
                <a:latin typeface="Arial" pitchFamily="34" charset="0"/>
                <a:ea typeface="Arial" pitchFamily="34" charset="-122"/>
                <a:cs typeface="Arial" pitchFamily="34" charset="-120"/>
              </a:rPr>
              <a:t>Ningún promedio</a:t>
            </a:r>
            <a:endParaRPr lang="en-US" sz="5200" dirty="0"/>
          </a:p>
          <a:p>
            <a:pPr algn="ctr" indent="0" marL="0">
              <a:lnSpc>
                <a:spcPts val="6000"/>
              </a:lnSpc>
              <a:buNone/>
            </a:pPr>
            <a:r>
              <a:rPr lang="en-US" sz="5200" b="1" dirty="0">
                <a:solidFill>
                  <a:srgbClr val="A6192E"/>
                </a:solidFill>
                <a:latin typeface="Arial" pitchFamily="34" charset="0"/>
                <a:ea typeface="Arial" pitchFamily="34" charset="-122"/>
                <a:cs typeface="Arial" pitchFamily="34" charset="-120"/>
              </a:rPr>
              <a:t>sin su distribución.</a:t>
            </a:r>
            <a:endParaRPr lang="en-US" sz="5200" dirty="0"/>
          </a:p>
        </p:txBody>
      </p:sp>
      <p:sp>
        <p:nvSpPr>
          <p:cNvPr id="5" name="Text 2"/>
          <p:cNvSpPr txBox="1"/>
          <p:nvPr/>
        </p:nvSpPr>
        <p:spPr>
          <a:xfrm>
            <a:off x="685800" y="4434840"/>
            <a:ext cx="10789920" cy="1280160"/>
          </a:xfrm>
          <a:prstGeom prst="rect">
            <a:avLst/>
          </a:prstGeom>
          <a:noFill/>
          <a:ln/>
        </p:spPr>
        <p:txBody>
          <a:bodyPr wrap="square" lIns="0" tIns="0" rIns="0" bIns="0" rtlCol="0" anchor="ctr"/>
          <a:lstStyle/>
          <a:p>
            <a:pPr algn="ctr" indent="0" marL="0">
              <a:lnSpc>
                <a:spcPts val="2800"/>
              </a:lnSpc>
              <a:buNone/>
            </a:pPr>
            <a:r>
              <a:rPr lang="en-US" sz="1700" dirty="0">
                <a:solidFill>
                  <a:srgbClr val="6B6B6B"/>
                </a:solidFill>
                <a:latin typeface="Arial" pitchFamily="34" charset="0"/>
                <a:ea typeface="Arial" pitchFamily="34" charset="-122"/>
                <a:cs typeface="Arial" pitchFamily="34" charset="-120"/>
              </a:rPr>
              <a:t>Media: para distribuciones simétricas y sin extremos.</a:t>
            </a:r>
            <a:endParaRPr lang="en-US" sz="1700" dirty="0"/>
          </a:p>
          <a:p>
            <a:pPr algn="ctr" indent="0" marL="0">
              <a:lnSpc>
                <a:spcPts val="2800"/>
              </a:lnSpc>
              <a:buNone/>
            </a:pPr>
            <a:r>
              <a:rPr lang="en-US" sz="1700" dirty="0">
                <a:solidFill>
                  <a:srgbClr val="6B6B6B"/>
                </a:solidFill>
                <a:latin typeface="Arial" pitchFamily="34" charset="0"/>
                <a:ea typeface="Arial" pitchFamily="34" charset="-122"/>
                <a:cs typeface="Arial" pitchFamily="34" charset="-120"/>
              </a:rPr>
              <a:t>Mediana: cuando hay colas o valores extremos.</a:t>
            </a:r>
            <a:endParaRPr lang="en-US" sz="1700" dirty="0"/>
          </a:p>
          <a:p>
            <a:pPr algn="ctr" indent="0" marL="0">
              <a:lnSpc>
                <a:spcPts val="2800"/>
              </a:lnSpc>
              <a:buNone/>
            </a:pPr>
            <a:r>
              <a:rPr lang="en-US" sz="1700" dirty="0">
                <a:solidFill>
                  <a:srgbClr val="6B6B6B"/>
                </a:solidFill>
                <a:latin typeface="Arial" pitchFamily="34" charset="0"/>
                <a:ea typeface="Arial" pitchFamily="34" charset="-122"/>
                <a:cs typeface="Arial" pitchFamily="34" charset="-120"/>
              </a:rPr>
              <a:t>Histograma: siempre, y primero.</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AHORA TÚ</a:t>
            </a:r>
            <a:endParaRPr lang="en-US" sz="1300" dirty="0"/>
          </a:p>
        </p:txBody>
      </p:sp>
      <p:sp>
        <p:nvSpPr>
          <p:cNvPr id="4" name="Text 1"/>
          <p:cNvSpPr txBox="1"/>
          <p:nvPr/>
        </p:nvSpPr>
        <p:spPr>
          <a:xfrm>
            <a:off x="685800" y="868680"/>
            <a:ext cx="10789920" cy="502920"/>
          </a:xfrm>
          <a:prstGeom prst="rect">
            <a:avLst/>
          </a:prstGeom>
          <a:noFill/>
          <a:ln/>
        </p:spPr>
        <p:txBody>
          <a:bodyPr wrap="square" lIns="0" tIns="0" rIns="0" bIns="0" rtlCol="0" anchor="ctr"/>
          <a:lstStyle/>
          <a:p>
            <a:pPr indent="0" marL="0">
              <a:buNone/>
            </a:pPr>
            <a:r>
              <a:rPr lang="en-US" sz="2800" b="1" dirty="0">
                <a:solidFill>
                  <a:srgbClr val="1E1E1E"/>
                </a:solidFill>
                <a:latin typeface="Arial" pitchFamily="34" charset="0"/>
                <a:ea typeface="Arial" pitchFamily="34" charset="-122"/>
                <a:cs typeface="Arial" pitchFamily="34" charset="-120"/>
              </a:rPr>
              <a:t>El taller vive en D2L</a:t>
            </a:r>
            <a:endParaRPr lang="en-US" sz="2800" dirty="0"/>
          </a:p>
        </p:txBody>
      </p:sp>
      <p:sp>
        <p:nvSpPr>
          <p:cNvPr id="5" name="Text 2"/>
          <p:cNvSpPr txBox="1"/>
          <p:nvPr/>
        </p:nvSpPr>
        <p:spPr>
          <a:xfrm>
            <a:off x="777240" y="1874520"/>
            <a:ext cx="6858000" cy="960120"/>
          </a:xfrm>
          <a:prstGeom prst="rect">
            <a:avLst/>
          </a:prstGeom>
          <a:noFill/>
          <a:ln/>
        </p:spPr>
        <p:txBody>
          <a:bodyPr wrap="square" lIns="0" tIns="0" rIns="0" bIns="0" rtlCol="0" anchor="ctr"/>
          <a:lstStyle/>
          <a:p>
            <a:pPr indent="0" marL="0">
              <a:lnSpc>
                <a:spcPts val="2800"/>
              </a:lnSpc>
              <a:buNone/>
            </a:pPr>
            <a:r>
              <a:rPr lang="en-US" sz="2000" b="1" dirty="0">
                <a:solidFill>
                  <a:srgbClr val="A6192E"/>
                </a:solidFill>
                <a:latin typeface="Arial" pitchFamily="34" charset="0"/>
                <a:ea typeface="Arial" pitchFamily="34" charset="-122"/>
                <a:cs typeface="Arial" pitchFamily="34" charset="-120"/>
              </a:rPr>
              <a:t>D2L → Contenido → Semana 3 →</a:t>
            </a:r>
            <a:endParaRPr lang="en-US" sz="2000" dirty="0"/>
          </a:p>
          <a:p>
            <a:pPr indent="0" marL="0">
              <a:lnSpc>
                <a:spcPts val="2800"/>
              </a:lnSpc>
              <a:buNone/>
            </a:pPr>
            <a:r>
              <a:rPr lang="en-US" sz="2000" b="1" dirty="0">
                <a:solidFill>
                  <a:srgbClr val="A6192E"/>
                </a:solidFill>
                <a:latin typeface="Arial" pitchFamily="34" charset="0"/>
                <a:ea typeface="Arial" pitchFamily="34" charset="-122"/>
                <a:cs typeface="Arial" pitchFamily="34" charset="-120"/>
              </a:rPr>
              <a:t>Taller · páginas 1 a 6</a:t>
            </a:r>
            <a:endParaRPr lang="en-US" sz="2000" dirty="0"/>
          </a:p>
        </p:txBody>
      </p:sp>
      <p:sp>
        <p:nvSpPr>
          <p:cNvPr id="6" name="Text 3"/>
          <p:cNvSpPr txBox="1"/>
          <p:nvPr/>
        </p:nvSpPr>
        <p:spPr>
          <a:xfrm>
            <a:off x="777240" y="3154680"/>
            <a:ext cx="6858000" cy="2194560"/>
          </a:xfrm>
          <a:prstGeom prst="rect">
            <a:avLst/>
          </a:prstGeom>
          <a:noFill/>
          <a:ln/>
        </p:spPr>
        <p:txBody>
          <a:bodyPr wrap="square" lIns="0" tIns="0" rIns="0" bIns="0" rtlCol="0" anchor="ctr"/>
          <a:lstStyle/>
          <a:p>
            <a:pPr marL="228600" indent="-228600">
              <a:spcAft>
                <a:spcPts val="1400"/>
              </a:spcAft>
              <a:buSzPct val="100000"/>
              <a:buChar char="•"/>
            </a:pPr>
            <a:r>
              <a:rPr lang="en-US" sz="1700" dirty="0">
                <a:solidFill>
                  <a:srgbClr val="1E1E1E"/>
                </a:solidFill>
                <a:latin typeface="Arial" pitchFamily="34" charset="0"/>
                <a:ea typeface="Arial" pitchFamily="34" charset="-122"/>
                <a:cs typeface="Arial" pitchFamily="34" charset="-120"/>
              </a:rPr>
              <a:t>Seis páginas, seis candados: se apuesta antes de ver cada gráfica.</a:t>
            </a:r>
            <a:endParaRPr lang="en-US" sz="1700" dirty="0"/>
          </a:p>
          <a:p>
            <a:pPr marL="228600" indent="-228600">
              <a:spcAft>
                <a:spcPts val="1400"/>
              </a:spcAft>
              <a:buSzPct val="100000"/>
              <a:buChar char="•"/>
            </a:pPr>
            <a:r>
              <a:rPr lang="en-US" sz="1700" dirty="0">
                <a:solidFill>
                  <a:srgbClr val="1E1E1E"/>
                </a:solidFill>
                <a:latin typeface="Arial" pitchFamily="34" charset="0"/>
                <a:ea typeface="Arial" pitchFamily="34" charset="-122"/>
                <a:cs typeface="Arial" pitchFamily="34" charset="-120"/>
              </a:rPr>
              <a:t>La última pregunta de María te espera en la página 6.</a:t>
            </a:r>
            <a:endParaRPr lang="en-US" sz="1700" dirty="0"/>
          </a:p>
          <a:p>
            <a:pPr marL="228600" indent="-228600">
              <a:spcAft>
                <a:spcPts val="1400"/>
              </a:spcAft>
              <a:buSzPct val="100000"/>
              <a:buChar char="•"/>
            </a:pPr>
            <a:r>
              <a:rPr lang="en-US" sz="1700" dirty="0">
                <a:solidFill>
                  <a:srgbClr val="1E1E1E"/>
                </a:solidFill>
                <a:latin typeface="Arial" pitchFamily="34" charset="0"/>
                <a:ea typeface="Arial" pitchFamily="34" charset="-122"/>
                <a:cs typeface="Arial" pitchFamily="34" charset="-120"/>
              </a:rPr>
              <a:t>Entrega: el reporte para María, 5 diapositivas, miércoles.</a:t>
            </a:r>
            <a:endParaRPr lang="en-US" sz="1700" dirty="0"/>
          </a:p>
        </p:txBody>
      </p:sp>
      <p:sp>
        <p:nvSpPr>
          <p:cNvPr id="7" name="Shape 4"/>
          <p:cNvSpPr/>
          <p:nvPr/>
        </p:nvSpPr>
        <p:spPr>
          <a:xfrm>
            <a:off x="8549640" y="2286000"/>
            <a:ext cx="2468880" cy="2468880"/>
          </a:xfrm>
          <a:prstGeom prst="ellipse">
            <a:avLst/>
          </a:prstGeom>
          <a:solidFill>
            <a:srgbClr val="FBEDEF"/>
          </a:solidFill>
          <a:ln w="19050">
            <a:solidFill>
              <a:srgbClr val="A6192E"/>
            </a:solidFill>
            <a:prstDash val="solid"/>
          </a:ln>
        </p:spPr>
      </p:sp>
      <p:sp>
        <p:nvSpPr>
          <p:cNvPr id="8" name="Text 5"/>
          <p:cNvSpPr txBox="1"/>
          <p:nvPr/>
        </p:nvSpPr>
        <p:spPr>
          <a:xfrm>
            <a:off x="8549640" y="2286000"/>
            <a:ext cx="2468880" cy="2468880"/>
          </a:xfrm>
          <a:prstGeom prst="rect">
            <a:avLst/>
          </a:prstGeom>
          <a:noFill/>
          <a:ln/>
        </p:spPr>
        <p:txBody>
          <a:bodyPr wrap="square" lIns="0" tIns="0" rIns="0" bIns="0" rtlCol="0" anchor="ctr"/>
          <a:lstStyle/>
          <a:p>
            <a:pPr algn="ctr" indent="0" marL="0">
              <a:lnSpc>
                <a:spcPts val="3400"/>
              </a:lnSpc>
              <a:buNone/>
            </a:pPr>
            <a:r>
              <a:rPr lang="en-US" sz="3000" b="1" dirty="0">
                <a:solidFill>
                  <a:srgbClr val="A6192E"/>
                </a:solidFill>
                <a:latin typeface="Arial" pitchFamily="34" charset="0"/>
                <a:ea typeface="Arial" pitchFamily="34" charset="-122"/>
                <a:cs typeface="Arial" pitchFamily="34" charset="-120"/>
              </a:rPr>
              <a:t>≈ 50</a:t>
            </a:r>
            <a:endParaRPr lang="en-US" sz="3000" dirty="0"/>
          </a:p>
          <a:p>
            <a:pPr algn="ctr" indent="0" marL="0">
              <a:lnSpc>
                <a:spcPts val="3400"/>
              </a:lnSpc>
              <a:buNone/>
            </a:pPr>
            <a:r>
              <a:rPr lang="en-US" sz="3000" b="1" dirty="0">
                <a:solidFill>
                  <a:srgbClr val="A6192E"/>
                </a:solidFill>
                <a:latin typeface="Arial" pitchFamily="34" charset="0"/>
                <a:ea typeface="Arial" pitchFamily="34" charset="-122"/>
                <a:cs typeface="Arial" pitchFamily="34" charset="-120"/>
              </a:rPr>
              <a:t>min</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75488"/>
            <a:ext cx="10789920" cy="365760"/>
          </a:xfrm>
          <a:prstGeom prst="rect">
            <a:avLst/>
          </a:prstGeom>
          <a:noFill/>
          <a:ln/>
        </p:spPr>
        <p:txBody>
          <a:bodyPr wrap="square" lIns="0" tIns="0" rIns="0" bIns="0" rtlCol="0" anchor="ctr"/>
          <a:lstStyle/>
          <a:p>
            <a:pPr indent="0" marL="0">
              <a:buNone/>
            </a:pPr>
            <a:r>
              <a:rPr lang="en-US" sz="1300" b="1" spc="200" kern="0" dirty="0">
                <a:solidFill>
                  <a:srgbClr val="A6192E"/>
                </a:solidFill>
                <a:latin typeface="Arial" pitchFamily="34" charset="0"/>
                <a:ea typeface="Arial" pitchFamily="34" charset="-122"/>
                <a:cs typeface="Arial" pitchFamily="34" charset="-120"/>
              </a:rPr>
              <a:t>LO QUE TE LLEVAS HOY</a:t>
            </a:r>
            <a:endParaRPr lang="en-US" sz="1300" dirty="0"/>
          </a:p>
        </p:txBody>
      </p:sp>
      <p:sp>
        <p:nvSpPr>
          <p:cNvPr id="4" name="Shape 1"/>
          <p:cNvSpPr/>
          <p:nvPr/>
        </p:nvSpPr>
        <p:spPr>
          <a:xfrm>
            <a:off x="777240" y="1554480"/>
            <a:ext cx="502920" cy="502920"/>
          </a:xfrm>
          <a:prstGeom prst="ellipse">
            <a:avLst/>
          </a:prstGeom>
          <a:solidFill>
            <a:srgbClr val="A6192E"/>
          </a:solidFill>
          <a:ln/>
        </p:spPr>
      </p:sp>
      <p:sp>
        <p:nvSpPr>
          <p:cNvPr id="5" name="Text 2"/>
          <p:cNvSpPr txBox="1"/>
          <p:nvPr/>
        </p:nvSpPr>
        <p:spPr>
          <a:xfrm>
            <a:off x="777240" y="15544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3"/>
          <p:cNvSpPr txBox="1"/>
          <p:nvPr/>
        </p:nvSpPr>
        <p:spPr>
          <a:xfrm>
            <a:off x="1554480" y="1444752"/>
            <a:ext cx="9875520" cy="914400"/>
          </a:xfrm>
          <a:prstGeom prst="rect">
            <a:avLst/>
          </a:prstGeom>
          <a:noFill/>
          <a:ln/>
        </p:spPr>
        <p:txBody>
          <a:bodyPr wrap="square" lIns="0" tIns="0" rIns="0" bIns="0" rtlCol="0" anchor="ctr"/>
          <a:lstStyle/>
          <a:p>
            <a:pPr indent="0" marL="0">
              <a:lnSpc>
                <a:spcPts val="2400"/>
              </a:lnSpc>
              <a:buNone/>
            </a:pPr>
            <a:r>
              <a:rPr lang="en-US" sz="1750" dirty="0">
                <a:solidFill>
                  <a:srgbClr val="1E1E1E"/>
                </a:solidFill>
                <a:latin typeface="Arial" pitchFamily="34" charset="0"/>
                <a:ea typeface="Arial" pitchFamily="34" charset="-122"/>
                <a:cs typeface="Arial" pitchFamily="34" charset="-120"/>
              </a:rPr>
              <a:t>La escalera: toda pregunta de negocio vive en un escalón, y se sube por necesidad, no por ambición.</a:t>
            </a:r>
            <a:endParaRPr lang="en-US" sz="1750" dirty="0"/>
          </a:p>
        </p:txBody>
      </p:sp>
      <p:sp>
        <p:nvSpPr>
          <p:cNvPr id="7" name="Shape 4"/>
          <p:cNvSpPr/>
          <p:nvPr/>
        </p:nvSpPr>
        <p:spPr>
          <a:xfrm>
            <a:off x="777240" y="2651760"/>
            <a:ext cx="502920" cy="502920"/>
          </a:xfrm>
          <a:prstGeom prst="ellipse">
            <a:avLst/>
          </a:prstGeom>
          <a:solidFill>
            <a:srgbClr val="A6192E"/>
          </a:solidFill>
          <a:ln/>
        </p:spPr>
      </p:sp>
      <p:sp>
        <p:nvSpPr>
          <p:cNvPr id="8" name="Text 5"/>
          <p:cNvSpPr txBox="1"/>
          <p:nvPr/>
        </p:nvSpPr>
        <p:spPr>
          <a:xfrm>
            <a:off x="777240" y="2651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9" name="Text 6"/>
          <p:cNvSpPr txBox="1"/>
          <p:nvPr/>
        </p:nvSpPr>
        <p:spPr>
          <a:xfrm>
            <a:off x="1554480" y="2542032"/>
            <a:ext cx="9875520" cy="914400"/>
          </a:xfrm>
          <a:prstGeom prst="rect">
            <a:avLst/>
          </a:prstGeom>
          <a:noFill/>
          <a:ln/>
        </p:spPr>
        <p:txBody>
          <a:bodyPr wrap="square" lIns="0" tIns="0" rIns="0" bIns="0" rtlCol="0" anchor="ctr"/>
          <a:lstStyle/>
          <a:p>
            <a:pPr indent="0" marL="0">
              <a:lnSpc>
                <a:spcPts val="2400"/>
              </a:lnSpc>
              <a:buNone/>
            </a:pPr>
            <a:r>
              <a:rPr lang="en-US" sz="1750" dirty="0">
                <a:solidFill>
                  <a:srgbClr val="1E1E1E"/>
                </a:solidFill>
                <a:latin typeface="Arial" pitchFamily="34" charset="0"/>
                <a:ea typeface="Arial" pitchFamily="34" charset="-122"/>
                <a:cs typeface="Arial" pitchFamily="34" charset="-120"/>
              </a:rPr>
              <a:t>El detector de tres minutos: si la media y la mediana se alejan, hay cola larga o poblaciones mezcladas.</a:t>
            </a:r>
            <a:endParaRPr lang="en-US" sz="1750" dirty="0"/>
          </a:p>
        </p:txBody>
      </p:sp>
      <p:sp>
        <p:nvSpPr>
          <p:cNvPr id="10" name="Shape 7"/>
          <p:cNvSpPr/>
          <p:nvPr/>
        </p:nvSpPr>
        <p:spPr>
          <a:xfrm>
            <a:off x="777240" y="3749040"/>
            <a:ext cx="502920" cy="502920"/>
          </a:xfrm>
          <a:prstGeom prst="ellipse">
            <a:avLst/>
          </a:prstGeom>
          <a:solidFill>
            <a:srgbClr val="A6192E"/>
          </a:solidFill>
          <a:ln/>
        </p:spPr>
      </p:sp>
      <p:sp>
        <p:nvSpPr>
          <p:cNvPr id="11" name="Text 8"/>
          <p:cNvSpPr txBox="1"/>
          <p:nvPr/>
        </p:nvSpPr>
        <p:spPr>
          <a:xfrm>
            <a:off x="777240" y="3749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2" name="Text 9"/>
          <p:cNvSpPr txBox="1"/>
          <p:nvPr/>
        </p:nvSpPr>
        <p:spPr>
          <a:xfrm>
            <a:off x="1554480" y="3639312"/>
            <a:ext cx="9875520" cy="914400"/>
          </a:xfrm>
          <a:prstGeom prst="rect">
            <a:avLst/>
          </a:prstGeom>
          <a:noFill/>
          <a:ln/>
        </p:spPr>
        <p:txBody>
          <a:bodyPr wrap="square" lIns="0" tIns="0" rIns="0" bIns="0" rtlCol="0" anchor="ctr"/>
          <a:lstStyle/>
          <a:p>
            <a:pPr indent="0" marL="0">
              <a:lnSpc>
                <a:spcPts val="2400"/>
              </a:lnSpc>
              <a:buNone/>
            </a:pPr>
            <a:r>
              <a:rPr lang="en-US" sz="1750" dirty="0">
                <a:solidFill>
                  <a:srgbClr val="1E1E1E"/>
                </a:solidFill>
                <a:latin typeface="Arial" pitchFamily="34" charset="0"/>
                <a:ea typeface="Arial" pitchFamily="34" charset="-122"/>
                <a:cs typeface="Arial" pitchFamily="34" charset="-120"/>
              </a:rPr>
              <a:t>La regla de la casa: ningún promedio sin su distribución — el histograma decide qué número usar.</a:t>
            </a:r>
            <a:endParaRPr lang="en-US" sz="1750" dirty="0"/>
          </a:p>
        </p:txBody>
      </p:sp>
      <p:sp>
        <p:nvSpPr>
          <p:cNvPr id="13" name="Shape 10"/>
          <p:cNvSpPr/>
          <p:nvPr/>
        </p:nvSpPr>
        <p:spPr>
          <a:xfrm>
            <a:off x="777240" y="4846320"/>
            <a:ext cx="502920" cy="502920"/>
          </a:xfrm>
          <a:prstGeom prst="ellipse">
            <a:avLst/>
          </a:prstGeom>
          <a:solidFill>
            <a:srgbClr val="A6192E"/>
          </a:solidFill>
          <a:ln/>
        </p:spPr>
      </p:sp>
      <p:sp>
        <p:nvSpPr>
          <p:cNvPr id="14" name="Text 11"/>
          <p:cNvSpPr txBox="1"/>
          <p:nvPr/>
        </p:nvSpPr>
        <p:spPr>
          <a:xfrm>
            <a:off x="777240" y="4846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5" name="Text 12"/>
          <p:cNvSpPr txBox="1"/>
          <p:nvPr/>
        </p:nvSpPr>
        <p:spPr>
          <a:xfrm>
            <a:off x="1554480" y="4736592"/>
            <a:ext cx="9875520" cy="914400"/>
          </a:xfrm>
          <a:prstGeom prst="rect">
            <a:avLst/>
          </a:prstGeom>
          <a:noFill/>
          <a:ln/>
        </p:spPr>
        <p:txBody>
          <a:bodyPr wrap="square" lIns="0" tIns="0" rIns="0" bIns="0" rtlCol="0" anchor="ctr"/>
          <a:lstStyle/>
          <a:p>
            <a:pPr indent="0" marL="0">
              <a:lnSpc>
                <a:spcPts val="2400"/>
              </a:lnSpc>
              <a:buNone/>
            </a:pPr>
            <a:r>
              <a:rPr lang="en-US" sz="1750" dirty="0">
                <a:solidFill>
                  <a:srgbClr val="1E1E1E"/>
                </a:solidFill>
                <a:latin typeface="Arial" pitchFamily="34" charset="0"/>
                <a:ea typeface="Arial" pitchFamily="34" charset="-122"/>
                <a:cs typeface="Arial" pitchFamily="34" charset="-120"/>
              </a:rPr>
              <a:t>Tres decisiones salvadas hoy: un umbral de promoción muerto, el inventario equivocado y una subcategoría inocente.</a:t>
            </a:r>
            <a:endParaRPr lang="en-US" sz="1750" dirty="0"/>
          </a:p>
        </p:txBody>
      </p:sp>
      <p:sp>
        <p:nvSpPr>
          <p:cNvPr id="16" name="Text 13"/>
          <p:cNvSpPr txBox="1"/>
          <p:nvPr/>
        </p:nvSpPr>
        <p:spPr>
          <a:xfrm>
            <a:off x="777240" y="6172200"/>
            <a:ext cx="10607040" cy="365760"/>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Miércoles · Perfilado descriptivo contra reloj sobre Comercial Andina — trae la laptop.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5 · La trampa del promedio</dc:title>
  <dc:subject>PptxGenJS Presentation</dc:subject>
  <dc:creator>ADM 2003 · USFQ Galápagos</dc:creator>
  <cp:lastModifiedBy>ADM 2003 · USFQ Galápagos</cp:lastModifiedBy>
  <cp:revision>1</cp:revision>
  <dcterms:created xsi:type="dcterms:W3CDTF">2026-08-31T04:15:28Z</dcterms:created>
  <dcterms:modified xsi:type="dcterms:W3CDTF">2026-08-31T04:15:28Z</dcterms:modified>
</cp:coreProperties>
</file>