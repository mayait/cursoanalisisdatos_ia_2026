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min. Laptops abiertas. Saludo corto y directo al plan (slide 2). El 120 y el 9.0 % se explican en la slide 4, no aquí. Mientras entran, ya está proyectado el link de Colab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Recorrer la tabla sin detenerse: ocho pasos, cada uno con su celda de Colab. Luego las dos reglas: (1) se apuesta antes de correr la celda; errar la apuesta no cuesta puntos, no apostar sí; (2) cada hallazgo se anota en la bitácora en el momento, porque la bitácora es el Deber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 min. Todos corren esta celda antes de seguir; caminar por la sala y confirmar que a todos les da (1335, 19). Plan B sin GitHub: descargar andina-market.csv de D2L y subirlo con files.upload(). Mientras cargan, que abran una celda de texto con la cabecera de la bitácora (derecha). No explicar nada todavía de las columnas.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10-15 min. Leer el mensaje de Verónica y la cita de auditoría. Apuesta a mano alzada: A, B, C o D. Casi todos eligen B (venta de mostrador). No revelar todavía: la respuesta es D y se cierra en la slide 11 con la gráfica por región.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15-20 min. Corren head() y el filtro del pedido. Apuesta escrita en el cuaderno: ¿de cuántos dólares fue el pedido? La mitad suma Total Pedido (749.60) y la otra mitad Ventas (187.40). Pedir dos o tres números en voz alta antes de pasar a la siguiente slide. No corregir todavía.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20-24 min. Reveal: 187.40 contra 749.60. Luego la escala: la misma confusión sobre toda la base infla la venta 3.8 veces. Nadie inventó un número, solo sumó una columna que vive en otro nivel. Cerrar con las dos preguntas ante una tabla nueva y anotar la primera fila de la bitácora.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24-28 min. Corren dtypes e info(). Apuesta: ¿cuántas columnas mienten sobre su tipo? Que anoten un número y cuáles. Dar dos minutos de silencio real para que las busquen; la mayoría encuentra Ventas (object) y se le escapa que Fecha Pedido y Fecha Envío también son object porque 'se ven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28-32 min. Reveal con los conteos: 43 ventas con formato de factura, 35 fechas en dd/mm/yyyy, y Cantidad que es int pero trae 9 negativas (eso se resuelve en el paso 6). Insistir en el orden: los tipos van primero, porque un isna() sobre una columna rota cuenta mal. Tres filas a la bitácora (Ventas, fechas, cantidad negativa queda 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32-37 min. Corren isna().sum(). ID Cliente da 99 (pandas ya convirtió las cadenas vacías en NaN al leer el CSV). Auditoría dijo 120. Apuesta: ¿cuántas líneas sin cliente encuentras tú? Que escriban el número y la línea de código con la que lo defienden. Pista si se traban: value_counts(dropna=False).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37-41 min. Reveal: los 21 que faltan dicen 'SIN-ID', un texto que para pandas es un cliente perfectamente válido. La máscara da 120, igual que auditoría. Regla en voz alta: isna() encuentra lo declarado; lo inventado se caza con value_counts e isin. Que corran la máscara y la guarden: se usa en la slide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41-45 min. Corren el groupby con la máscara. La gráfica cierra la apuesta de la slide 4: Costa 11.4 %, Galápagos 3.6 %, Amazonía 0. Un faltante concentrado en una región apunta a un proceso de captura distinto (cajas de mostrador que no piden cédula). La respuesta correcta era D. La tabla de los tres significados sirve para escribir la justificación en la bitácora.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45-52 min. Descuento: 658 ceros y 212 vacíos. Apuesta a mano alzada con las tres opciones; la correcta es el rango 658 a 870, porque la respuesta depende de la regla de captura y eso se pregunta. Luego el centinela: describe() da una utilidad media de -99 dólares, imposible. value_counts lo delata: 15 filas en -9999. Sin el centinela, la media es 13.41. isna() jamás lo ve. Dos filas a la bitácora.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52-58 min. Apuesta numérica antes de correr: ¿cuántas filas repetidas exactas? Corren duplicated().sum() y da 0. Segunda línea, sin ID Fila: 24. El consecutivo se lo puso el sistema a cada registro después de duplicarse, así dos filas idénticas parecen distintas. Regla: antes de buscar duplicados, quita los identificadores automáticos.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58-65 min. Cuatro frentes en siete minutos; que cada uno corra los cuatro y anote las filas. Ciudad: cuatro grafías de Quito y dos de Santo Domingo; value_counts() las delata al final de la lista, no al principio. Provincia vacía: 32, y se puede deducir de la ciudad. Cantidad negativa: 9, no se decide todavía (slide 16). Envío antes del pedido: solo aparece después de convertir las fechas; si lo comparan como texto sale cualquier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65-68 min. Proyectar la gráfica y pedir que cuenten sus filas de bitácora. Quien tenga menos de siete revisa la lista contra la suya. Lo que sigue es decidir qué hacer con cada problema; cada decisión cambia una cifra.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68-73 min. Presentar los cuatro verbos con el ejemplo de esta base. Apuesta a mano alzada sobre las 9 cantidades negativas: borrar, valor absoluto, preguntar y documentar, o dejar. La correcta es preguntar y documentar: si son devoluciones reales, borrarlas infla la venta neta; ponerles valor absoluto convierte devoluciones en ventas. Documentar aplica siempre, también a lo que se decide no tocar.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73-80 min. Corren las dos limpiezas y las dos verificaciones. Ojo con Ventas: la conversión se aplica SOLO a las 43 filas con signo de dólar (máscara). Si se aplica el replace de puntos a toda la columna, 14.2 se vuelve 142 y se rompe todo lo que estaba bien. Ese es el error que más aparece en el Deber 2, vale la pena decirlo dos veces. Cada bloque genera una fila de bitácora con su evidencia de que quedó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80-84 min. Corren el drop_duplicates y comparan totales. Tres números que cuentan la historia entera: 704 mil si sumas la columna equivocada, 185 mil con Ventas limpia, 182 mil sin duplicados. Ese último es el que va al comité. Este es el cierre de la bitácora: filas iniciales, filas finales, y qué cifra del negocio cambió con tu limpieza.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84-87 min. El deber es lo que ya hicieron, ordenado. Individual, buzón Deber 2 en D2L, fecha en el buzón. Mínimo seis problemas (hay once). Recordar la segunda entrega del mismo buzón: la propuesta de proyecto final del grupo, medio párrafo. Y la razón de fondo: la semana que viene la tabla de indicadores del Deber 3 se construye sobre esta misma base; sin bitácora, ningún total cuadra con el de nadie.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87-90 min. Slide final: se queda proyectada durante las preguntas. Recordar la entrega del Deber 2 y la propuesta de proyecto en el mismo buzón, y que el lunes se trabaja sobre esta misma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85800" y="1188720"/>
            <a:ext cx="1051560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ADM 2003 · ANÁLISIS DE DATOS CON IA Y PYTHON · SESIONES 7 Y 8</a:t>
            </a:r>
            <a:endParaRPr lang="en-US" sz="1300" dirty="0"/>
          </a:p>
        </p:txBody>
      </p:sp>
      <p:sp>
        <p:nvSpPr>
          <p:cNvPr id="4" name="Text 1"/>
          <p:cNvSpPr txBox="1"/>
          <p:nvPr/>
        </p:nvSpPr>
        <p:spPr>
          <a:xfrm>
            <a:off x="640080" y="1691640"/>
            <a:ext cx="7315200" cy="2514600"/>
          </a:xfrm>
          <a:prstGeom prst="rect">
            <a:avLst/>
          </a:prstGeom>
          <a:noFill/>
          <a:ln/>
        </p:spPr>
        <p:txBody>
          <a:bodyPr wrap="square" lIns="0" tIns="0" rIns="0" bIns="0" rtlCol="0" anchor="ctr"/>
          <a:lstStyle/>
          <a:p>
            <a:pPr indent="0" marL="0">
              <a:lnSpc>
                <a:spcPts val="6200"/>
              </a:lnSpc>
              <a:buNone/>
            </a:pPr>
            <a:r>
              <a:rPr lang="en-US" sz="5600" b="1" dirty="0">
                <a:solidFill>
                  <a:srgbClr val="1E1E1E"/>
                </a:solidFill>
                <a:latin typeface="Arial" pitchFamily="34" charset="0"/>
                <a:ea typeface="Arial" pitchFamily="34" charset="-122"/>
                <a:cs typeface="Arial" pitchFamily="34" charset="-120"/>
              </a:rPr>
              <a:t>Anatomía y calidad</a:t>
            </a:r>
            <a:endParaRPr lang="en-US" sz="5600" dirty="0"/>
          </a:p>
          <a:p>
            <a:pPr indent="0" marL="0">
              <a:lnSpc>
                <a:spcPts val="6200"/>
              </a:lnSpc>
              <a:buNone/>
            </a:pPr>
            <a:r>
              <a:rPr lang="en-US" sz="5600" b="1" dirty="0">
                <a:solidFill>
                  <a:srgbClr val="1E1E1E"/>
                </a:solidFill>
                <a:latin typeface="Arial" pitchFamily="34" charset="0"/>
                <a:ea typeface="Arial" pitchFamily="34" charset="-122"/>
                <a:cs typeface="Arial" pitchFamily="34" charset="-120"/>
              </a:rPr>
              <a:t>de los datos</a:t>
            </a:r>
            <a:endParaRPr lang="en-US" sz="5600" dirty="0"/>
          </a:p>
        </p:txBody>
      </p:sp>
      <p:sp>
        <p:nvSpPr>
          <p:cNvPr id="5" name="Text 2"/>
          <p:cNvSpPr txBox="1"/>
          <p:nvPr/>
        </p:nvSpPr>
        <p:spPr>
          <a:xfrm>
            <a:off x="685800" y="4434840"/>
            <a:ext cx="6949440" cy="1005840"/>
          </a:xfrm>
          <a:prstGeom prst="rect">
            <a:avLst/>
          </a:prstGeom>
          <a:noFill/>
          <a:ln/>
        </p:spPr>
        <p:txBody>
          <a:bodyPr wrap="square" lIns="0" tIns="0" rIns="0" bIns="0" rtlCol="0" anchor="ctr"/>
          <a:lstStyle/>
          <a:p>
            <a:pPr indent="0" marL="0">
              <a:lnSpc>
                <a:spcPts val="2800"/>
              </a:lnSpc>
              <a:buNone/>
            </a:pPr>
            <a:r>
              <a:rPr lang="en-US" sz="2000" dirty="0">
                <a:solidFill>
                  <a:srgbClr val="6B6B6B"/>
                </a:solidFill>
                <a:latin typeface="Arial" pitchFamily="34" charset="0"/>
                <a:ea typeface="Arial" pitchFamily="34" charset="-122"/>
                <a:cs typeface="Arial" pitchFamily="34" charset="-120"/>
              </a:rPr>
              <a:t>Taller en Colab sobre andina_market.csv:</a:t>
            </a:r>
            <a:endParaRPr lang="en-US" sz="2000" dirty="0"/>
          </a:p>
          <a:p>
            <a:pPr indent="0" marL="0">
              <a:lnSpc>
                <a:spcPts val="2800"/>
              </a:lnSpc>
              <a:buNone/>
            </a:pPr>
            <a:r>
              <a:rPr lang="en-US" sz="2000" dirty="0">
                <a:solidFill>
                  <a:srgbClr val="6B6B6B"/>
                </a:solidFill>
                <a:latin typeface="Arial" pitchFamily="34" charset="0"/>
                <a:ea typeface="Arial" pitchFamily="34" charset="-122"/>
                <a:cs typeface="Arial" pitchFamily="34" charset="-120"/>
              </a:rPr>
              <a:t>granularidad, tipos, huecos, duplicados y el Deber 2.</a:t>
            </a:r>
            <a:endParaRPr lang="en-US" sz="2000" dirty="0"/>
          </a:p>
        </p:txBody>
      </p:sp>
      <p:sp>
        <p:nvSpPr>
          <p:cNvPr id="6" name="Text 3"/>
          <p:cNvSpPr txBox="1"/>
          <p:nvPr/>
        </p:nvSpPr>
        <p:spPr>
          <a:xfrm>
            <a:off x="8412480" y="1783080"/>
            <a:ext cx="3291840" cy="914400"/>
          </a:xfrm>
          <a:prstGeom prst="rect">
            <a:avLst/>
          </a:prstGeom>
          <a:noFill/>
          <a:ln/>
        </p:spPr>
        <p:txBody>
          <a:bodyPr wrap="square" lIns="0" tIns="0" rIns="0" bIns="0" rtlCol="0" anchor="ctr"/>
          <a:lstStyle/>
          <a:p>
            <a:pPr indent="0" marL="0">
              <a:buNone/>
            </a:pPr>
            <a:r>
              <a:rPr lang="en-US" sz="6400" b="1" dirty="0">
                <a:solidFill>
                  <a:srgbClr val="A6192E"/>
                </a:solidFill>
                <a:latin typeface="Arial" pitchFamily="34" charset="0"/>
                <a:ea typeface="Arial" pitchFamily="34" charset="-122"/>
                <a:cs typeface="Arial" pitchFamily="34" charset="-120"/>
              </a:rPr>
              <a:t>120</a:t>
            </a:r>
            <a:endParaRPr lang="en-US" sz="6400" dirty="0"/>
          </a:p>
        </p:txBody>
      </p:sp>
      <p:sp>
        <p:nvSpPr>
          <p:cNvPr id="7" name="Text 4"/>
          <p:cNvSpPr txBox="1"/>
          <p:nvPr/>
        </p:nvSpPr>
        <p:spPr>
          <a:xfrm>
            <a:off x="8458200" y="2743200"/>
            <a:ext cx="3291840" cy="36576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líneas sin ID Cliente</a:t>
            </a:r>
            <a:endParaRPr lang="en-US" sz="1400" dirty="0"/>
          </a:p>
        </p:txBody>
      </p:sp>
      <p:sp>
        <p:nvSpPr>
          <p:cNvPr id="8" name="Text 5"/>
          <p:cNvSpPr txBox="1"/>
          <p:nvPr/>
        </p:nvSpPr>
        <p:spPr>
          <a:xfrm>
            <a:off x="8412480" y="3429000"/>
            <a:ext cx="3291840" cy="914400"/>
          </a:xfrm>
          <a:prstGeom prst="rect">
            <a:avLst/>
          </a:prstGeom>
          <a:noFill/>
          <a:ln/>
        </p:spPr>
        <p:txBody>
          <a:bodyPr wrap="square" lIns="0" tIns="0" rIns="0" bIns="0" rtlCol="0" anchor="ctr"/>
          <a:lstStyle/>
          <a:p>
            <a:pPr indent="0" marL="0">
              <a:buNone/>
            </a:pPr>
            <a:r>
              <a:rPr lang="en-US" sz="6400" b="1" dirty="0">
                <a:solidFill>
                  <a:srgbClr val="1E1E1E"/>
                </a:solidFill>
                <a:latin typeface="Arial" pitchFamily="34" charset="0"/>
                <a:ea typeface="Arial" pitchFamily="34" charset="-122"/>
                <a:cs typeface="Arial" pitchFamily="34" charset="-120"/>
              </a:rPr>
              <a:t>9.0 %</a:t>
            </a:r>
            <a:endParaRPr lang="en-US" sz="6400" dirty="0"/>
          </a:p>
        </p:txBody>
      </p:sp>
      <p:sp>
        <p:nvSpPr>
          <p:cNvPr id="9" name="Text 6"/>
          <p:cNvSpPr txBox="1"/>
          <p:nvPr/>
        </p:nvSpPr>
        <p:spPr>
          <a:xfrm>
            <a:off x="8458200" y="4389120"/>
            <a:ext cx="3291840" cy="36576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de las 1.335 líneas de la base</a:t>
            </a:r>
            <a:endParaRPr lang="en-US" sz="1400" dirty="0"/>
          </a:p>
        </p:txBody>
      </p:sp>
      <p:sp>
        <p:nvSpPr>
          <p:cNvPr id="10" name="Text 7"/>
          <p:cNvSpPr txBox="1"/>
          <p:nvPr/>
        </p:nvSpPr>
        <p:spPr>
          <a:xfrm>
            <a:off x="685800" y="6309360"/>
            <a:ext cx="10515600" cy="320040"/>
          </a:xfrm>
          <a:prstGeom prst="rect">
            <a:avLst/>
          </a:prstGeom>
          <a:noFill/>
          <a:ln/>
        </p:spPr>
        <p:txBody>
          <a:bodyPr wrap="square" lIns="0" tIns="0" rIns="0" bIns="0" rtlCol="0" anchor="ctr"/>
          <a:lstStyle/>
          <a:p>
            <a:pPr indent="0" marL="0">
              <a:buNone/>
            </a:pPr>
            <a:r>
              <a:rPr lang="en-US" sz="1200" dirty="0">
                <a:solidFill>
                  <a:srgbClr val="6B6B6B"/>
                </a:solidFill>
                <a:latin typeface="Arial" pitchFamily="34" charset="0"/>
                <a:ea typeface="Arial" pitchFamily="34" charset="-122"/>
                <a:cs typeface="Arial" pitchFamily="34" charset="-120"/>
              </a:rPr>
              <a:t>Semana 4 · Taller práctico en Colab · USFQ Galápagos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89611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EL PLAN</a:t>
            </a:r>
            <a:endParaRPr lang="en-US" sz="1300" dirty="0"/>
          </a:p>
        </p:txBody>
      </p:sp>
      <p:sp>
        <p:nvSpPr>
          <p:cNvPr id="3" name="Shape 1"/>
          <p:cNvSpPr/>
          <p:nvPr/>
        </p:nvSpPr>
        <p:spPr>
          <a:xfrm>
            <a:off x="9966960" y="411480"/>
            <a:ext cx="1554480" cy="457200"/>
          </a:xfrm>
          <a:prstGeom prst="roundRect">
            <a:avLst>
              <a:gd name="adj" fmla="val 50000"/>
            </a:avLst>
          </a:prstGeom>
          <a:solidFill>
            <a:srgbClr val="FBEDEF"/>
          </a:solidFill>
          <a:ln w="12700">
            <a:solidFill>
              <a:srgbClr val="A6192E"/>
            </a:solidFill>
            <a:prstDash val="solid"/>
          </a:ln>
        </p:spPr>
      </p:sp>
      <p:sp>
        <p:nvSpPr>
          <p:cNvPr id="4" name="Text 2"/>
          <p:cNvSpPr txBox="1"/>
          <p:nvPr/>
        </p:nvSpPr>
        <p:spPr>
          <a:xfrm>
            <a:off x="9966960" y="411480"/>
            <a:ext cx="1554480" cy="457200"/>
          </a:xfrm>
          <a:prstGeom prst="rect">
            <a:avLst/>
          </a:prstGeom>
          <a:noFill/>
          <a:ln/>
        </p:spPr>
        <p:txBody>
          <a:bodyPr wrap="square" lIns="0" tIns="0" rIns="0" bIns="0" rtlCol="0" anchor="ctr"/>
          <a:lstStyle/>
          <a:p>
            <a:pPr algn="ctr" indent="0" marL="0">
              <a:buNone/>
            </a:pPr>
            <a:r>
              <a:rPr lang="en-US" sz="1200" b="1" dirty="0">
                <a:solidFill>
                  <a:srgbClr val="A6192E"/>
                </a:solidFill>
                <a:latin typeface="Arial" pitchFamily="34" charset="0"/>
                <a:ea typeface="Arial" pitchFamily="34" charset="-122"/>
                <a:cs typeface="Arial" pitchFamily="34" charset="-120"/>
              </a:rPr>
              <a:t>MIN 0–5</a:t>
            </a:r>
            <a:endParaRPr lang="en-US" sz="1200" dirty="0"/>
          </a:p>
        </p:txBody>
      </p:sp>
      <p:sp>
        <p:nvSpPr>
          <p:cNvPr id="6" name="Text 3"/>
          <p:cNvSpPr txBox="1"/>
          <p:nvPr/>
        </p:nvSpPr>
        <p:spPr>
          <a:xfrm>
            <a:off x="685800" y="868680"/>
            <a:ext cx="10789920" cy="54864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Un inventario de calidad de andina_market.csv, en ocho pasos</a:t>
            </a:r>
            <a:endParaRPr lang="en-US" sz="27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85800" y="1554480"/>
          <a:ext cx="6766560" cy="914400"/>
        </p:xfrm>
        <a:graphic>
          <a:graphicData uri="http://schemas.openxmlformats.org/drawingml/2006/table">
            <a:tbl>
              <a:tblPr/>
              <a:tblGrid>
                <a:gridCol w="548640"/>
                <a:gridCol w="3108960"/>
                <a:gridCol w="2377440"/>
                <a:gridCol w="731520"/>
              </a:tblGrid>
              <a:tr h="365760">
                <a:tc>
                  <a:txBody>
                    <a:bodyPr/>
                    <a:lstStyle/>
                    <a:p>
                      <a:pPr algn="ctr" indent="0" marL="0">
                        <a:buNone/>
                      </a:pPr>
                      <a:r>
                        <a:rPr lang="en-US" sz="1000" b="1" dirty="0">
                          <a:solidFill>
                            <a:srgbClr val="A6192E"/>
                          </a:solidFill>
                          <a:latin typeface="Arial" pitchFamily="34" charset="0"/>
                          <a:ea typeface="Arial" pitchFamily="34" charset="-122"/>
                          <a:cs typeface="Arial" pitchFamily="34" charset="-120"/>
                        </a:rPr>
                        <a:t>Paso</a:t>
                      </a:r>
                      <a:endParaRPr lang="en-US" sz="10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l" indent="0" marL="0">
                        <a:buNone/>
                      </a:pPr>
                      <a:r>
                        <a:rPr lang="en-US" sz="1000" b="1" dirty="0">
                          <a:solidFill>
                            <a:srgbClr val="A6192E"/>
                          </a:solidFill>
                          <a:latin typeface="Arial" pitchFamily="34" charset="0"/>
                          <a:ea typeface="Arial" pitchFamily="34" charset="-122"/>
                          <a:cs typeface="Arial" pitchFamily="34" charset="-120"/>
                        </a:rPr>
                        <a:t>Qué se hace</a:t>
                      </a:r>
                      <a:endParaRPr lang="en-US" sz="10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l" indent="0" marL="0">
                        <a:buNone/>
                      </a:pPr>
                      <a:r>
                        <a:rPr lang="en-US" sz="1000" b="1" dirty="0">
                          <a:solidFill>
                            <a:srgbClr val="A6192E"/>
                          </a:solidFill>
                          <a:latin typeface="Arial" pitchFamily="34" charset="0"/>
                          <a:ea typeface="Arial" pitchFamily="34" charset="-122"/>
                          <a:cs typeface="Arial" pitchFamily="34" charset="-120"/>
                        </a:rPr>
                        <a:t>Herramienta</a:t>
                      </a:r>
                      <a:endParaRPr lang="en-US" sz="10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ctr" indent="0" marL="0">
                        <a:buNone/>
                      </a:pPr>
                      <a:r>
                        <a:rPr lang="en-US" sz="1000" b="1" dirty="0">
                          <a:solidFill>
                            <a:srgbClr val="A6192E"/>
                          </a:solidFill>
                          <a:latin typeface="Arial" pitchFamily="34" charset="0"/>
                          <a:ea typeface="Arial" pitchFamily="34" charset="-122"/>
                          <a:cs typeface="Arial" pitchFamily="34" charset="-120"/>
                        </a:rPr>
                        <a:t>Min</a:t>
                      </a:r>
                      <a:endParaRPr lang="en-US" sz="10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r>
              <a:tr h="365760">
                <a:tc>
                  <a:txBody>
                    <a:bodyPr/>
                    <a:lstStyle/>
                    <a:p>
                      <a:pPr algn="ctr" indent="0" marL="0">
                        <a:buNone/>
                      </a:pPr>
                      <a:r>
                        <a:rPr lang="en-US" sz="1150" dirty="0">
                          <a:solidFill>
                            <a:srgbClr val="1E1E1E"/>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Qué representa una fila</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Courier New" pitchFamily="34" charset="0"/>
                          <a:ea typeface="Courier New" pitchFamily="34" charset="-122"/>
                          <a:cs typeface="Courier New" pitchFamily="34" charset="-120"/>
                        </a:rPr>
                        <a:t>head, nunique, filtro por pedido</a:t>
                      </a:r>
                      <a:endParaRPr lang="en-US" sz="11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1E1E"/>
                          </a:solidFill>
                          <a:latin typeface="Arial" pitchFamily="34" charset="0"/>
                          <a:ea typeface="Arial" pitchFamily="34" charset="-122"/>
                          <a:cs typeface="Arial" pitchFamily="34" charset="-120"/>
                        </a:rPr>
                        <a:t>15–24</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65760">
                <a:tc>
                  <a:txBody>
                    <a:bodyPr/>
                    <a:lstStyle/>
                    <a:p>
                      <a:pPr algn="ctr" indent="0" marL="0">
                        <a:buNone/>
                      </a:pPr>
                      <a:r>
                        <a:rPr lang="en-US" sz="1150" dirty="0">
                          <a:solidFill>
                            <a:srgbClr val="1E1E1E"/>
                          </a:solidFill>
                          <a:latin typeface="Arial" pitchFamily="34" charset="0"/>
                          <a:ea typeface="Arial" pitchFamily="34" charset="-122"/>
                          <a:cs typeface="Arial" pitchFamily="34" charset="-120"/>
                        </a:rPr>
                        <a:t>2</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Tipos de dato</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Courier New" pitchFamily="34" charset="0"/>
                          <a:ea typeface="Courier New" pitchFamily="34" charset="-122"/>
                          <a:cs typeface="Courier New" pitchFamily="34" charset="-120"/>
                        </a:rPr>
                        <a:t>dtypes, info</a:t>
                      </a:r>
                      <a:endParaRPr lang="en-US" sz="11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1E1E"/>
                          </a:solidFill>
                          <a:latin typeface="Arial" pitchFamily="34" charset="0"/>
                          <a:ea typeface="Arial" pitchFamily="34" charset="-122"/>
                          <a:cs typeface="Arial" pitchFamily="34" charset="-120"/>
                        </a:rPr>
                        <a:t>24–32</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65760">
                <a:tc>
                  <a:txBody>
                    <a:bodyPr/>
                    <a:lstStyle/>
                    <a:p>
                      <a:pPr algn="ctr" indent="0" marL="0">
                        <a:buNone/>
                      </a:pPr>
                      <a:r>
                        <a:rPr lang="en-US" sz="1150" dirty="0">
                          <a:solidFill>
                            <a:srgbClr val="1E1E1E"/>
                          </a:solidFill>
                          <a:latin typeface="Arial" pitchFamily="34" charset="0"/>
                          <a:ea typeface="Arial" pitchFamily="34" charset="-122"/>
                          <a:cs typeface="Arial" pitchFamily="34" charset="-120"/>
                        </a:rPr>
                        <a:t>3</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Huecos declarados y huecos como texto</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Courier New" pitchFamily="34" charset="0"/>
                          <a:ea typeface="Courier New" pitchFamily="34" charset="-122"/>
                          <a:cs typeface="Courier New" pitchFamily="34" charset="-120"/>
                        </a:rPr>
                        <a:t>isna, value_counts, isin, groupby</a:t>
                      </a:r>
                      <a:endParaRPr lang="en-US" sz="11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1E1E"/>
                          </a:solidFill>
                          <a:latin typeface="Arial" pitchFamily="34" charset="0"/>
                          <a:ea typeface="Arial" pitchFamily="34" charset="-122"/>
                          <a:cs typeface="Arial" pitchFamily="34" charset="-120"/>
                        </a:rPr>
                        <a:t>32–45</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65760">
                <a:tc>
                  <a:txBody>
                    <a:bodyPr/>
                    <a:lstStyle/>
                    <a:p>
                      <a:pPr algn="ctr" indent="0" marL="0">
                        <a:buNone/>
                      </a:pPr>
                      <a:r>
                        <a:rPr lang="en-US" sz="1150" dirty="0">
                          <a:solidFill>
                            <a:srgbClr val="1E1E1E"/>
                          </a:solidFill>
                          <a:latin typeface="Arial" pitchFamily="34" charset="0"/>
                          <a:ea typeface="Arial" pitchFamily="34" charset="-122"/>
                          <a:cs typeface="Arial" pitchFamily="34" charset="-120"/>
                        </a:rPr>
                        <a:t>4</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Cero, vacío y centinela</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Courier New" pitchFamily="34" charset="0"/>
                          <a:ea typeface="Courier New" pitchFamily="34" charset="-122"/>
                          <a:cs typeface="Courier New" pitchFamily="34" charset="-120"/>
                        </a:rPr>
                        <a:t>value_counts(dropna=False), describe</a:t>
                      </a:r>
                      <a:endParaRPr lang="en-US" sz="11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1E1E"/>
                          </a:solidFill>
                          <a:latin typeface="Arial" pitchFamily="34" charset="0"/>
                          <a:ea typeface="Arial" pitchFamily="34" charset="-122"/>
                          <a:cs typeface="Arial" pitchFamily="34" charset="-120"/>
                        </a:rPr>
                        <a:t>45–52</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65760">
                <a:tc>
                  <a:txBody>
                    <a:bodyPr/>
                    <a:lstStyle/>
                    <a:p>
                      <a:pPr algn="ctr" indent="0" marL="0">
                        <a:buNone/>
                      </a:pPr>
                      <a:r>
                        <a:rPr lang="en-US" sz="1150" dirty="0">
                          <a:solidFill>
                            <a:srgbClr val="1E1E1E"/>
                          </a:solidFill>
                          <a:latin typeface="Arial" pitchFamily="34" charset="0"/>
                          <a:ea typeface="Arial" pitchFamily="34" charset="-122"/>
                          <a:cs typeface="Arial" pitchFamily="34" charset="-120"/>
                        </a:rPr>
                        <a:t>5</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Duplicados</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Courier New" pitchFamily="34" charset="0"/>
                          <a:ea typeface="Courier New" pitchFamily="34" charset="-122"/>
                          <a:cs typeface="Courier New" pitchFamily="34" charset="-120"/>
                        </a:rPr>
                        <a:t>duplicated, drop</a:t>
                      </a:r>
                      <a:endParaRPr lang="en-US" sz="11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1E1E"/>
                          </a:solidFill>
                          <a:latin typeface="Arial" pitchFamily="34" charset="0"/>
                          <a:ea typeface="Arial" pitchFamily="34" charset="-122"/>
                          <a:cs typeface="Arial" pitchFamily="34" charset="-120"/>
                        </a:rPr>
                        <a:t>52–58</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65760">
                <a:tc>
                  <a:txBody>
                    <a:bodyPr/>
                    <a:lstStyle/>
                    <a:p>
                      <a:pPr algn="ctr" indent="0" marL="0">
                        <a:buNone/>
                      </a:pPr>
                      <a:r>
                        <a:rPr lang="en-US" sz="1150" dirty="0">
                          <a:solidFill>
                            <a:srgbClr val="1E1E1E"/>
                          </a:solidFill>
                          <a:latin typeface="Arial" pitchFamily="34" charset="0"/>
                          <a:ea typeface="Arial" pitchFamily="34" charset="-122"/>
                          <a:cs typeface="Arial" pitchFamily="34" charset="-120"/>
                        </a:rPr>
                        <a:t>6</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Valores imposibles y categorías</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Courier New" pitchFamily="34" charset="0"/>
                          <a:ea typeface="Courier New" pitchFamily="34" charset="-122"/>
                          <a:cs typeface="Courier New" pitchFamily="34" charset="-120"/>
                        </a:rPr>
                        <a:t>comparaciones, to_datetime</a:t>
                      </a:r>
                      <a:endParaRPr lang="en-US" sz="11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1E1E"/>
                          </a:solidFill>
                          <a:latin typeface="Arial" pitchFamily="34" charset="0"/>
                          <a:ea typeface="Arial" pitchFamily="34" charset="-122"/>
                          <a:cs typeface="Arial" pitchFamily="34" charset="-120"/>
                        </a:rPr>
                        <a:t>58–65</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65760">
                <a:tc>
                  <a:txBody>
                    <a:bodyPr/>
                    <a:lstStyle/>
                    <a:p>
                      <a:pPr algn="ctr" indent="0" marL="0">
                        <a:buNone/>
                      </a:pPr>
                      <a:r>
                        <a:rPr lang="en-US" sz="1150" dirty="0">
                          <a:solidFill>
                            <a:srgbClr val="1E1E1E"/>
                          </a:solidFill>
                          <a:latin typeface="Arial" pitchFamily="34" charset="0"/>
                          <a:ea typeface="Arial" pitchFamily="34" charset="-122"/>
                          <a:cs typeface="Arial" pitchFamily="34" charset="-120"/>
                        </a:rPr>
                        <a:t>7</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Dos limpiezas con verificación</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Courier New" pitchFamily="34" charset="0"/>
                          <a:ea typeface="Courier New" pitchFamily="34" charset="-122"/>
                          <a:cs typeface="Courier New" pitchFamily="34" charset="-120"/>
                        </a:rPr>
                        <a:t>astype, to_datetime, máscaras</a:t>
                      </a:r>
                      <a:endParaRPr lang="en-US" sz="11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1E1E"/>
                          </a:solidFill>
                          <a:latin typeface="Arial" pitchFamily="34" charset="0"/>
                          <a:ea typeface="Arial" pitchFamily="34" charset="-122"/>
                          <a:cs typeface="Arial" pitchFamily="34" charset="-120"/>
                        </a:rPr>
                        <a:t>73–80</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65760">
                <a:tc>
                  <a:txBody>
                    <a:bodyPr/>
                    <a:lstStyle/>
                    <a:p>
                      <a:pPr algn="ctr" indent="0" marL="0">
                        <a:buNone/>
                      </a:pPr>
                      <a:r>
                        <a:rPr lang="en-US" sz="1150" dirty="0">
                          <a:solidFill>
                            <a:srgbClr val="1E1E1E"/>
                          </a:solidFill>
                          <a:latin typeface="Arial" pitchFamily="34" charset="0"/>
                          <a:ea typeface="Arial" pitchFamily="34" charset="-122"/>
                          <a:cs typeface="Arial" pitchFamily="34" charset="-120"/>
                        </a:rPr>
                        <a:t>8</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Resumen: filas y venta antes y después</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Courier New" pitchFamily="34" charset="0"/>
                          <a:ea typeface="Courier New" pitchFamily="34" charset="-122"/>
                          <a:cs typeface="Courier New" pitchFamily="34" charset="-120"/>
                        </a:rPr>
                        <a:t>drop_duplicates, sum</a:t>
                      </a:r>
                      <a:endParaRPr lang="en-US" sz="11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1E1E"/>
                          </a:solidFill>
                          <a:latin typeface="Arial" pitchFamily="34" charset="0"/>
                          <a:ea typeface="Arial" pitchFamily="34" charset="-122"/>
                          <a:cs typeface="Arial" pitchFamily="34" charset="-120"/>
                        </a:rPr>
                        <a:t>80–84</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bl>
          </a:graphicData>
        </a:graphic>
      </p:graphicFrame>
      <p:sp>
        <p:nvSpPr>
          <p:cNvPr id="8" name="Shape 4"/>
          <p:cNvSpPr/>
          <p:nvPr/>
        </p:nvSpPr>
        <p:spPr>
          <a:xfrm>
            <a:off x="7772400" y="1554480"/>
            <a:ext cx="3749040" cy="1645920"/>
          </a:xfrm>
          <a:prstGeom prst="rect">
            <a:avLst/>
          </a:prstGeom>
          <a:solidFill>
            <a:srgbClr val="FBEDEF"/>
          </a:solidFill>
          <a:ln/>
        </p:spPr>
      </p:sp>
      <p:sp>
        <p:nvSpPr>
          <p:cNvPr id="9" name="Text 5"/>
          <p:cNvSpPr txBox="1"/>
          <p:nvPr/>
        </p:nvSpPr>
        <p:spPr>
          <a:xfrm>
            <a:off x="8001000" y="1691640"/>
            <a:ext cx="3291840" cy="502920"/>
          </a:xfrm>
          <a:prstGeom prst="rect">
            <a:avLst/>
          </a:prstGeom>
          <a:noFill/>
          <a:ln/>
        </p:spPr>
        <p:txBody>
          <a:bodyPr wrap="square" lIns="0" tIns="0" rIns="0" bIns="0" rtlCol="0" anchor="ctr"/>
          <a:lstStyle/>
          <a:p>
            <a:pPr indent="0" marL="0">
              <a:lnSpc>
                <a:spcPts val="1900"/>
              </a:lnSpc>
              <a:buNone/>
            </a:pPr>
            <a:r>
              <a:rPr lang="en-US" sz="1500" b="1" dirty="0">
                <a:solidFill>
                  <a:srgbClr val="A6192E"/>
                </a:solidFill>
                <a:latin typeface="Arial" pitchFamily="34" charset="0"/>
                <a:ea typeface="Arial" pitchFamily="34" charset="-122"/>
                <a:cs typeface="Arial" pitchFamily="34" charset="-120"/>
              </a:rPr>
              <a:t>Se apuesta antes de correr la celda.</a:t>
            </a:r>
            <a:endParaRPr lang="en-US" sz="1500" dirty="0"/>
          </a:p>
        </p:txBody>
      </p:sp>
      <p:sp>
        <p:nvSpPr>
          <p:cNvPr id="10" name="Text 6"/>
          <p:cNvSpPr txBox="1"/>
          <p:nvPr/>
        </p:nvSpPr>
        <p:spPr>
          <a:xfrm>
            <a:off x="8001000" y="2240280"/>
            <a:ext cx="3291840" cy="914400"/>
          </a:xfrm>
          <a:prstGeom prst="rect">
            <a:avLst/>
          </a:prstGeom>
          <a:noFill/>
          <a:ln/>
        </p:spPr>
        <p:txBody>
          <a:bodyPr wrap="square" lIns="0" tIns="0" rIns="0" bIns="0" rtlCol="0" anchor="ctr"/>
          <a:lstStyle/>
          <a:p>
            <a:pPr indent="0" marL="0">
              <a:lnSpc>
                <a:spcPts val="1700"/>
              </a:lnSpc>
              <a:buNone/>
            </a:pPr>
            <a:r>
              <a:rPr lang="en-US" sz="1250" dirty="0">
                <a:solidFill>
                  <a:srgbClr val="1E1E1E"/>
                </a:solidFill>
                <a:latin typeface="Arial" pitchFamily="34" charset="0"/>
                <a:ea typeface="Arial" pitchFamily="34" charset="-122"/>
                <a:cs typeface="Arial" pitchFamily="34" charset="-120"/>
              </a:rPr>
              <a:t>Escribes tu número o tu opción, después ejecutas. Errar la apuesta no cuesta puntos; no apostar, sí.</a:t>
            </a:r>
            <a:endParaRPr lang="en-US" sz="1250" dirty="0"/>
          </a:p>
        </p:txBody>
      </p:sp>
      <p:sp>
        <p:nvSpPr>
          <p:cNvPr id="11" name="Shape 7"/>
          <p:cNvSpPr/>
          <p:nvPr/>
        </p:nvSpPr>
        <p:spPr>
          <a:xfrm>
            <a:off x="7772400" y="3383280"/>
            <a:ext cx="3749040" cy="1645920"/>
          </a:xfrm>
          <a:prstGeom prst="rect">
            <a:avLst/>
          </a:prstGeom>
          <a:solidFill>
            <a:srgbClr val="FBEDEF"/>
          </a:solidFill>
          <a:ln/>
        </p:spPr>
      </p:sp>
      <p:sp>
        <p:nvSpPr>
          <p:cNvPr id="12" name="Text 8"/>
          <p:cNvSpPr txBox="1"/>
          <p:nvPr/>
        </p:nvSpPr>
        <p:spPr>
          <a:xfrm>
            <a:off x="8001000" y="3520440"/>
            <a:ext cx="3291840" cy="502920"/>
          </a:xfrm>
          <a:prstGeom prst="rect">
            <a:avLst/>
          </a:prstGeom>
          <a:noFill/>
          <a:ln/>
        </p:spPr>
        <p:txBody>
          <a:bodyPr wrap="square" lIns="0" tIns="0" rIns="0" bIns="0" rtlCol="0" anchor="ctr"/>
          <a:lstStyle/>
          <a:p>
            <a:pPr indent="0" marL="0">
              <a:lnSpc>
                <a:spcPts val="1900"/>
              </a:lnSpc>
              <a:buNone/>
            </a:pPr>
            <a:r>
              <a:rPr lang="en-US" sz="1500" b="1" dirty="0">
                <a:solidFill>
                  <a:srgbClr val="A6192E"/>
                </a:solidFill>
                <a:latin typeface="Arial" pitchFamily="34" charset="0"/>
                <a:ea typeface="Arial" pitchFamily="34" charset="-122"/>
                <a:cs typeface="Arial" pitchFamily="34" charset="-120"/>
              </a:rPr>
              <a:t>Cada hallazgo es una fila de la bitácora.</a:t>
            </a:r>
            <a:endParaRPr lang="en-US" sz="1500" dirty="0"/>
          </a:p>
        </p:txBody>
      </p:sp>
      <p:sp>
        <p:nvSpPr>
          <p:cNvPr id="13" name="Text 9"/>
          <p:cNvSpPr txBox="1"/>
          <p:nvPr/>
        </p:nvSpPr>
        <p:spPr>
          <a:xfrm>
            <a:off x="8001000" y="4069080"/>
            <a:ext cx="3291840" cy="914400"/>
          </a:xfrm>
          <a:prstGeom prst="rect">
            <a:avLst/>
          </a:prstGeom>
          <a:noFill/>
          <a:ln/>
        </p:spPr>
        <p:txBody>
          <a:bodyPr wrap="square" lIns="0" tIns="0" rIns="0" bIns="0" rtlCol="0" anchor="ctr"/>
          <a:lstStyle/>
          <a:p>
            <a:pPr indent="0" marL="0">
              <a:lnSpc>
                <a:spcPts val="1700"/>
              </a:lnSpc>
              <a:buNone/>
            </a:pPr>
            <a:r>
              <a:rPr lang="en-US" sz="1250" dirty="0">
                <a:solidFill>
                  <a:srgbClr val="1E1E1E"/>
                </a:solidFill>
                <a:latin typeface="Arial" pitchFamily="34" charset="0"/>
                <a:ea typeface="Arial" pitchFamily="34" charset="-122"/>
                <a:cs typeface="Arial" pitchFamily="34" charset="-120"/>
              </a:rPr>
              <a:t>Problema, filas afectadas, evidencia, decisión, justificación. La bitácora de hoy es el Deber 2.</a:t>
            </a:r>
            <a:endParaRPr lang="en-US" sz="1250" dirty="0"/>
          </a:p>
        </p:txBody>
      </p:sp>
      <p:sp>
        <p:nvSpPr>
          <p:cNvPr id="14" name="Text 10"/>
          <p:cNvSpPr txBox="1"/>
          <p:nvPr/>
        </p:nvSpPr>
        <p:spPr>
          <a:xfrm>
            <a:off x="685800" y="5120640"/>
            <a:ext cx="6766560" cy="457200"/>
          </a:xfrm>
          <a:prstGeom prst="rect">
            <a:avLst/>
          </a:prstGeom>
          <a:noFill/>
          <a:ln/>
        </p:spPr>
        <p:txBody>
          <a:bodyPr wrap="square" lIns="0" tIns="0" rIns="0" bIns="0" rtlCol="0" anchor="ctr"/>
          <a:lstStyle/>
          <a:p>
            <a:pPr indent="0" marL="0">
              <a:buNone/>
            </a:pPr>
            <a:r>
              <a:rPr lang="en-US" sz="1300" dirty="0">
                <a:solidFill>
                  <a:srgbClr val="6B6B6B"/>
                </a:solidFill>
                <a:latin typeface="Arial" pitchFamily="34" charset="0"/>
                <a:ea typeface="Arial" pitchFamily="34" charset="-122"/>
                <a:cs typeface="Arial" pitchFamily="34" charset="-120"/>
              </a:rPr>
              <a:t>Los pasos 1 a 6 cuentan problemas. Los pasos 7 y 8 deciden qué hacer con ellos.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89611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ARRANQUE · ABRE COLAB Y CARGA LA BASE</a:t>
            </a:r>
            <a:endParaRPr lang="en-US" sz="1300" dirty="0"/>
          </a:p>
        </p:txBody>
      </p:sp>
      <p:sp>
        <p:nvSpPr>
          <p:cNvPr id="3" name="Shape 1"/>
          <p:cNvSpPr/>
          <p:nvPr/>
        </p:nvSpPr>
        <p:spPr>
          <a:xfrm>
            <a:off x="9966960" y="411480"/>
            <a:ext cx="1554480" cy="457200"/>
          </a:xfrm>
          <a:prstGeom prst="roundRect">
            <a:avLst>
              <a:gd name="adj" fmla="val 50000"/>
            </a:avLst>
          </a:prstGeom>
          <a:solidFill>
            <a:srgbClr val="FBEDEF"/>
          </a:solidFill>
          <a:ln w="12700">
            <a:solidFill>
              <a:srgbClr val="A6192E"/>
            </a:solidFill>
            <a:prstDash val="solid"/>
          </a:ln>
        </p:spPr>
      </p:sp>
      <p:sp>
        <p:nvSpPr>
          <p:cNvPr id="4" name="Text 2"/>
          <p:cNvSpPr txBox="1"/>
          <p:nvPr/>
        </p:nvSpPr>
        <p:spPr>
          <a:xfrm>
            <a:off x="9966960" y="411480"/>
            <a:ext cx="1554480" cy="457200"/>
          </a:xfrm>
          <a:prstGeom prst="rect">
            <a:avLst/>
          </a:prstGeom>
          <a:noFill/>
          <a:ln/>
        </p:spPr>
        <p:txBody>
          <a:bodyPr wrap="square" lIns="0" tIns="0" rIns="0" bIns="0" rtlCol="0" anchor="ctr"/>
          <a:lstStyle/>
          <a:p>
            <a:pPr algn="ctr" indent="0" marL="0">
              <a:buNone/>
            </a:pPr>
            <a:r>
              <a:rPr lang="en-US" sz="1200" b="1" dirty="0">
                <a:solidFill>
                  <a:srgbClr val="A6192E"/>
                </a:solidFill>
                <a:latin typeface="Arial" pitchFamily="34" charset="0"/>
                <a:ea typeface="Arial" pitchFamily="34" charset="-122"/>
                <a:cs typeface="Arial" pitchFamily="34" charset="-120"/>
              </a:rPr>
              <a:t>MIN 5–10</a:t>
            </a:r>
            <a:endParaRPr lang="en-US" sz="1200" dirty="0"/>
          </a:p>
        </p:txBody>
      </p:sp>
      <p:sp>
        <p:nvSpPr>
          <p:cNvPr id="6" name="Text 3"/>
          <p:cNvSpPr txBox="1"/>
          <p:nvPr/>
        </p:nvSpPr>
        <p:spPr>
          <a:xfrm>
            <a:off x="685800" y="868680"/>
            <a:ext cx="10789920" cy="54864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Cargar la base</a:t>
            </a:r>
            <a:endParaRPr lang="en-US" sz="2700" dirty="0"/>
          </a:p>
        </p:txBody>
      </p:sp>
      <p:sp>
        <p:nvSpPr>
          <p:cNvPr id="7" name="Text 4"/>
          <p:cNvSpPr txBox="1"/>
          <p:nvPr/>
        </p:nvSpPr>
        <p:spPr>
          <a:xfrm>
            <a:off x="685800" y="1554480"/>
            <a:ext cx="54864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CORRE ESTO</a:t>
            </a:r>
            <a:endParaRPr lang="en-US" sz="1150" dirty="0"/>
          </a:p>
        </p:txBody>
      </p:sp>
      <p:sp>
        <p:nvSpPr>
          <p:cNvPr id="8" name="Shape 5"/>
          <p:cNvSpPr/>
          <p:nvPr/>
        </p:nvSpPr>
        <p:spPr>
          <a:xfrm>
            <a:off x="685800" y="1874520"/>
            <a:ext cx="6766560" cy="2331720"/>
          </a:xfrm>
          <a:prstGeom prst="roundRect">
            <a:avLst>
              <a:gd name="adj" fmla="val 3137"/>
            </a:avLst>
          </a:prstGeom>
          <a:solidFill>
            <a:srgbClr val="F4F4F4"/>
          </a:solidFill>
          <a:ln w="9525">
            <a:solidFill>
              <a:srgbClr val="E0E0E0"/>
            </a:solidFill>
            <a:prstDash val="solid"/>
          </a:ln>
        </p:spPr>
      </p:sp>
      <p:sp>
        <p:nvSpPr>
          <p:cNvPr id="9" name="Text 6"/>
          <p:cNvSpPr txBox="1"/>
          <p:nvPr/>
        </p:nvSpPr>
        <p:spPr>
          <a:xfrm>
            <a:off x="850392" y="1984248"/>
            <a:ext cx="6437376" cy="2112264"/>
          </a:xfrm>
          <a:prstGeom prst="rect">
            <a:avLst/>
          </a:prstGeom>
          <a:noFill/>
          <a:ln/>
        </p:spPr>
        <p:txBody>
          <a:bodyPr wrap="square" lIns="0" tIns="0" rIns="0" bIns="0" rtlCol="0" anchor="t"/>
          <a:lstStyle/>
          <a:p>
            <a:pPr indent="0" marL="0">
              <a:lnSpc>
                <a:spcPts val="1523"/>
              </a:lnSpc>
              <a:buNone/>
            </a:pPr>
            <a:r>
              <a:rPr lang="en-US" sz="1050" dirty="0">
                <a:solidFill>
                  <a:srgbClr val="1E1E1E"/>
                </a:solidFill>
                <a:latin typeface="Courier New" pitchFamily="34" charset="0"/>
                <a:ea typeface="Courier New" pitchFamily="34" charset="-122"/>
                <a:cs typeface="Courier New" pitchFamily="34" charset="-120"/>
              </a:rPr>
              <a:t>import pandas as pd</a:t>
            </a:r>
            <a:endParaRPr lang="en-US" sz="1050" dirty="0"/>
          </a:p>
          <a:p>
            <a:pPr indent="0" marL="0">
              <a:lnSpc>
                <a:spcPts val="1523"/>
              </a:lnSpc>
              <a:buNone/>
            </a:pPr>
            <a:r>
              <a:rPr lang="en-US" sz="1050" dirty="0">
                <a:solidFill>
                  <a:srgbClr val="1E1E1E"/>
                </a:solidFill>
                <a:latin typeface="Courier New" pitchFamily="34" charset="0"/>
                <a:ea typeface="Courier New" pitchFamily="34" charset="-122"/>
                <a:cs typeface="Courier New" pitchFamily="34" charset="-120"/>
              </a:rPr>
              <a:t>url = "https://raw.githubusercontent.com/mayait/CursoAnalisisDatos_IA_2026/main/sesiones/S07%20-%20Granularidad%20y%20Calidad/andina_market.csv"</a:t>
            </a:r>
            <a:endParaRPr lang="en-US" sz="1050" dirty="0"/>
          </a:p>
          <a:p>
            <a:pPr indent="0" marL="0">
              <a:lnSpc>
                <a:spcPts val="1523"/>
              </a:lnSpc>
              <a:buNone/>
            </a:pPr>
            <a:r>
              <a:rPr lang="en-US" sz="1050" dirty="0">
                <a:solidFill>
                  <a:srgbClr val="1E1E1E"/>
                </a:solidFill>
                <a:latin typeface="Courier New" pitchFamily="34" charset="0"/>
                <a:ea typeface="Courier New" pitchFamily="34" charset="-122"/>
                <a:cs typeface="Courier New" pitchFamily="34" charset="-120"/>
              </a:rPr>
              <a:t>df = pd.read_csv(url)</a:t>
            </a:r>
            <a:endParaRPr lang="en-US" sz="1050" dirty="0"/>
          </a:p>
          <a:p>
            <a:pPr indent="0" marL="0">
              <a:lnSpc>
                <a:spcPts val="1523"/>
              </a:lnSpc>
              <a:buNone/>
            </a:pPr>
            <a:r>
              <a:rPr lang="en-US" sz="1050" dirty="0">
                <a:solidFill>
                  <a:srgbClr val="1E1E1E"/>
                </a:solidFill>
                <a:latin typeface="Courier New" pitchFamily="34" charset="0"/>
                <a:ea typeface="Courier New" pitchFamily="34" charset="-122"/>
                <a:cs typeface="Courier New" pitchFamily="34" charset="-120"/>
              </a:rPr>
              <a:t>df.shape            </a:t>
            </a:r>
            <a:pPr indent="0" marL="0">
              <a:lnSpc>
                <a:spcPts val="1523"/>
              </a:lnSpc>
              <a:buNone/>
            </a:pPr>
            <a:r>
              <a:rPr lang="en-US" sz="1050" i="1" dirty="0">
                <a:solidFill>
                  <a:srgbClr val="8A8A8A"/>
                </a:solidFill>
                <a:latin typeface="Courier New" pitchFamily="34" charset="0"/>
                <a:ea typeface="Courier New" pitchFamily="34" charset="-122"/>
                <a:cs typeface="Courier New" pitchFamily="34" charset="-120"/>
              </a:rPr>
              <a:t># (1335, 19)</a:t>
            </a:r>
            <a:endParaRPr lang="en-US" sz="1050" dirty="0"/>
          </a:p>
          <a:p>
            <a:pPr indent="0" marL="0">
              <a:lnSpc>
                <a:spcPts val="1523"/>
              </a:lnSpc>
              <a:buNone/>
            </a:pPr>
            <a:endParaRPr lang="en-US" sz="1050" dirty="0"/>
          </a:p>
          <a:p>
            <a:pPr indent="0" marL="0">
              <a:lnSpc>
                <a:spcPts val="1523"/>
              </a:lnSpc>
              <a:buNone/>
            </a:pPr>
            <a:r>
              <a:rPr lang="en-US" sz="1050" i="1" dirty="0">
                <a:solidFill>
                  <a:srgbClr val="8A8A8A"/>
                </a:solidFill>
                <a:latin typeface="Courier New" pitchFamily="34" charset="0"/>
                <a:ea typeface="Courier New" pitchFamily="34" charset="-122"/>
                <a:cs typeface="Courier New" pitchFamily="34" charset="-120"/>
              </a:rPr>
              <a:t># Plan B: subir el archivo desde D2L</a:t>
            </a:r>
            <a:endParaRPr lang="en-US" sz="1050" dirty="0"/>
          </a:p>
          <a:p>
            <a:pPr indent="0" marL="0">
              <a:lnSpc>
                <a:spcPts val="1523"/>
              </a:lnSpc>
              <a:buNone/>
            </a:pPr>
            <a:r>
              <a:rPr lang="en-US" sz="1050" i="1" dirty="0">
                <a:solidFill>
                  <a:srgbClr val="8A8A8A"/>
                </a:solidFill>
                <a:latin typeface="Courier New" pitchFamily="34" charset="0"/>
                <a:ea typeface="Courier New" pitchFamily="34" charset="-122"/>
                <a:cs typeface="Courier New" pitchFamily="34" charset="-120"/>
              </a:rPr>
              <a:t># from google.colab import files</a:t>
            </a:r>
            <a:endParaRPr lang="en-US" sz="1050" dirty="0"/>
          </a:p>
          <a:p>
            <a:pPr indent="0" marL="0">
              <a:lnSpc>
                <a:spcPts val="1523"/>
              </a:lnSpc>
              <a:buNone/>
            </a:pPr>
            <a:r>
              <a:rPr lang="en-US" sz="1050" i="1" dirty="0">
                <a:solidFill>
                  <a:srgbClr val="8A8A8A"/>
                </a:solidFill>
                <a:latin typeface="Courier New" pitchFamily="34" charset="0"/>
                <a:ea typeface="Courier New" pitchFamily="34" charset="-122"/>
                <a:cs typeface="Courier New" pitchFamily="34" charset="-120"/>
              </a:rPr>
              <a:t># files.upload()</a:t>
            </a:r>
            <a:endParaRPr lang="en-US" sz="1050" dirty="0"/>
          </a:p>
          <a:p>
            <a:pPr indent="0" marL="0">
              <a:lnSpc>
                <a:spcPts val="1523"/>
              </a:lnSpc>
              <a:buNone/>
            </a:pPr>
            <a:r>
              <a:rPr lang="en-US" sz="1050" i="1" dirty="0">
                <a:solidFill>
                  <a:srgbClr val="8A8A8A"/>
                </a:solidFill>
                <a:latin typeface="Courier New" pitchFamily="34" charset="0"/>
                <a:ea typeface="Courier New" pitchFamily="34" charset="-122"/>
                <a:cs typeface="Courier New" pitchFamily="34" charset="-120"/>
              </a:rPr>
              <a:t># df = pd.read_csv("andina-market.csv")</a:t>
            </a:r>
            <a:endParaRPr lang="en-US" sz="1050" dirty="0"/>
          </a:p>
        </p:txBody>
      </p:sp>
      <p:sp>
        <p:nvSpPr>
          <p:cNvPr id="10" name="Text 7"/>
          <p:cNvSpPr txBox="1"/>
          <p:nvPr/>
        </p:nvSpPr>
        <p:spPr>
          <a:xfrm>
            <a:off x="7772400" y="1554480"/>
            <a:ext cx="393192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TU BITÁCORA ARRANCA AHORA · CELDA DE TEXTO</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772400" y="1874520"/>
          <a:ext cx="3749040" cy="914400"/>
        </p:xfrm>
        <a:graphic>
          <a:graphicData uri="http://schemas.openxmlformats.org/drawingml/2006/table">
            <a:tbl>
              <a:tblPr/>
              <a:tblGrid>
                <a:gridCol w="1234440"/>
                <a:gridCol w="2514600"/>
              </a:tblGrid>
              <a:tr h="365760">
                <a:tc>
                  <a:txBody>
                    <a:bodyPr/>
                    <a:lstStyle/>
                    <a:p>
                      <a:pPr algn="l" indent="0" marL="0">
                        <a:buNone/>
                      </a:pPr>
                      <a:r>
                        <a:rPr lang="en-US" sz="1000" b="1" dirty="0">
                          <a:solidFill>
                            <a:srgbClr val="A6192E"/>
                          </a:solidFill>
                          <a:latin typeface="Arial" pitchFamily="34" charset="0"/>
                          <a:ea typeface="Arial" pitchFamily="34" charset="-122"/>
                          <a:cs typeface="Arial" pitchFamily="34" charset="-120"/>
                        </a:rPr>
                        <a:t>Columna</a:t>
                      </a:r>
                      <a:endParaRPr lang="en-US" sz="10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l" indent="0" marL="0">
                        <a:buNone/>
                      </a:pPr>
                      <a:r>
                        <a:rPr lang="en-US" sz="1000" b="1" dirty="0">
                          <a:solidFill>
                            <a:srgbClr val="A6192E"/>
                          </a:solidFill>
                          <a:latin typeface="Arial" pitchFamily="34" charset="0"/>
                          <a:ea typeface="Arial" pitchFamily="34" charset="-122"/>
                          <a:cs typeface="Arial" pitchFamily="34" charset="-120"/>
                        </a:rPr>
                        <a:t>Qué va ahí</a:t>
                      </a:r>
                      <a:endParaRPr lang="en-US" sz="10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r>
              <a:tr h="365760">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Problema</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Nombre claro</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65760">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Filas</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El número exacto, contado con código</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65760">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Evidencia</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La línea de pandas que lo demuestra</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65760">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Decisión</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Corregir · excluir · imputar · documentar</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65760">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Justificación</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Una frase de negocio, no de pandas</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bl>
          </a:graphicData>
        </a:graphic>
      </p:graphicFrame>
      <p:sp>
        <p:nvSpPr>
          <p:cNvPr id="12" name="Text 8"/>
          <p:cNvSpPr txBox="1"/>
          <p:nvPr/>
        </p:nvSpPr>
        <p:spPr>
          <a:xfrm>
            <a:off x="685800" y="4892040"/>
            <a:ext cx="6766560" cy="731520"/>
          </a:xfrm>
          <a:prstGeom prst="rect">
            <a:avLst/>
          </a:prstGeom>
          <a:noFill/>
          <a:ln/>
        </p:spPr>
        <p:txBody>
          <a:bodyPr wrap="square" lIns="0" tIns="0" rIns="0" bIns="0" rtlCol="0" anchor="ctr"/>
          <a:lstStyle/>
          <a:p>
            <a:pPr indent="0" marL="0">
              <a:lnSpc>
                <a:spcPts val="1800"/>
              </a:lnSpc>
              <a:buNone/>
            </a:pPr>
            <a:r>
              <a:rPr lang="en-US" sz="1300" dirty="0">
                <a:solidFill>
                  <a:srgbClr val="6B6B6B"/>
                </a:solidFill>
                <a:latin typeface="Arial" pitchFamily="34" charset="0"/>
                <a:ea typeface="Arial" pitchFamily="34" charset="-122"/>
                <a:cs typeface="Arial" pitchFamily="34" charset="-120"/>
              </a:rPr>
              <a:t>Andina Market: filial ecuatoriana ficticia de Superstore. 1.335 líneas de pedido, 19 columnas, septiembre 2025 a agosto 2026. Una fila es un producto dentro de un pedido.</a:t>
            </a:r>
            <a:endParaRPr lang="en-US" sz="1300" dirty="0"/>
          </a:p>
        </p:txBody>
      </p:sp>
      <p:sp>
        <p:nvSpPr>
          <p:cNvPr id="13" name="Shape 9"/>
          <p:cNvSpPr/>
          <p:nvPr/>
        </p:nvSpPr>
        <p:spPr>
          <a:xfrm>
            <a:off x="685800" y="6126480"/>
            <a:ext cx="109728" cy="457200"/>
          </a:xfrm>
          <a:prstGeom prst="rect">
            <a:avLst/>
          </a:prstGeom>
          <a:solidFill>
            <a:srgbClr val="A6192E"/>
          </a:solidFill>
          <a:ln/>
        </p:spPr>
      </p:sp>
      <p:sp>
        <p:nvSpPr>
          <p:cNvPr id="14" name="Text 10"/>
          <p:cNvSpPr txBox="1"/>
          <p:nvPr/>
        </p:nvSpPr>
        <p:spPr>
          <a:xfrm>
            <a:off x="960120" y="6126480"/>
            <a:ext cx="10515600" cy="457200"/>
          </a:xfrm>
          <a:prstGeom prst="rect">
            <a:avLst/>
          </a:prstGeom>
          <a:noFill/>
          <a:ln/>
        </p:spPr>
        <p:txBody>
          <a:bodyPr wrap="square" lIns="0" tIns="0" rIns="0" bIns="0" rtlCol="0" anchor="ctr"/>
          <a:lstStyle/>
          <a:p>
            <a:pPr indent="0" marL="0">
              <a:buNone/>
            </a:pPr>
            <a:r>
              <a:rPr lang="en-US" sz="1350" b="1" dirty="0">
                <a:solidFill>
                  <a:srgbClr val="A6192E"/>
                </a:solidFill>
                <a:latin typeface="Arial" pitchFamily="34" charset="0"/>
                <a:ea typeface="Arial" pitchFamily="34" charset="-122"/>
                <a:cs typeface="Arial" pitchFamily="34" charset="-120"/>
              </a:rPr>
              <a:t>BITÁCORA  </a:t>
            </a:r>
            <a:pPr indent="0" marL="0">
              <a:buNone/>
            </a:pPr>
            <a:r>
              <a:rPr lang="en-US" sz="1350" dirty="0">
                <a:solidFill>
                  <a:srgbClr val="1E1E1E"/>
                </a:solidFill>
                <a:latin typeface="Arial" pitchFamily="34" charset="0"/>
                <a:ea typeface="Arial" pitchFamily="34" charset="-122"/>
                <a:cs typeface="Arial" pitchFamily="34" charset="-120"/>
              </a:rPr>
              <a:t>Vacía por ahora. Al final debería tener al menos nueve filas.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89611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EL CASO · EL CORREO DE AUDITORÍA</a:t>
            </a:r>
            <a:endParaRPr lang="en-US" sz="1300" dirty="0"/>
          </a:p>
        </p:txBody>
      </p:sp>
      <p:sp>
        <p:nvSpPr>
          <p:cNvPr id="3" name="Shape 1"/>
          <p:cNvSpPr/>
          <p:nvPr/>
        </p:nvSpPr>
        <p:spPr>
          <a:xfrm>
            <a:off x="9966960" y="411480"/>
            <a:ext cx="1554480" cy="457200"/>
          </a:xfrm>
          <a:prstGeom prst="roundRect">
            <a:avLst>
              <a:gd name="adj" fmla="val 50000"/>
            </a:avLst>
          </a:prstGeom>
          <a:solidFill>
            <a:srgbClr val="FBEDEF"/>
          </a:solidFill>
          <a:ln w="12700">
            <a:solidFill>
              <a:srgbClr val="A6192E"/>
            </a:solidFill>
            <a:prstDash val="solid"/>
          </a:ln>
        </p:spPr>
      </p:sp>
      <p:sp>
        <p:nvSpPr>
          <p:cNvPr id="4" name="Text 2"/>
          <p:cNvSpPr txBox="1"/>
          <p:nvPr/>
        </p:nvSpPr>
        <p:spPr>
          <a:xfrm>
            <a:off x="9966960" y="411480"/>
            <a:ext cx="1554480" cy="457200"/>
          </a:xfrm>
          <a:prstGeom prst="rect">
            <a:avLst/>
          </a:prstGeom>
          <a:noFill/>
          <a:ln/>
        </p:spPr>
        <p:txBody>
          <a:bodyPr wrap="square" lIns="0" tIns="0" rIns="0" bIns="0" rtlCol="0" anchor="ctr"/>
          <a:lstStyle/>
          <a:p>
            <a:pPr algn="ctr" indent="0" marL="0">
              <a:buNone/>
            </a:pPr>
            <a:r>
              <a:rPr lang="en-US" sz="1200" b="1" dirty="0">
                <a:solidFill>
                  <a:srgbClr val="A6192E"/>
                </a:solidFill>
                <a:latin typeface="Arial" pitchFamily="34" charset="0"/>
                <a:ea typeface="Arial" pitchFamily="34" charset="-122"/>
                <a:cs typeface="Arial" pitchFamily="34" charset="-120"/>
              </a:rPr>
              <a:t>MIN 10–15</a:t>
            </a:r>
            <a:endParaRPr lang="en-US" sz="1200" dirty="0"/>
          </a:p>
        </p:txBody>
      </p:sp>
      <p:sp>
        <p:nvSpPr>
          <p:cNvPr id="6" name="Text 3"/>
          <p:cNvSpPr txBox="1"/>
          <p:nvPr/>
        </p:nvSpPr>
        <p:spPr>
          <a:xfrm>
            <a:off x="685800" y="868680"/>
            <a:ext cx="10789920" cy="54864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El correo de auditoría</a:t>
            </a:r>
            <a:endParaRPr lang="en-US" sz="2700" dirty="0"/>
          </a:p>
        </p:txBody>
      </p:sp>
      <p:sp>
        <p:nvSpPr>
          <p:cNvPr id="7" name="Shape 4"/>
          <p:cNvSpPr/>
          <p:nvPr/>
        </p:nvSpPr>
        <p:spPr>
          <a:xfrm>
            <a:off x="685800" y="1554480"/>
            <a:ext cx="6400800" cy="1051560"/>
          </a:xfrm>
          <a:prstGeom prst="rect">
            <a:avLst/>
          </a:prstGeom>
          <a:solidFill>
            <a:srgbClr val="FBEDEF"/>
          </a:solidFill>
          <a:ln/>
        </p:spPr>
      </p:sp>
      <p:sp>
        <p:nvSpPr>
          <p:cNvPr id="8" name="Text 5"/>
          <p:cNvSpPr txBox="1"/>
          <p:nvPr/>
        </p:nvSpPr>
        <p:spPr>
          <a:xfrm>
            <a:off x="914400" y="1627632"/>
            <a:ext cx="5943600" cy="914400"/>
          </a:xfrm>
          <a:prstGeom prst="rect">
            <a:avLst/>
          </a:prstGeom>
          <a:noFill/>
          <a:ln/>
        </p:spPr>
        <p:txBody>
          <a:bodyPr wrap="square" lIns="0" tIns="0" rIns="0" bIns="0" rtlCol="0" anchor="t"/>
          <a:lstStyle/>
          <a:p>
            <a:pPr indent="0" marL="0">
              <a:lnSpc>
                <a:spcPts val="1800"/>
              </a:lnSpc>
              <a:buNone/>
            </a:pPr>
            <a:r>
              <a:rPr lang="en-US" sz="1200" b="1" dirty="0">
                <a:solidFill>
                  <a:srgbClr val="A6192E"/>
                </a:solidFill>
                <a:latin typeface="Arial" pitchFamily="34" charset="0"/>
                <a:ea typeface="Arial" pitchFamily="34" charset="-122"/>
                <a:cs typeface="Arial" pitchFamily="34" charset="-120"/>
              </a:rPr>
              <a:t>Verónica · gerente de Andina Market
</a:t>
            </a:r>
            <a:pPr indent="0" marL="0">
              <a:lnSpc>
                <a:spcPts val="1800"/>
              </a:lnSpc>
              <a:buNone/>
            </a:pPr>
            <a:r>
              <a:rPr lang="en-US" sz="1400" dirty="0">
                <a:solidFill>
                  <a:srgbClr val="1E1E1E"/>
                </a:solidFill>
                <a:latin typeface="Arial" pitchFamily="34" charset="0"/>
                <a:ea typeface="Arial" pitchFamily="34" charset="-122"/>
                <a:cs typeface="Arial" pitchFamily="34" charset="-120"/>
              </a:rPr>
              <a:t>Auditoría revisó la base de ventas del último año y me mandó esto. Necesito una explicación antes del viernes.</a:t>
            </a:r>
            <a:endParaRPr lang="en-US" sz="1400" dirty="0"/>
          </a:p>
        </p:txBody>
      </p:sp>
      <p:sp>
        <p:nvSpPr>
          <p:cNvPr id="9" name="Shape 6"/>
          <p:cNvSpPr/>
          <p:nvPr/>
        </p:nvSpPr>
        <p:spPr>
          <a:xfrm>
            <a:off x="685800" y="2743200"/>
            <a:ext cx="6400800" cy="1188720"/>
          </a:xfrm>
          <a:prstGeom prst="rect">
            <a:avLst/>
          </a:prstGeom>
          <a:solidFill>
            <a:srgbClr val="FFFFFF"/>
          </a:solidFill>
          <a:ln w="15875">
            <a:solidFill>
              <a:srgbClr val="A6192E"/>
            </a:solidFill>
            <a:prstDash val="solid"/>
          </a:ln>
        </p:spPr>
      </p:sp>
      <p:sp>
        <p:nvSpPr>
          <p:cNvPr id="10" name="Text 7"/>
          <p:cNvSpPr txBox="1"/>
          <p:nvPr/>
        </p:nvSpPr>
        <p:spPr>
          <a:xfrm>
            <a:off x="914400" y="2816352"/>
            <a:ext cx="5943600" cy="1051560"/>
          </a:xfrm>
          <a:prstGeom prst="rect">
            <a:avLst/>
          </a:prstGeom>
          <a:noFill/>
          <a:ln/>
        </p:spPr>
        <p:txBody>
          <a:bodyPr wrap="square" lIns="0" tIns="0" rIns="0" bIns="0" rtlCol="0" anchor="t"/>
          <a:lstStyle/>
          <a:p>
            <a:pPr indent="0" marL="0">
              <a:lnSpc>
                <a:spcPts val="1800"/>
              </a:lnSpc>
              <a:buNone/>
            </a:pPr>
            <a:r>
              <a:rPr lang="en-US" sz="1200" b="1" dirty="0">
                <a:solidFill>
                  <a:srgbClr val="A6192E"/>
                </a:solidFill>
                <a:latin typeface="Arial" pitchFamily="34" charset="0"/>
                <a:ea typeface="Arial" pitchFamily="34" charset="-122"/>
                <a:cs typeface="Arial" pitchFamily="34" charset="-120"/>
              </a:rPr>
              <a:t>Auditoría interna
</a:t>
            </a:r>
            <a:pPr indent="0" marL="0">
              <a:lnSpc>
                <a:spcPts val="1800"/>
              </a:lnSpc>
              <a:buNone/>
            </a:pPr>
            <a:r>
              <a:rPr lang="en-US" sz="1400" dirty="0">
                <a:solidFill>
                  <a:srgbClr val="1E1E1E"/>
                </a:solidFill>
                <a:latin typeface="Arial" pitchFamily="34" charset="0"/>
                <a:ea typeface="Arial" pitchFamily="34" charset="-122"/>
                <a:cs typeface="Arial" pitchFamily="34" charset="-120"/>
              </a:rPr>
              <a:t>De las 1.335 líneas de venta del último año, 120 (9.0 %) no tienen identificador de cliente. Solicitamos confirmar si se trata de un error del sistema o de una práctica de registro.</a:t>
            </a:r>
            <a:endParaRPr lang="en-US" sz="1400" dirty="0"/>
          </a:p>
        </p:txBody>
      </p:sp>
      <p:sp>
        <p:nvSpPr>
          <p:cNvPr id="11" name="Text 8"/>
          <p:cNvSpPr txBox="1"/>
          <p:nvPr/>
        </p:nvSpPr>
        <p:spPr>
          <a:xfrm>
            <a:off x="685800" y="4114800"/>
            <a:ext cx="6400800" cy="731520"/>
          </a:xfrm>
          <a:prstGeom prst="rect">
            <a:avLst/>
          </a:prstGeom>
          <a:noFill/>
          <a:ln/>
        </p:spPr>
        <p:txBody>
          <a:bodyPr wrap="square" lIns="0" tIns="0" rIns="0" bIns="0" rtlCol="0" anchor="ctr"/>
          <a:lstStyle/>
          <a:p>
            <a:pPr indent="0" marL="0">
              <a:lnSpc>
                <a:spcPts val="1900"/>
              </a:lnSpc>
              <a:buNone/>
            </a:pPr>
            <a:r>
              <a:rPr lang="en-US" sz="1400" dirty="0">
                <a:solidFill>
                  <a:srgbClr val="6B6B6B"/>
                </a:solidFill>
                <a:latin typeface="Arial" pitchFamily="34" charset="0"/>
                <a:ea typeface="Arial" pitchFamily="34" charset="-122"/>
                <a:cs typeface="Arial" pitchFamily="34" charset="-120"/>
              </a:rPr>
              <a:t>Según la respuesta, esas 120 líneas se borran, se rellenan o se reportan como un hallazgo del proceso de ventas.</a:t>
            </a:r>
            <a:endParaRPr lang="en-US" sz="1400" dirty="0"/>
          </a:p>
        </p:txBody>
      </p:sp>
      <p:sp>
        <p:nvSpPr>
          <p:cNvPr id="12" name="Shape 9"/>
          <p:cNvSpPr/>
          <p:nvPr/>
        </p:nvSpPr>
        <p:spPr>
          <a:xfrm>
            <a:off x="7543800" y="1554480"/>
            <a:ext cx="3977640" cy="4206240"/>
          </a:xfrm>
          <a:prstGeom prst="rect">
            <a:avLst/>
          </a:prstGeom>
          <a:solidFill>
            <a:srgbClr val="FBEDEF"/>
          </a:solidFill>
          <a:ln/>
        </p:spPr>
      </p:sp>
      <p:sp>
        <p:nvSpPr>
          <p:cNvPr id="13" name="Text 10"/>
          <p:cNvSpPr txBox="1"/>
          <p:nvPr/>
        </p:nvSpPr>
        <p:spPr>
          <a:xfrm>
            <a:off x="7772400" y="1719072"/>
            <a:ext cx="3520440" cy="274320"/>
          </a:xfrm>
          <a:prstGeom prst="rect">
            <a:avLst/>
          </a:prstGeom>
          <a:noFill/>
          <a:ln/>
        </p:spPr>
        <p:txBody>
          <a:bodyPr wrap="square" lIns="0" tIns="0" rIns="0" bIns="0" rtlCol="0" anchor="ctr"/>
          <a:lstStyle/>
          <a:p>
            <a:pPr indent="0" marL="0">
              <a:buNone/>
            </a:pPr>
            <a:r>
              <a:rPr lang="en-US" sz="1100" b="1" spc="150" kern="0" dirty="0">
                <a:solidFill>
                  <a:srgbClr val="A6192E"/>
                </a:solidFill>
                <a:latin typeface="Arial" pitchFamily="34" charset="0"/>
                <a:ea typeface="Arial" pitchFamily="34" charset="-122"/>
                <a:cs typeface="Arial" pitchFamily="34" charset="-120"/>
              </a:rPr>
              <a:t>TU APUESTA</a:t>
            </a:r>
            <a:endParaRPr lang="en-US" sz="1100" dirty="0"/>
          </a:p>
        </p:txBody>
      </p:sp>
      <p:sp>
        <p:nvSpPr>
          <p:cNvPr id="14" name="Text 11"/>
          <p:cNvSpPr txBox="1"/>
          <p:nvPr/>
        </p:nvSpPr>
        <p:spPr>
          <a:xfrm>
            <a:off x="7772400" y="2011680"/>
            <a:ext cx="3520440" cy="3566160"/>
          </a:xfrm>
          <a:prstGeom prst="rect">
            <a:avLst/>
          </a:prstGeom>
          <a:noFill/>
          <a:ln/>
        </p:spPr>
        <p:txBody>
          <a:bodyPr wrap="square" lIns="0" tIns="0" rIns="0" bIns="0" rtlCol="0" anchor="t"/>
          <a:lstStyle/>
          <a:p>
            <a:pPr indent="0" marL="0">
              <a:lnSpc>
                <a:spcPts val="2400"/>
              </a:lnSpc>
              <a:buNone/>
            </a:pPr>
            <a:r>
              <a:rPr lang="en-US" sz="1800" b="1" dirty="0">
                <a:solidFill>
                  <a:srgbClr val="1E1E1E"/>
                </a:solidFill>
                <a:latin typeface="Arial" pitchFamily="34" charset="0"/>
                <a:ea typeface="Arial" pitchFamily="34" charset="-122"/>
                <a:cs typeface="Arial" pitchFamily="34" charset="-120"/>
              </a:rPr>
              <a:t>Sin mirar nada más: ¿qué significa que ID Cliente esté vacío en una línea de venta?</a:t>
            </a:r>
            <a:endParaRPr lang="en-US" sz="1800" dirty="0"/>
          </a:p>
        </p:txBody>
      </p:sp>
      <p:sp>
        <p:nvSpPr>
          <p:cNvPr id="15" name="Text 12"/>
          <p:cNvSpPr txBox="1"/>
          <p:nvPr/>
        </p:nvSpPr>
        <p:spPr>
          <a:xfrm>
            <a:off x="7772400" y="3017520"/>
            <a:ext cx="3566160" cy="2560320"/>
          </a:xfrm>
          <a:prstGeom prst="rect">
            <a:avLst/>
          </a:prstGeom>
          <a:noFill/>
          <a:ln/>
        </p:spPr>
        <p:txBody>
          <a:bodyPr wrap="square" lIns="0" tIns="0" rIns="0" bIns="0" rtlCol="0" anchor="t"/>
          <a:lstStyle/>
          <a:p>
            <a:pPr indent="0" marL="0">
              <a:spcAft>
                <a:spcPts val="1000"/>
              </a:spcAft>
              <a:buNone/>
            </a:pPr>
            <a:r>
              <a:rPr lang="en-US" sz="1350" dirty="0">
                <a:solidFill>
                  <a:srgbClr val="1E1E1E"/>
                </a:solidFill>
                <a:latin typeface="Arial" pitchFamily="34" charset="0"/>
                <a:ea typeface="Arial" pitchFamily="34" charset="-122"/>
                <a:cs typeface="Arial" pitchFamily="34" charset="-120"/>
              </a:rPr>
              <a:t>A · El cliente no existe: son ventas falsas.</a:t>
            </a:r>
            <a:endParaRPr lang="en-US" sz="1350" dirty="0"/>
          </a:p>
          <a:p>
            <a:pPr indent="0" marL="0">
              <a:spcAft>
                <a:spcPts val="1000"/>
              </a:spcAft>
              <a:buNone/>
            </a:pPr>
            <a:r>
              <a:rPr lang="en-US" sz="1350" dirty="0">
                <a:solidFill>
                  <a:srgbClr val="1E1E1E"/>
                </a:solidFill>
                <a:latin typeface="Arial" pitchFamily="34" charset="0"/>
                <a:ea typeface="Arial" pitchFamily="34" charset="-122"/>
                <a:cs typeface="Arial" pitchFamily="34" charset="-120"/>
              </a:rPr>
              <a:t>B · Venta de mostrador: consumidor final sin registro.</a:t>
            </a:r>
            <a:endParaRPr lang="en-US" sz="1350" dirty="0"/>
          </a:p>
          <a:p>
            <a:pPr indent="0" marL="0">
              <a:spcAft>
                <a:spcPts val="1000"/>
              </a:spcAft>
              <a:buNone/>
            </a:pPr>
            <a:r>
              <a:rPr lang="en-US" sz="1350" dirty="0">
                <a:solidFill>
                  <a:srgbClr val="1E1E1E"/>
                </a:solidFill>
                <a:latin typeface="Arial" pitchFamily="34" charset="0"/>
                <a:ea typeface="Arial" pitchFamily="34" charset="-122"/>
                <a:cs typeface="Arial" pitchFamily="34" charset="-120"/>
              </a:rPr>
              <a:t>C · Alguien olvidó digitarlo.</a:t>
            </a:r>
            <a:endParaRPr lang="en-US" sz="1350" dirty="0"/>
          </a:p>
          <a:p>
            <a:pPr indent="0" marL="0">
              <a:spcAft>
                <a:spcPts val="1000"/>
              </a:spcAft>
              <a:buNone/>
            </a:pPr>
            <a:r>
              <a:rPr lang="en-US" sz="1350" dirty="0">
                <a:solidFill>
                  <a:srgbClr val="1E1E1E"/>
                </a:solidFill>
                <a:latin typeface="Arial" pitchFamily="34" charset="0"/>
                <a:ea typeface="Arial" pitchFamily="34" charset="-122"/>
                <a:cs typeface="Arial" pitchFamily="34" charset="-120"/>
              </a:rPr>
              <a:t>D · Todavía no se puede saber: hay que preguntar cómo se captura el campo.</a:t>
            </a:r>
            <a:endParaRPr lang="en-US" sz="1350" dirty="0"/>
          </a:p>
        </p:txBody>
      </p:sp>
      <p:sp>
        <p:nvSpPr>
          <p:cNvPr id="16" name="Text 13"/>
          <p:cNvSpPr txBox="1"/>
          <p:nvPr/>
        </p:nvSpPr>
        <p:spPr>
          <a:xfrm>
            <a:off x="685800" y="6309360"/>
            <a:ext cx="10789920" cy="365760"/>
          </a:xfrm>
          <a:prstGeom prst="rect">
            <a:avLst/>
          </a:prstGeom>
          <a:noFill/>
          <a:ln/>
        </p:spPr>
        <p:txBody>
          <a:bodyPr wrap="square" lIns="0" tIns="0" rIns="0" bIns="0" rtlCol="0" anchor="ctr"/>
          <a:lstStyle/>
          <a:p>
            <a:pPr algn="ctr" indent="0" marL="0">
              <a:buNone/>
            </a:pPr>
            <a:r>
              <a:rPr lang="en-US" sz="1300" dirty="0">
                <a:solidFill>
                  <a:srgbClr val="6B6B6B"/>
                </a:solidFill>
                <a:latin typeface="Arial" pitchFamily="34" charset="0"/>
                <a:ea typeface="Arial" pitchFamily="34" charset="-122"/>
                <a:cs typeface="Arial" pitchFamily="34" charset="-120"/>
              </a:rPr>
              <a:t>Se vota a mano alzada. La respuesta sale de los datos en el paso 3.</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89611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PASO 1 · ¿QUÉ ES UNA FILA?</a:t>
            </a:r>
            <a:endParaRPr lang="en-US" sz="1300" dirty="0"/>
          </a:p>
        </p:txBody>
      </p:sp>
      <p:sp>
        <p:nvSpPr>
          <p:cNvPr id="3" name="Shape 1"/>
          <p:cNvSpPr/>
          <p:nvPr/>
        </p:nvSpPr>
        <p:spPr>
          <a:xfrm>
            <a:off x="9966960" y="411480"/>
            <a:ext cx="1554480" cy="457200"/>
          </a:xfrm>
          <a:prstGeom prst="roundRect">
            <a:avLst>
              <a:gd name="adj" fmla="val 50000"/>
            </a:avLst>
          </a:prstGeom>
          <a:solidFill>
            <a:srgbClr val="FBEDEF"/>
          </a:solidFill>
          <a:ln w="12700">
            <a:solidFill>
              <a:srgbClr val="A6192E"/>
            </a:solidFill>
            <a:prstDash val="solid"/>
          </a:ln>
        </p:spPr>
      </p:sp>
      <p:sp>
        <p:nvSpPr>
          <p:cNvPr id="4" name="Text 2"/>
          <p:cNvSpPr txBox="1"/>
          <p:nvPr/>
        </p:nvSpPr>
        <p:spPr>
          <a:xfrm>
            <a:off x="9966960" y="411480"/>
            <a:ext cx="1554480" cy="457200"/>
          </a:xfrm>
          <a:prstGeom prst="rect">
            <a:avLst/>
          </a:prstGeom>
          <a:noFill/>
          <a:ln/>
        </p:spPr>
        <p:txBody>
          <a:bodyPr wrap="square" lIns="0" tIns="0" rIns="0" bIns="0" rtlCol="0" anchor="ctr"/>
          <a:lstStyle/>
          <a:p>
            <a:pPr algn="ctr" indent="0" marL="0">
              <a:buNone/>
            </a:pPr>
            <a:r>
              <a:rPr lang="en-US" sz="1200" b="1" dirty="0">
                <a:solidFill>
                  <a:srgbClr val="A6192E"/>
                </a:solidFill>
                <a:latin typeface="Arial" pitchFamily="34" charset="0"/>
                <a:ea typeface="Arial" pitchFamily="34" charset="-122"/>
                <a:cs typeface="Arial" pitchFamily="34" charset="-120"/>
              </a:rPr>
              <a:t>MIN 15–24</a:t>
            </a:r>
            <a:endParaRPr lang="en-US" sz="1200" dirty="0"/>
          </a:p>
        </p:txBody>
      </p:sp>
      <p:sp>
        <p:nvSpPr>
          <p:cNvPr id="6" name="Text 3"/>
          <p:cNvSpPr txBox="1"/>
          <p:nvPr/>
        </p:nvSpPr>
        <p:spPr>
          <a:xfrm>
            <a:off x="685800" y="868680"/>
            <a:ext cx="10789920" cy="54864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¿Qué representa una fila?</a:t>
            </a:r>
            <a:endParaRPr lang="en-US" sz="2700" dirty="0"/>
          </a:p>
        </p:txBody>
      </p:sp>
      <p:sp>
        <p:nvSpPr>
          <p:cNvPr id="7" name="Text 4"/>
          <p:cNvSpPr txBox="1"/>
          <p:nvPr/>
        </p:nvSpPr>
        <p:spPr>
          <a:xfrm>
            <a:off x="685800" y="1554480"/>
            <a:ext cx="54864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CORRE ESTO</a:t>
            </a:r>
            <a:endParaRPr lang="en-US" sz="1150" dirty="0"/>
          </a:p>
        </p:txBody>
      </p:sp>
      <p:sp>
        <p:nvSpPr>
          <p:cNvPr id="8" name="Shape 5"/>
          <p:cNvSpPr/>
          <p:nvPr/>
        </p:nvSpPr>
        <p:spPr>
          <a:xfrm>
            <a:off x="685800" y="1874520"/>
            <a:ext cx="6766560" cy="1455420"/>
          </a:xfrm>
          <a:prstGeom prst="roundRect">
            <a:avLst>
              <a:gd name="adj" fmla="val 5026"/>
            </a:avLst>
          </a:prstGeom>
          <a:solidFill>
            <a:srgbClr val="F4F4F4"/>
          </a:solidFill>
          <a:ln w="9525">
            <a:solidFill>
              <a:srgbClr val="E0E0E0"/>
            </a:solidFill>
            <a:prstDash val="solid"/>
          </a:ln>
        </p:spPr>
      </p:sp>
      <p:sp>
        <p:nvSpPr>
          <p:cNvPr id="9" name="Text 6"/>
          <p:cNvSpPr txBox="1"/>
          <p:nvPr/>
        </p:nvSpPr>
        <p:spPr>
          <a:xfrm>
            <a:off x="850392" y="1984248"/>
            <a:ext cx="6437376" cy="1235964"/>
          </a:xfrm>
          <a:prstGeom prst="rect">
            <a:avLst/>
          </a:prstGeom>
          <a:noFill/>
          <a:ln/>
        </p:spPr>
        <p:txBody>
          <a:bodyPr wrap="square" lIns="0" tIns="0" rIns="0" bIns="0" rtlCol="0" anchor="t"/>
          <a:lstStyle/>
          <a:p>
            <a:pPr indent="0" marL="0">
              <a:lnSpc>
                <a:spcPts val="1740"/>
              </a:lnSpc>
              <a:buNone/>
            </a:pPr>
            <a:r>
              <a:rPr lang="en-US" sz="1200" dirty="0">
                <a:solidFill>
                  <a:srgbClr val="1E1E1E"/>
                </a:solidFill>
                <a:latin typeface="Courier New" pitchFamily="34" charset="0"/>
                <a:ea typeface="Courier New" pitchFamily="34" charset="-122"/>
                <a:cs typeface="Courier New" pitchFamily="34" charset="-120"/>
              </a:rPr>
              <a:t>df.head(3)                    </a:t>
            </a:r>
            <a:pPr indent="0" marL="0">
              <a:lnSpc>
                <a:spcPts val="1740"/>
              </a:lnSpc>
              <a:buNone/>
            </a:pPr>
            <a:r>
              <a:rPr lang="en-US" sz="1200" i="1" dirty="0">
                <a:solidFill>
                  <a:srgbClr val="8A8A8A"/>
                </a:solidFill>
                <a:latin typeface="Courier New" pitchFamily="34" charset="0"/>
                <a:ea typeface="Courier New" pitchFamily="34" charset="-122"/>
                <a:cs typeface="Courier New" pitchFamily="34" charset="-120"/>
              </a:rPr>
              <a:t># ¿qué representa una fila?</a:t>
            </a:r>
            <a:endParaRPr lang="en-US" sz="1200" dirty="0"/>
          </a:p>
          <a:p>
            <a:pPr indent="0" marL="0">
              <a:lnSpc>
                <a:spcPts val="1740"/>
              </a:lnSpc>
              <a:buNone/>
            </a:pPr>
            <a:r>
              <a:rPr lang="en-US" sz="1200" dirty="0">
                <a:solidFill>
                  <a:srgbClr val="1E1E1E"/>
                </a:solidFill>
                <a:latin typeface="Courier New" pitchFamily="34" charset="0"/>
                <a:ea typeface="Courier New" pitchFamily="34" charset="-122"/>
                <a:cs typeface="Courier New" pitchFamily="34" charset="-120"/>
              </a:rPr>
              <a:t>df["ID Pedido"].nunique()     </a:t>
            </a:r>
            <a:pPr indent="0" marL="0">
              <a:lnSpc>
                <a:spcPts val="1740"/>
              </a:lnSpc>
              <a:buNone/>
            </a:pPr>
            <a:r>
              <a:rPr lang="en-US" sz="1200" i="1" dirty="0">
                <a:solidFill>
                  <a:srgbClr val="8A8A8A"/>
                </a:solidFill>
                <a:latin typeface="Courier New" pitchFamily="34" charset="0"/>
                <a:ea typeface="Courier New" pitchFamily="34" charset="-122"/>
                <a:cs typeface="Courier New" pitchFamily="34" charset="-120"/>
              </a:rPr>
              <a:t># 430 pedidos en 1335 líneas</a:t>
            </a:r>
            <a:endParaRPr lang="en-US" sz="1200" dirty="0"/>
          </a:p>
          <a:p>
            <a:pPr indent="0" marL="0">
              <a:lnSpc>
                <a:spcPts val="1740"/>
              </a:lnSpc>
              <a:buNone/>
            </a:pPr>
            <a:endParaRPr lang="en-US" sz="1200" dirty="0"/>
          </a:p>
          <a:p>
            <a:pPr indent="0" marL="0">
              <a:lnSpc>
                <a:spcPts val="1740"/>
              </a:lnSpc>
              <a:buNone/>
            </a:pPr>
            <a:r>
              <a:rPr lang="en-US" sz="1200" dirty="0">
                <a:solidFill>
                  <a:srgbClr val="1E1E1E"/>
                </a:solidFill>
                <a:latin typeface="Courier New" pitchFamily="34" charset="0"/>
                <a:ea typeface="Courier New" pitchFamily="34" charset="-122"/>
                <a:cs typeface="Courier New" pitchFamily="34" charset="-120"/>
              </a:rPr>
              <a:t>cols = ["Producto", "Cantidad", "Ventas", "Total Pedido"]</a:t>
            </a:r>
            <a:endParaRPr lang="en-US" sz="1200" dirty="0"/>
          </a:p>
          <a:p>
            <a:pPr indent="0" marL="0">
              <a:lnSpc>
                <a:spcPts val="1740"/>
              </a:lnSpc>
              <a:buNone/>
            </a:pPr>
            <a:r>
              <a:rPr lang="en-US" sz="1200" dirty="0">
                <a:solidFill>
                  <a:srgbClr val="1E1E1E"/>
                </a:solidFill>
                <a:latin typeface="Courier New" pitchFamily="34" charset="0"/>
                <a:ea typeface="Courier New" pitchFamily="34" charset="-122"/>
                <a:cs typeface="Courier New" pitchFamily="34" charset="-120"/>
              </a:rPr>
              <a:t>df[df["ID Pedido"] == "AM-2026-0042"][cols]</a:t>
            </a:r>
            <a:endParaRPr lang="en-US" sz="1200" dirty="0"/>
          </a:p>
        </p:txBody>
      </p:sp>
      <p:sp>
        <p:nvSpPr>
          <p:cNvPr id="10" name="Text 7"/>
          <p:cNvSpPr txBox="1"/>
          <p:nvPr/>
        </p:nvSpPr>
        <p:spPr>
          <a:xfrm>
            <a:off x="685800" y="3520440"/>
            <a:ext cx="64008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LO QUE DEBERÍAS VER · PEDIDO AM-2026-0042</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3840480"/>
          <a:ext cx="6766560" cy="914400"/>
        </p:xfrm>
        <a:graphic>
          <a:graphicData uri="http://schemas.openxmlformats.org/drawingml/2006/table">
            <a:tbl>
              <a:tblPr/>
              <a:tblGrid>
                <a:gridCol w="2926080"/>
                <a:gridCol w="1097280"/>
                <a:gridCol w="1280160"/>
                <a:gridCol w="1463040"/>
              </a:tblGrid>
              <a:tr h="365760">
                <a:tc>
                  <a:txBody>
                    <a:bodyPr/>
                    <a:lstStyle/>
                    <a:p>
                      <a:pPr algn="l" indent="0" marL="0">
                        <a:buNone/>
                      </a:pPr>
                      <a:r>
                        <a:rPr lang="en-US" sz="1100" b="1" dirty="0">
                          <a:solidFill>
                            <a:srgbClr val="A6192E"/>
                          </a:solidFill>
                          <a:latin typeface="Arial" pitchFamily="34" charset="0"/>
                          <a:ea typeface="Arial" pitchFamily="34" charset="-122"/>
                          <a:cs typeface="Arial" pitchFamily="34" charset="-120"/>
                        </a:rPr>
                        <a:t>Producto</a:t>
                      </a:r>
                      <a:endParaRPr lang="en-US" sz="11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ctr" indent="0" marL="0">
                        <a:buNone/>
                      </a:pPr>
                      <a:r>
                        <a:rPr lang="en-US" sz="1100" b="1" dirty="0">
                          <a:solidFill>
                            <a:srgbClr val="A6192E"/>
                          </a:solidFill>
                          <a:latin typeface="Arial" pitchFamily="34" charset="0"/>
                          <a:ea typeface="Arial" pitchFamily="34" charset="-122"/>
                          <a:cs typeface="Arial" pitchFamily="34" charset="-120"/>
                        </a:rPr>
                        <a:t>Cantidad</a:t>
                      </a:r>
                      <a:endParaRPr lang="en-US" sz="11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ctr" indent="0" marL="0">
                        <a:buNone/>
                      </a:pPr>
                      <a:r>
                        <a:rPr lang="en-US" sz="1100" b="1" dirty="0">
                          <a:solidFill>
                            <a:srgbClr val="A6192E"/>
                          </a:solidFill>
                          <a:latin typeface="Arial" pitchFamily="34" charset="0"/>
                          <a:ea typeface="Arial" pitchFamily="34" charset="-122"/>
                          <a:cs typeface="Arial" pitchFamily="34" charset="-120"/>
                        </a:rPr>
                        <a:t>Ventas</a:t>
                      </a:r>
                      <a:endParaRPr lang="en-US" sz="11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ctr" indent="0" marL="0">
                        <a:buNone/>
                      </a:pPr>
                      <a:r>
                        <a:rPr lang="en-US" sz="1100" b="1" dirty="0">
                          <a:solidFill>
                            <a:srgbClr val="A6192E"/>
                          </a:solidFill>
                          <a:latin typeface="Arial" pitchFamily="34" charset="0"/>
                          <a:ea typeface="Arial" pitchFamily="34" charset="-122"/>
                          <a:cs typeface="Arial" pitchFamily="34" charset="-120"/>
                        </a:rPr>
                        <a:t>Total Pedido</a:t>
                      </a:r>
                      <a:endParaRPr lang="en-US" sz="11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r>
              <a:tr h="365760">
                <a:tc>
                  <a:txBody>
                    <a:bodyPr/>
                    <a:lstStyle/>
                    <a:p>
                      <a:pPr algn="l" indent="0" marL="0">
                        <a:buNone/>
                      </a:pPr>
                      <a:r>
                        <a:rPr lang="en-US" sz="1250" dirty="0">
                          <a:solidFill>
                            <a:srgbClr val="1E1E1E"/>
                          </a:solidFill>
                          <a:latin typeface="Arial" pitchFamily="34" charset="0"/>
                          <a:ea typeface="Arial" pitchFamily="34" charset="-122"/>
                          <a:cs typeface="Arial" pitchFamily="34" charset="-120"/>
                        </a:rPr>
                        <a:t>Resma papel A4 75g</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E1E"/>
                          </a:solidFill>
                          <a:latin typeface="Arial" pitchFamily="34" charset="0"/>
                          <a:ea typeface="Arial" pitchFamily="34" charset="-122"/>
                          <a:cs typeface="Arial" pitchFamily="34" charset="-120"/>
                        </a:rPr>
                        <a:t>2</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E1E"/>
                          </a:solidFill>
                          <a:latin typeface="Arial" pitchFamily="34" charset="0"/>
                          <a:ea typeface="Arial" pitchFamily="34" charset="-122"/>
                          <a:cs typeface="Arial" pitchFamily="34" charset="-120"/>
                        </a:rPr>
                        <a:t>74.90</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E1E"/>
                          </a:solidFill>
                          <a:latin typeface="Arial" pitchFamily="34" charset="0"/>
                          <a:ea typeface="Arial" pitchFamily="34" charset="-122"/>
                          <a:cs typeface="Arial" pitchFamily="34" charset="-120"/>
                        </a:rPr>
                        <a:t>187.40</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E1E1E"/>
                          </a:solidFill>
                          <a:latin typeface="Arial" pitchFamily="34" charset="0"/>
                          <a:ea typeface="Arial" pitchFamily="34" charset="-122"/>
                          <a:cs typeface="Arial" pitchFamily="34" charset="-120"/>
                        </a:rPr>
                        <a:t>Mouse Logitech M170</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E1E"/>
                          </a:solidFill>
                          <a:latin typeface="Arial" pitchFamily="34" charset="0"/>
                          <a:ea typeface="Arial" pitchFamily="34" charset="-122"/>
                          <a:cs typeface="Arial" pitchFamily="34" charset="-120"/>
                        </a:rPr>
                        <a:t>2</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E1E"/>
                          </a:solidFill>
                          <a:latin typeface="Arial" pitchFamily="34" charset="0"/>
                          <a:ea typeface="Arial" pitchFamily="34" charset="-122"/>
                          <a:cs typeface="Arial" pitchFamily="34" charset="-120"/>
                        </a:rPr>
                        <a:t>41.20</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E1E"/>
                          </a:solidFill>
                          <a:latin typeface="Arial" pitchFamily="34" charset="0"/>
                          <a:ea typeface="Arial" pitchFamily="34" charset="-122"/>
                          <a:cs typeface="Arial" pitchFamily="34" charset="-120"/>
                        </a:rPr>
                        <a:t>187.40</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E1E1E"/>
                          </a:solidFill>
                          <a:latin typeface="Arial" pitchFamily="34" charset="0"/>
                          <a:ea typeface="Arial" pitchFamily="34" charset="-122"/>
                          <a:cs typeface="Arial" pitchFamily="34" charset="-120"/>
                        </a:rPr>
                        <a:t>Cinta adhesiva Scotch x6</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E1E"/>
                          </a:solidFill>
                          <a:latin typeface="Arial" pitchFamily="34" charset="0"/>
                          <a:ea typeface="Arial" pitchFamily="34" charset="-122"/>
                          <a:cs typeface="Arial" pitchFamily="34" charset="-120"/>
                        </a:rPr>
                        <a:t>1</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E1E"/>
                          </a:solidFill>
                          <a:latin typeface="Arial" pitchFamily="34" charset="0"/>
                          <a:ea typeface="Arial" pitchFamily="34" charset="-122"/>
                          <a:cs typeface="Arial" pitchFamily="34" charset="-120"/>
                        </a:rPr>
                        <a:t>19.00</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E1E"/>
                          </a:solidFill>
                          <a:latin typeface="Arial" pitchFamily="34" charset="0"/>
                          <a:ea typeface="Arial" pitchFamily="34" charset="-122"/>
                          <a:cs typeface="Arial" pitchFamily="34" charset="-120"/>
                        </a:rPr>
                        <a:t>187.40</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E1E1E"/>
                          </a:solidFill>
                          <a:latin typeface="Arial" pitchFamily="34" charset="0"/>
                          <a:ea typeface="Arial" pitchFamily="34" charset="-122"/>
                          <a:cs typeface="Arial" pitchFamily="34" charset="-120"/>
                        </a:rPr>
                        <a:t>Cuaderno universitario Norma</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E1E"/>
                          </a:solidFill>
                          <a:latin typeface="Arial" pitchFamily="34" charset="0"/>
                          <a:ea typeface="Arial" pitchFamily="34" charset="-122"/>
                          <a:cs typeface="Arial" pitchFamily="34" charset="-120"/>
                        </a:rPr>
                        <a:t>3</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E1E"/>
                          </a:solidFill>
                          <a:latin typeface="Arial" pitchFamily="34" charset="0"/>
                          <a:ea typeface="Arial" pitchFamily="34" charset="-122"/>
                          <a:cs typeface="Arial" pitchFamily="34" charset="-120"/>
                        </a:rPr>
                        <a:t>52.30</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E1E"/>
                          </a:solidFill>
                          <a:latin typeface="Arial" pitchFamily="34" charset="0"/>
                          <a:ea typeface="Arial" pitchFamily="34" charset="-122"/>
                          <a:cs typeface="Arial" pitchFamily="34" charset="-120"/>
                        </a:rPr>
                        <a:t>187.40</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bl>
          </a:graphicData>
        </a:graphic>
      </p:graphicFrame>
      <p:sp>
        <p:nvSpPr>
          <p:cNvPr id="12" name="Shape 8"/>
          <p:cNvSpPr/>
          <p:nvPr/>
        </p:nvSpPr>
        <p:spPr>
          <a:xfrm>
            <a:off x="7772400" y="1554480"/>
            <a:ext cx="3749040" cy="2103120"/>
          </a:xfrm>
          <a:prstGeom prst="rect">
            <a:avLst/>
          </a:prstGeom>
          <a:solidFill>
            <a:srgbClr val="FBEDEF"/>
          </a:solidFill>
          <a:ln/>
        </p:spPr>
      </p:sp>
      <p:sp>
        <p:nvSpPr>
          <p:cNvPr id="13" name="Text 9"/>
          <p:cNvSpPr txBox="1"/>
          <p:nvPr/>
        </p:nvSpPr>
        <p:spPr>
          <a:xfrm>
            <a:off x="8001000" y="1719072"/>
            <a:ext cx="3291840" cy="274320"/>
          </a:xfrm>
          <a:prstGeom prst="rect">
            <a:avLst/>
          </a:prstGeom>
          <a:noFill/>
          <a:ln/>
        </p:spPr>
        <p:txBody>
          <a:bodyPr wrap="square" lIns="0" tIns="0" rIns="0" bIns="0" rtlCol="0" anchor="ctr"/>
          <a:lstStyle/>
          <a:p>
            <a:pPr indent="0" marL="0">
              <a:buNone/>
            </a:pPr>
            <a:r>
              <a:rPr lang="en-US" sz="1100" b="1" spc="150" kern="0" dirty="0">
                <a:solidFill>
                  <a:srgbClr val="A6192E"/>
                </a:solidFill>
                <a:latin typeface="Arial" pitchFamily="34" charset="0"/>
                <a:ea typeface="Arial" pitchFamily="34" charset="-122"/>
                <a:cs typeface="Arial" pitchFamily="34" charset="-120"/>
              </a:rPr>
              <a:t>TU APUESTA</a:t>
            </a:r>
            <a:endParaRPr lang="en-US" sz="1100" dirty="0"/>
          </a:p>
        </p:txBody>
      </p:sp>
      <p:sp>
        <p:nvSpPr>
          <p:cNvPr id="14" name="Text 10"/>
          <p:cNvSpPr txBox="1"/>
          <p:nvPr/>
        </p:nvSpPr>
        <p:spPr>
          <a:xfrm>
            <a:off x="8001000" y="2011680"/>
            <a:ext cx="3291840" cy="1051560"/>
          </a:xfrm>
          <a:prstGeom prst="rect">
            <a:avLst/>
          </a:prstGeom>
          <a:noFill/>
          <a:ln/>
        </p:spPr>
        <p:txBody>
          <a:bodyPr wrap="square" lIns="0" tIns="0" rIns="0" bIns="0" rtlCol="0" anchor="t"/>
          <a:lstStyle/>
          <a:p>
            <a:pPr indent="0" marL="0">
              <a:lnSpc>
                <a:spcPts val="2400"/>
              </a:lnSpc>
              <a:buNone/>
            </a:pPr>
            <a:r>
              <a:rPr lang="en-US" sz="1800" b="1" dirty="0">
                <a:solidFill>
                  <a:srgbClr val="1E1E1E"/>
                </a:solidFill>
                <a:latin typeface="Arial" pitchFamily="34" charset="0"/>
                <a:ea typeface="Arial" pitchFamily="34" charset="-122"/>
                <a:cs typeface="Arial" pitchFamily="34" charset="-120"/>
              </a:rPr>
              <a:t>¿De cuántos dólares fue el pedido AM-2026-0042?</a:t>
            </a:r>
            <a:endParaRPr lang="en-US" sz="1800" dirty="0"/>
          </a:p>
        </p:txBody>
      </p:sp>
      <p:sp>
        <p:nvSpPr>
          <p:cNvPr id="15" name="Text 11"/>
          <p:cNvSpPr txBox="1"/>
          <p:nvPr/>
        </p:nvSpPr>
        <p:spPr>
          <a:xfrm>
            <a:off x="8001000" y="3063240"/>
            <a:ext cx="3291840" cy="457200"/>
          </a:xfrm>
          <a:prstGeom prst="rect">
            <a:avLst/>
          </a:prstGeom>
          <a:noFill/>
          <a:ln/>
        </p:spPr>
        <p:txBody>
          <a:bodyPr wrap="square" lIns="0" tIns="0" rIns="0" bIns="0" rtlCol="0" anchor="b"/>
          <a:lstStyle/>
          <a:p>
            <a:pPr indent="0" marL="0">
              <a:buNone/>
            </a:pPr>
            <a:r>
              <a:rPr lang="en-US" sz="1250" dirty="0">
                <a:solidFill>
                  <a:srgbClr val="6B6B6B"/>
                </a:solidFill>
                <a:latin typeface="Arial" pitchFamily="34" charset="0"/>
                <a:ea typeface="Arial" pitchFamily="34" charset="-122"/>
                <a:cs typeface="Arial" pitchFamily="34" charset="-120"/>
              </a:rPr>
              <a:t>Escribe solo el número en tu cuaderno.</a:t>
            </a:r>
            <a:endParaRPr lang="en-US" sz="1250" dirty="0"/>
          </a:p>
        </p:txBody>
      </p:sp>
      <p:sp>
        <p:nvSpPr>
          <p:cNvPr id="16" name="Text 12"/>
          <p:cNvSpPr txBox="1"/>
          <p:nvPr/>
        </p:nvSpPr>
        <p:spPr>
          <a:xfrm>
            <a:off x="7772400" y="3840480"/>
            <a:ext cx="3749040" cy="822960"/>
          </a:xfrm>
          <a:prstGeom prst="rect">
            <a:avLst/>
          </a:prstGeom>
          <a:noFill/>
          <a:ln/>
        </p:spPr>
        <p:txBody>
          <a:bodyPr wrap="square" lIns="0" tIns="0" rIns="0" bIns="0" rtlCol="0" anchor="ctr"/>
          <a:lstStyle/>
          <a:p>
            <a:pPr indent="0" marL="0">
              <a:lnSpc>
                <a:spcPts val="1900"/>
              </a:lnSpc>
              <a:buNone/>
            </a:pPr>
            <a:r>
              <a:rPr lang="en-US" sz="1350" dirty="0">
                <a:solidFill>
                  <a:srgbClr val="6B6B6B"/>
                </a:solidFill>
                <a:latin typeface="Arial" pitchFamily="34" charset="0"/>
                <a:ea typeface="Arial" pitchFamily="34" charset="-122"/>
                <a:cs typeface="Arial" pitchFamily="34" charset="-120"/>
              </a:rPr>
              <a:t>Hay dos columnas con dólares y no dicen lo mismo.</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89611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PASO 1 · LA COLUMNA QUE VIVE EN OTRA GRANULARIDAD</a:t>
            </a:r>
            <a:endParaRPr lang="en-US" sz="1300" dirty="0"/>
          </a:p>
        </p:txBody>
      </p:sp>
      <p:sp>
        <p:nvSpPr>
          <p:cNvPr id="4" name="Text 1"/>
          <p:cNvSpPr txBox="1"/>
          <p:nvPr/>
        </p:nvSpPr>
        <p:spPr>
          <a:xfrm>
            <a:off x="685800" y="914400"/>
            <a:ext cx="3291840" cy="822960"/>
          </a:xfrm>
          <a:prstGeom prst="rect">
            <a:avLst/>
          </a:prstGeom>
          <a:noFill/>
          <a:ln/>
        </p:spPr>
        <p:txBody>
          <a:bodyPr wrap="square" lIns="0" tIns="0" rIns="0" bIns="0" rtlCol="0" anchor="ctr"/>
          <a:lstStyle/>
          <a:p>
            <a:pPr indent="0" marL="0">
              <a:buNone/>
            </a:pPr>
            <a:r>
              <a:rPr lang="en-US" sz="4800" b="1" dirty="0">
                <a:solidFill>
                  <a:srgbClr val="A6192E"/>
                </a:solidFill>
                <a:latin typeface="Arial" pitchFamily="34" charset="0"/>
                <a:ea typeface="Arial" pitchFamily="34" charset="-122"/>
                <a:cs typeface="Arial" pitchFamily="34" charset="-120"/>
              </a:rPr>
              <a:t>$187.40</a:t>
            </a:r>
            <a:endParaRPr lang="en-US" sz="4800" dirty="0"/>
          </a:p>
        </p:txBody>
      </p:sp>
      <p:sp>
        <p:nvSpPr>
          <p:cNvPr id="5" name="Text 2"/>
          <p:cNvSpPr txBox="1"/>
          <p:nvPr/>
        </p:nvSpPr>
        <p:spPr>
          <a:xfrm>
            <a:off x="685800" y="1737360"/>
            <a:ext cx="3291840" cy="457200"/>
          </a:xfrm>
          <a:prstGeom prst="rect">
            <a:avLst/>
          </a:prstGeom>
          <a:noFill/>
          <a:ln/>
        </p:spPr>
        <p:txBody>
          <a:bodyPr wrap="square" lIns="0" tIns="0" rIns="0" bIns="0" rtlCol="0" anchor="ctr"/>
          <a:lstStyle/>
          <a:p>
            <a:pPr indent="0" marL="0">
              <a:buNone/>
            </a:pPr>
            <a:r>
              <a:rPr lang="en-US" sz="1300" dirty="0">
                <a:solidFill>
                  <a:srgbClr val="6B6B6B"/>
                </a:solidFill>
                <a:latin typeface="Arial" pitchFamily="34" charset="0"/>
                <a:ea typeface="Arial" pitchFamily="34" charset="-122"/>
                <a:cs typeface="Arial" pitchFamily="34" charset="-120"/>
              </a:rPr>
              <a:t>la suma de Ventas: lo que valió el pedido</a:t>
            </a:r>
            <a:endParaRPr lang="en-US" sz="1300" dirty="0"/>
          </a:p>
        </p:txBody>
      </p:sp>
      <p:sp>
        <p:nvSpPr>
          <p:cNvPr id="6" name="Text 3"/>
          <p:cNvSpPr txBox="1"/>
          <p:nvPr/>
        </p:nvSpPr>
        <p:spPr>
          <a:xfrm>
            <a:off x="4206240" y="914400"/>
            <a:ext cx="3291840" cy="822960"/>
          </a:xfrm>
          <a:prstGeom prst="rect">
            <a:avLst/>
          </a:prstGeom>
          <a:noFill/>
          <a:ln/>
        </p:spPr>
        <p:txBody>
          <a:bodyPr wrap="square" lIns="0" tIns="0" rIns="0" bIns="0" rtlCol="0" anchor="ctr"/>
          <a:lstStyle/>
          <a:p>
            <a:pPr indent="0" marL="0">
              <a:buNone/>
            </a:pPr>
            <a:r>
              <a:rPr lang="en-US" sz="4800" b="1" dirty="0">
                <a:solidFill>
                  <a:srgbClr val="1E1E1E"/>
                </a:solidFill>
                <a:latin typeface="Arial" pitchFamily="34" charset="0"/>
                <a:ea typeface="Arial" pitchFamily="34" charset="-122"/>
                <a:cs typeface="Arial" pitchFamily="34" charset="-120"/>
              </a:rPr>
              <a:t>$749.60</a:t>
            </a:r>
            <a:endParaRPr lang="en-US" sz="4800" dirty="0"/>
          </a:p>
        </p:txBody>
      </p:sp>
      <p:sp>
        <p:nvSpPr>
          <p:cNvPr id="7" name="Text 4"/>
          <p:cNvSpPr txBox="1"/>
          <p:nvPr/>
        </p:nvSpPr>
        <p:spPr>
          <a:xfrm>
            <a:off x="4206240" y="1737360"/>
            <a:ext cx="3474720" cy="457200"/>
          </a:xfrm>
          <a:prstGeom prst="rect">
            <a:avLst/>
          </a:prstGeom>
          <a:noFill/>
          <a:ln/>
        </p:spPr>
        <p:txBody>
          <a:bodyPr wrap="square" lIns="0" tIns="0" rIns="0" bIns="0" rtlCol="0" anchor="ctr"/>
          <a:lstStyle/>
          <a:p>
            <a:pPr indent="0" marL="0">
              <a:buNone/>
            </a:pPr>
            <a:r>
              <a:rPr lang="en-US" sz="1300" dirty="0">
                <a:solidFill>
                  <a:srgbClr val="6B6B6B"/>
                </a:solidFill>
                <a:latin typeface="Arial" pitchFamily="34" charset="0"/>
                <a:ea typeface="Arial" pitchFamily="34" charset="-122"/>
                <a:cs typeface="Arial" pitchFamily="34" charset="-120"/>
              </a:rPr>
              <a:t>la suma de Total Pedido: el total repetido cuatro veces</a:t>
            </a:r>
            <a:endParaRPr lang="en-US" sz="1300" dirty="0"/>
          </a:p>
        </p:txBody>
      </p:sp>
      <p:sp>
        <p:nvSpPr>
          <p:cNvPr id="8" name="Shape 5"/>
          <p:cNvSpPr/>
          <p:nvPr/>
        </p:nvSpPr>
        <p:spPr>
          <a:xfrm>
            <a:off x="7772400" y="960120"/>
            <a:ext cx="3749040" cy="1101090"/>
          </a:xfrm>
          <a:prstGeom prst="roundRect">
            <a:avLst>
              <a:gd name="adj" fmla="val 6644"/>
            </a:avLst>
          </a:prstGeom>
          <a:solidFill>
            <a:srgbClr val="F4F4F4"/>
          </a:solidFill>
          <a:ln w="9525">
            <a:solidFill>
              <a:srgbClr val="E0E0E0"/>
            </a:solidFill>
            <a:prstDash val="solid"/>
          </a:ln>
        </p:spPr>
      </p:sp>
      <p:sp>
        <p:nvSpPr>
          <p:cNvPr id="9" name="Text 6"/>
          <p:cNvSpPr txBox="1"/>
          <p:nvPr/>
        </p:nvSpPr>
        <p:spPr>
          <a:xfrm>
            <a:off x="7936992" y="1069848"/>
            <a:ext cx="3419856" cy="881634"/>
          </a:xfrm>
          <a:prstGeom prst="rect">
            <a:avLst/>
          </a:prstGeom>
          <a:noFill/>
          <a:ln/>
        </p:spPr>
        <p:txBody>
          <a:bodyPr wrap="square" lIns="0" tIns="0" rIns="0" bIns="0" rtlCol="0" anchor="t"/>
          <a:lstStyle/>
          <a:p>
            <a:pPr indent="0" marL="0">
              <a:lnSpc>
                <a:spcPts val="1523"/>
              </a:lnSpc>
              <a:buNone/>
            </a:pPr>
            <a:r>
              <a:rPr lang="en-US" sz="1050" dirty="0">
                <a:solidFill>
                  <a:srgbClr val="1E1E1E"/>
                </a:solidFill>
                <a:latin typeface="Courier New" pitchFamily="34" charset="0"/>
                <a:ea typeface="Courier New" pitchFamily="34" charset="-122"/>
                <a:cs typeface="Courier New" pitchFamily="34" charset="-120"/>
              </a:rPr>
              <a:t>df["Total Pedido"].sum()</a:t>
            </a:r>
            <a:endParaRPr lang="en-US" sz="1050" dirty="0"/>
          </a:p>
          <a:p>
            <a:pPr indent="0" marL="0">
              <a:lnSpc>
                <a:spcPts val="1523"/>
              </a:lnSpc>
              <a:buNone/>
            </a:pPr>
            <a:r>
              <a:rPr lang="en-US" sz="1050" i="1" dirty="0">
                <a:solidFill>
                  <a:srgbClr val="8A8A8A"/>
                </a:solidFill>
                <a:latin typeface="Courier New" pitchFamily="34" charset="0"/>
                <a:ea typeface="Courier New" pitchFamily="34" charset="-122"/>
                <a:cs typeface="Courier New" pitchFamily="34" charset="-120"/>
              </a:rPr>
              <a:t># 704,623  ← la venta inflada 3.8x</a:t>
            </a:r>
            <a:endParaRPr lang="en-US" sz="1050" dirty="0"/>
          </a:p>
          <a:p>
            <a:pPr indent="0" marL="0">
              <a:lnSpc>
                <a:spcPts val="1523"/>
              </a:lnSpc>
              <a:buNone/>
            </a:pPr>
            <a:r>
              <a:rPr lang="en-US" sz="1050" dirty="0">
                <a:solidFill>
                  <a:srgbClr val="1E1E1E"/>
                </a:solidFill>
                <a:latin typeface="Courier New" pitchFamily="34" charset="0"/>
                <a:ea typeface="Courier New" pitchFamily="34" charset="-122"/>
                <a:cs typeface="Courier New" pitchFamily="34" charset="-120"/>
              </a:rPr>
              <a:t>df["Ventas"].sum()</a:t>
            </a:r>
            <a:endParaRPr lang="en-US" sz="1050" dirty="0"/>
          </a:p>
          <a:p>
            <a:pPr indent="0" marL="0">
              <a:lnSpc>
                <a:spcPts val="1523"/>
              </a:lnSpc>
              <a:buNone/>
            </a:pPr>
            <a:r>
              <a:rPr lang="en-US" sz="1050" i="1" dirty="0">
                <a:solidFill>
                  <a:srgbClr val="8A8A8A"/>
                </a:solidFill>
                <a:latin typeface="Courier New" pitchFamily="34" charset="0"/>
                <a:ea typeface="Courier New" pitchFamily="34" charset="-122"/>
                <a:cs typeface="Courier New" pitchFamily="34" charset="-120"/>
              </a:rPr>
              <a:t># falla: hay texto (paso 2)</a:t>
            </a:r>
            <a:endParaRPr lang="en-US" sz="1050" dirty="0"/>
          </a:p>
        </p:txBody>
      </p:sp>
      <p:pic>
        <p:nvPicPr>
          <p:cNvPr id="10" name="Image 0" descr="img_deck/fig2_doble_conteo.png">    </p:cNvPr>
          <p:cNvPicPr>
            <a:picLocks noChangeAspect="1"/>
          </p:cNvPicPr>
          <p:nvPr/>
        </p:nvPicPr>
        <p:blipFill>
          <a:blip r:embed="rId1"/>
          <a:stretch>
            <a:fillRect/>
          </a:stretch>
        </p:blipFill>
        <p:spPr>
          <a:xfrm>
            <a:off x="685800" y="2331720"/>
            <a:ext cx="5486400" cy="3265714"/>
          </a:xfrm>
          <a:prstGeom prst="rect">
            <a:avLst/>
          </a:prstGeom>
        </p:spPr>
      </p:pic>
      <p:sp>
        <p:nvSpPr>
          <p:cNvPr id="11" name="Text 7"/>
          <p:cNvSpPr txBox="1"/>
          <p:nvPr/>
        </p:nvSpPr>
        <p:spPr>
          <a:xfrm>
            <a:off x="6858000" y="2377440"/>
            <a:ext cx="45720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TRES NIVELES SOBRE LA MISMA TABLA</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58000" y="2697480"/>
          <a:ext cx="4663440" cy="914400"/>
        </p:xfrm>
        <a:graphic>
          <a:graphicData uri="http://schemas.openxmlformats.org/drawingml/2006/table">
            <a:tbl>
              <a:tblPr/>
              <a:tblGrid>
                <a:gridCol w="914400"/>
                <a:gridCol w="2103120"/>
                <a:gridCol w="1645920"/>
              </a:tblGrid>
              <a:tr h="365760">
                <a:tc>
                  <a:txBody>
                    <a:bodyPr/>
                    <a:lstStyle/>
                    <a:p>
                      <a:pPr algn="l" indent="0" marL="0">
                        <a:buNone/>
                      </a:pPr>
                      <a:r>
                        <a:rPr lang="en-US" sz="1000" b="1" dirty="0">
                          <a:solidFill>
                            <a:srgbClr val="A6192E"/>
                          </a:solidFill>
                          <a:latin typeface="Arial" pitchFamily="34" charset="0"/>
                          <a:ea typeface="Arial" pitchFamily="34" charset="-122"/>
                          <a:cs typeface="Arial" pitchFamily="34" charset="-120"/>
                        </a:rPr>
                        <a:t>Nivel</a:t>
                      </a:r>
                      <a:endParaRPr lang="en-US" sz="10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l" indent="0" marL="0">
                        <a:buNone/>
                      </a:pPr>
                      <a:r>
                        <a:rPr lang="en-US" sz="1000" b="1" dirty="0">
                          <a:solidFill>
                            <a:srgbClr val="A6192E"/>
                          </a:solidFill>
                          <a:latin typeface="Arial" pitchFamily="34" charset="0"/>
                          <a:ea typeface="Arial" pitchFamily="34" charset="-122"/>
                          <a:cs typeface="Arial" pitchFamily="34" charset="-120"/>
                        </a:rPr>
                        <a:t>Pregunta típica</a:t>
                      </a:r>
                      <a:endParaRPr lang="en-US" sz="10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l" indent="0" marL="0">
                        <a:buNone/>
                      </a:pPr>
                      <a:r>
                        <a:rPr lang="en-US" sz="1000" b="1" dirty="0">
                          <a:solidFill>
                            <a:srgbClr val="A6192E"/>
                          </a:solidFill>
                          <a:latin typeface="Arial" pitchFamily="34" charset="0"/>
                          <a:ea typeface="Arial" pitchFamily="34" charset="-122"/>
                          <a:cs typeface="Arial" pitchFamily="34" charset="-120"/>
                        </a:rPr>
                        <a:t>Cómo se llega</a:t>
                      </a:r>
                      <a:endParaRPr lang="en-US" sz="10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r>
              <a:tr h="365760">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Línea</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¿Qué producto se vendió más?</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Courier New" pitchFamily="34" charset="0"/>
                          <a:ea typeface="Courier New" pitchFamily="34" charset="-122"/>
                          <a:cs typeface="Courier New" pitchFamily="34" charset="-120"/>
                        </a:rPr>
                        <a:t>la tabla tal cual</a:t>
                      </a:r>
                      <a:endParaRPr lang="en-US" sz="11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65760">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Pedido</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¿Cuánto vale el pedido típico?</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Courier New" pitchFamily="34" charset="0"/>
                          <a:ea typeface="Courier New" pitchFamily="34" charset="-122"/>
                          <a:cs typeface="Courier New" pitchFamily="34" charset="-120"/>
                        </a:rPr>
                        <a:t>groupby("ID Pedido")</a:t>
                      </a:r>
                      <a:endParaRPr lang="en-US" sz="11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65760">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Cliente</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¿Cuánto gasta un cliente al año?</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Courier New" pitchFamily="34" charset="0"/>
                          <a:ea typeface="Courier New" pitchFamily="34" charset="-122"/>
                          <a:cs typeface="Courier New" pitchFamily="34" charset="-120"/>
                        </a:rPr>
                        <a:t>groupby("ID Cliente")</a:t>
                      </a:r>
                      <a:endParaRPr lang="en-US" sz="11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bl>
          </a:graphicData>
        </a:graphic>
      </p:graphicFrame>
      <p:sp>
        <p:nvSpPr>
          <p:cNvPr id="13" name="Text 8"/>
          <p:cNvSpPr txBox="1"/>
          <p:nvPr/>
        </p:nvSpPr>
        <p:spPr>
          <a:xfrm>
            <a:off x="6858000" y="4343400"/>
            <a:ext cx="4663440" cy="1188720"/>
          </a:xfrm>
          <a:prstGeom prst="rect">
            <a:avLst/>
          </a:prstGeom>
          <a:noFill/>
          <a:ln/>
        </p:spPr>
        <p:txBody>
          <a:bodyPr wrap="square" lIns="0" tIns="0" rIns="0" bIns="0" rtlCol="0" anchor="ctr"/>
          <a:lstStyle/>
          <a:p>
            <a:pPr indent="0" marL="0">
              <a:lnSpc>
                <a:spcPts val="1700"/>
              </a:lnSpc>
              <a:buNone/>
            </a:pPr>
            <a:r>
              <a:rPr lang="en-US" sz="1250" dirty="0">
                <a:solidFill>
                  <a:srgbClr val="1E1E1E"/>
                </a:solidFill>
                <a:latin typeface="Arial" pitchFamily="34" charset="0"/>
                <a:ea typeface="Arial" pitchFamily="34" charset="-122"/>
                <a:cs typeface="Arial" pitchFamily="34" charset="-120"/>
              </a:rPr>
              <a:t>Dos preguntas de rigor ante una tabla nueva: ¿qué es una fila? y ¿qué columnas pertenecen a otra granularidad? Las repetidas no se suman: se usan con drop_duplicates("ID Pedido") o se recalculan.</a:t>
            </a:r>
            <a:endParaRPr lang="en-US" sz="1250" dirty="0"/>
          </a:p>
        </p:txBody>
      </p:sp>
      <p:sp>
        <p:nvSpPr>
          <p:cNvPr id="14" name="Shape 9"/>
          <p:cNvSpPr/>
          <p:nvPr/>
        </p:nvSpPr>
        <p:spPr>
          <a:xfrm>
            <a:off x="685800" y="6126480"/>
            <a:ext cx="109728" cy="457200"/>
          </a:xfrm>
          <a:prstGeom prst="rect">
            <a:avLst/>
          </a:prstGeom>
          <a:solidFill>
            <a:srgbClr val="A6192E"/>
          </a:solidFill>
          <a:ln/>
        </p:spPr>
      </p:sp>
      <p:sp>
        <p:nvSpPr>
          <p:cNvPr id="15" name="Text 10"/>
          <p:cNvSpPr txBox="1"/>
          <p:nvPr/>
        </p:nvSpPr>
        <p:spPr>
          <a:xfrm>
            <a:off x="960120" y="6126480"/>
            <a:ext cx="10515600" cy="457200"/>
          </a:xfrm>
          <a:prstGeom prst="rect">
            <a:avLst/>
          </a:prstGeom>
          <a:noFill/>
          <a:ln/>
        </p:spPr>
        <p:txBody>
          <a:bodyPr wrap="square" lIns="0" tIns="0" rIns="0" bIns="0" rtlCol="0" anchor="ctr"/>
          <a:lstStyle/>
          <a:p>
            <a:pPr indent="0" marL="0">
              <a:buNone/>
            </a:pPr>
            <a:r>
              <a:rPr lang="en-US" sz="1350" b="1" dirty="0">
                <a:solidFill>
                  <a:srgbClr val="A6192E"/>
                </a:solidFill>
                <a:latin typeface="Arial" pitchFamily="34" charset="0"/>
                <a:ea typeface="Arial" pitchFamily="34" charset="-122"/>
                <a:cs typeface="Arial" pitchFamily="34" charset="-120"/>
              </a:rPr>
              <a:t>BITÁCORA  </a:t>
            </a:r>
            <a:pPr indent="0" marL="0">
              <a:buNone/>
            </a:pPr>
            <a:r>
              <a:rPr lang="en-US" sz="1350" dirty="0">
                <a:solidFill>
                  <a:srgbClr val="1E1E1E"/>
                </a:solidFill>
                <a:latin typeface="Arial" pitchFamily="34" charset="0"/>
                <a:ea typeface="Arial" pitchFamily="34" charset="-122"/>
                <a:cs typeface="Arial" pitchFamily="34" charset="-120"/>
              </a:rPr>
              <a:t>Total Pedido repetido por línea · 1.335 filas · sumarla da $704.623 vs $185.389 reales · decisión: nunca sumar; recalcular.</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89611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PASO 2 · TIPOS DE DATO</a:t>
            </a:r>
            <a:endParaRPr lang="en-US" sz="1300" dirty="0"/>
          </a:p>
        </p:txBody>
      </p:sp>
      <p:sp>
        <p:nvSpPr>
          <p:cNvPr id="3" name="Shape 1"/>
          <p:cNvSpPr/>
          <p:nvPr/>
        </p:nvSpPr>
        <p:spPr>
          <a:xfrm>
            <a:off x="9966960" y="411480"/>
            <a:ext cx="1554480" cy="457200"/>
          </a:xfrm>
          <a:prstGeom prst="roundRect">
            <a:avLst>
              <a:gd name="adj" fmla="val 50000"/>
            </a:avLst>
          </a:prstGeom>
          <a:solidFill>
            <a:srgbClr val="FBEDEF"/>
          </a:solidFill>
          <a:ln w="12700">
            <a:solidFill>
              <a:srgbClr val="A6192E"/>
            </a:solidFill>
            <a:prstDash val="solid"/>
          </a:ln>
        </p:spPr>
      </p:sp>
      <p:sp>
        <p:nvSpPr>
          <p:cNvPr id="4" name="Text 2"/>
          <p:cNvSpPr txBox="1"/>
          <p:nvPr/>
        </p:nvSpPr>
        <p:spPr>
          <a:xfrm>
            <a:off x="9966960" y="411480"/>
            <a:ext cx="1554480" cy="457200"/>
          </a:xfrm>
          <a:prstGeom prst="rect">
            <a:avLst/>
          </a:prstGeom>
          <a:noFill/>
          <a:ln/>
        </p:spPr>
        <p:txBody>
          <a:bodyPr wrap="square" lIns="0" tIns="0" rIns="0" bIns="0" rtlCol="0" anchor="ctr"/>
          <a:lstStyle/>
          <a:p>
            <a:pPr algn="ctr" indent="0" marL="0">
              <a:buNone/>
            </a:pPr>
            <a:r>
              <a:rPr lang="en-US" sz="1200" b="1" dirty="0">
                <a:solidFill>
                  <a:srgbClr val="A6192E"/>
                </a:solidFill>
                <a:latin typeface="Arial" pitchFamily="34" charset="0"/>
                <a:ea typeface="Arial" pitchFamily="34" charset="-122"/>
                <a:cs typeface="Arial" pitchFamily="34" charset="-120"/>
              </a:rPr>
              <a:t>MIN 24–32</a:t>
            </a:r>
            <a:endParaRPr lang="en-US" sz="1200" dirty="0"/>
          </a:p>
        </p:txBody>
      </p:sp>
      <p:sp>
        <p:nvSpPr>
          <p:cNvPr id="6" name="Text 3"/>
          <p:cNvSpPr txBox="1"/>
          <p:nvPr/>
        </p:nvSpPr>
        <p:spPr>
          <a:xfrm>
            <a:off x="685800" y="868680"/>
            <a:ext cx="10789920" cy="54864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dtypes: qué tipo tiene cada columna</a:t>
            </a:r>
            <a:endParaRPr lang="en-US" sz="2700" dirty="0"/>
          </a:p>
        </p:txBody>
      </p:sp>
      <p:sp>
        <p:nvSpPr>
          <p:cNvPr id="7" name="Text 4"/>
          <p:cNvSpPr txBox="1"/>
          <p:nvPr/>
        </p:nvSpPr>
        <p:spPr>
          <a:xfrm>
            <a:off x="685800" y="1554480"/>
            <a:ext cx="54864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CORRE ESTO</a:t>
            </a:r>
            <a:endParaRPr lang="en-US" sz="1150" dirty="0"/>
          </a:p>
        </p:txBody>
      </p:sp>
      <p:sp>
        <p:nvSpPr>
          <p:cNvPr id="8" name="Shape 5"/>
          <p:cNvSpPr/>
          <p:nvPr/>
        </p:nvSpPr>
        <p:spPr>
          <a:xfrm>
            <a:off x="685800" y="1874520"/>
            <a:ext cx="6766560" cy="1258570"/>
          </a:xfrm>
          <a:prstGeom prst="roundRect">
            <a:avLst>
              <a:gd name="adj" fmla="val 5812"/>
            </a:avLst>
          </a:prstGeom>
          <a:solidFill>
            <a:srgbClr val="F4F4F4"/>
          </a:solidFill>
          <a:ln w="9525">
            <a:solidFill>
              <a:srgbClr val="E0E0E0"/>
            </a:solidFill>
            <a:prstDash val="solid"/>
          </a:ln>
        </p:spPr>
      </p:sp>
      <p:sp>
        <p:nvSpPr>
          <p:cNvPr id="9" name="Text 6"/>
          <p:cNvSpPr txBox="1"/>
          <p:nvPr/>
        </p:nvSpPr>
        <p:spPr>
          <a:xfrm>
            <a:off x="850392" y="1984248"/>
            <a:ext cx="6437376" cy="1039114"/>
          </a:xfrm>
          <a:prstGeom prst="rect">
            <a:avLst/>
          </a:prstGeom>
          <a:noFill/>
          <a:ln/>
        </p:spPr>
        <p:txBody>
          <a:bodyPr wrap="square" lIns="0" tIns="0" rIns="0" bIns="0" rtlCol="0" anchor="t"/>
          <a:lstStyle/>
          <a:p>
            <a:pPr indent="0" marL="0">
              <a:lnSpc>
                <a:spcPts val="1813"/>
              </a:lnSpc>
              <a:buNone/>
            </a:pPr>
            <a:r>
              <a:rPr lang="en-US" sz="1250" dirty="0">
                <a:solidFill>
                  <a:srgbClr val="1E1E1E"/>
                </a:solidFill>
                <a:latin typeface="Courier New" pitchFamily="34" charset="0"/>
                <a:ea typeface="Courier New" pitchFamily="34" charset="-122"/>
                <a:cs typeface="Courier New" pitchFamily="34" charset="-120"/>
              </a:rPr>
              <a:t>df.dtypes                 </a:t>
            </a:r>
            <a:pPr indent="0" marL="0">
              <a:lnSpc>
                <a:spcPts val="1813"/>
              </a:lnSpc>
              <a:buNone/>
            </a:pPr>
            <a:r>
              <a:rPr lang="en-US" sz="1250" i="1" dirty="0">
                <a:solidFill>
                  <a:srgbClr val="8A8A8A"/>
                </a:solidFill>
                <a:latin typeface="Courier New" pitchFamily="34" charset="0"/>
                <a:ea typeface="Courier New" pitchFamily="34" charset="-122"/>
                <a:cs typeface="Courier New" pitchFamily="34" charset="-120"/>
              </a:rPr>
              <a:t># ¿qué columnas mienten sobre su tipo?</a:t>
            </a:r>
            <a:endParaRPr lang="en-US" sz="1250" dirty="0"/>
          </a:p>
          <a:p>
            <a:pPr indent="0" marL="0">
              <a:lnSpc>
                <a:spcPts val="1813"/>
              </a:lnSpc>
              <a:buNone/>
            </a:pPr>
            <a:r>
              <a:rPr lang="en-US" sz="1250" dirty="0">
                <a:solidFill>
                  <a:srgbClr val="1E1E1E"/>
                </a:solidFill>
                <a:latin typeface="Courier New" pitchFamily="34" charset="0"/>
                <a:ea typeface="Courier New" pitchFamily="34" charset="-122"/>
                <a:cs typeface="Courier New" pitchFamily="34" charset="-120"/>
              </a:rPr>
              <a:t>df.info()                 </a:t>
            </a:r>
            <a:pPr indent="0" marL="0">
              <a:lnSpc>
                <a:spcPts val="1813"/>
              </a:lnSpc>
              <a:buNone/>
            </a:pPr>
            <a:r>
              <a:rPr lang="en-US" sz="1250" i="1" dirty="0">
                <a:solidFill>
                  <a:srgbClr val="8A8A8A"/>
                </a:solidFill>
                <a:latin typeface="Courier New" pitchFamily="34" charset="0"/>
                <a:ea typeface="Courier New" pitchFamily="34" charset="-122"/>
                <a:cs typeface="Courier New" pitchFamily="34" charset="-120"/>
              </a:rPr>
              <a:t># tipos y no-nulos de un vistazo</a:t>
            </a:r>
            <a:endParaRPr lang="en-US" sz="1250" dirty="0"/>
          </a:p>
          <a:p>
            <a:pPr indent="0" marL="0">
              <a:lnSpc>
                <a:spcPts val="1813"/>
              </a:lnSpc>
              <a:buNone/>
            </a:pPr>
            <a:endParaRPr lang="en-US" sz="1250" dirty="0"/>
          </a:p>
          <a:p>
            <a:pPr indent="0" marL="0">
              <a:lnSpc>
                <a:spcPts val="1813"/>
              </a:lnSpc>
              <a:buNone/>
            </a:pPr>
            <a:r>
              <a:rPr lang="en-US" sz="1250" dirty="0">
                <a:solidFill>
                  <a:srgbClr val="1E1E1E"/>
                </a:solidFill>
                <a:latin typeface="Courier New" pitchFamily="34" charset="0"/>
                <a:ea typeface="Courier New" pitchFamily="34" charset="-122"/>
                <a:cs typeface="Courier New" pitchFamily="34" charset="-120"/>
              </a:rPr>
              <a:t>df["Ventas"].sum()        </a:t>
            </a:r>
            <a:pPr indent="0" marL="0">
              <a:lnSpc>
                <a:spcPts val="1813"/>
              </a:lnSpc>
              <a:buNone/>
            </a:pPr>
            <a:r>
              <a:rPr lang="en-US" sz="1250" i="1" dirty="0">
                <a:solidFill>
                  <a:srgbClr val="8A8A8A"/>
                </a:solidFill>
                <a:latin typeface="Courier New" pitchFamily="34" charset="0"/>
                <a:ea typeface="Courier New" pitchFamily="34" charset="-122"/>
                <a:cs typeface="Courier New" pitchFamily="34" charset="-120"/>
              </a:rPr>
              <a:t># ¿qué pasa aquí?</a:t>
            </a:r>
            <a:endParaRPr lang="en-US" sz="1250" dirty="0"/>
          </a:p>
        </p:txBody>
      </p:sp>
      <p:sp>
        <p:nvSpPr>
          <p:cNvPr id="10" name="Text 7"/>
          <p:cNvSpPr txBox="1"/>
          <p:nvPr/>
        </p:nvSpPr>
        <p:spPr>
          <a:xfrm>
            <a:off x="685800" y="3429000"/>
            <a:ext cx="54864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LO QUE ESPERAS VS LO QUE HAY</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3749040"/>
          <a:ext cx="6766560" cy="914400"/>
        </p:xfrm>
        <a:graphic>
          <a:graphicData uri="http://schemas.openxmlformats.org/drawingml/2006/table">
            <a:tbl>
              <a:tblPr/>
              <a:tblGrid>
                <a:gridCol w="2194560"/>
                <a:gridCol w="2286000"/>
                <a:gridCol w="2286000"/>
              </a:tblGrid>
              <a:tr h="347472">
                <a:tc>
                  <a:txBody>
                    <a:bodyPr/>
                    <a:lstStyle/>
                    <a:p>
                      <a:pPr algn="l" indent="0" marL="0">
                        <a:buNone/>
                      </a:pPr>
                      <a:r>
                        <a:rPr lang="en-US" sz="1100" b="1" dirty="0">
                          <a:solidFill>
                            <a:srgbClr val="A6192E"/>
                          </a:solidFill>
                          <a:latin typeface="Arial" pitchFamily="34" charset="0"/>
                          <a:ea typeface="Arial" pitchFamily="34" charset="-122"/>
                          <a:cs typeface="Arial" pitchFamily="34" charset="-120"/>
                        </a:rPr>
                        <a:t>Columna</a:t>
                      </a:r>
                      <a:endParaRPr lang="en-US" sz="11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l" indent="0" marL="0">
                        <a:buNone/>
                      </a:pPr>
                      <a:r>
                        <a:rPr lang="en-US" sz="1100" b="1" dirty="0">
                          <a:solidFill>
                            <a:srgbClr val="A6192E"/>
                          </a:solidFill>
                          <a:latin typeface="Arial" pitchFamily="34" charset="0"/>
                          <a:ea typeface="Arial" pitchFamily="34" charset="-122"/>
                          <a:cs typeface="Arial" pitchFamily="34" charset="-120"/>
                        </a:rPr>
                        <a:t>Lo que esperas</a:t>
                      </a:r>
                      <a:endParaRPr lang="en-US" sz="11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l" indent="0" marL="0">
                        <a:buNone/>
                      </a:pPr>
                      <a:r>
                        <a:rPr lang="en-US" sz="1100" b="1" dirty="0">
                          <a:solidFill>
                            <a:srgbClr val="A6192E"/>
                          </a:solidFill>
                          <a:latin typeface="Arial" pitchFamily="34" charset="0"/>
                          <a:ea typeface="Arial" pitchFamily="34" charset="-122"/>
                          <a:cs typeface="Arial" pitchFamily="34" charset="-120"/>
                        </a:rPr>
                        <a:t>Lo que dice dtypes</a:t>
                      </a:r>
                      <a:endParaRPr lang="en-US" sz="11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r>
              <a:tr h="347472">
                <a:tc>
                  <a:txBody>
                    <a:bodyPr/>
                    <a:lstStyle/>
                    <a:p>
                      <a:pPr algn="l" indent="0" marL="0">
                        <a:buNone/>
                      </a:pPr>
                      <a:r>
                        <a:rPr lang="en-US" sz="1250" dirty="0">
                          <a:solidFill>
                            <a:srgbClr val="1E1E1E"/>
                          </a:solidFill>
                          <a:latin typeface="Arial" pitchFamily="34" charset="0"/>
                          <a:ea typeface="Arial" pitchFamily="34" charset="-122"/>
                          <a:cs typeface="Arial" pitchFamily="34" charset="-120"/>
                        </a:rPr>
                        <a:t>Fecha Pedido</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E1E"/>
                          </a:solidFill>
                          <a:latin typeface="Courier New" pitchFamily="34" charset="0"/>
                          <a:ea typeface="Courier New" pitchFamily="34" charset="-122"/>
                          <a:cs typeface="Courier New" pitchFamily="34" charset="-120"/>
                        </a:rPr>
                        <a:t>datetime64</a:t>
                      </a:r>
                      <a:endParaRPr lang="en-US" sz="12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E1E"/>
                          </a:solidFill>
                          <a:latin typeface="Courier New" pitchFamily="34" charset="0"/>
                          <a:ea typeface="Courier New" pitchFamily="34" charset="-122"/>
                          <a:cs typeface="Courier New" pitchFamily="34" charset="-120"/>
                        </a:rPr>
                        <a:t>?</a:t>
                      </a:r>
                      <a:endParaRPr lang="en-US" sz="12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47472">
                <a:tc>
                  <a:txBody>
                    <a:bodyPr/>
                    <a:lstStyle/>
                    <a:p>
                      <a:pPr algn="l" indent="0" marL="0">
                        <a:buNone/>
                      </a:pPr>
                      <a:r>
                        <a:rPr lang="en-US" sz="1250" dirty="0">
                          <a:solidFill>
                            <a:srgbClr val="1E1E1E"/>
                          </a:solidFill>
                          <a:latin typeface="Arial" pitchFamily="34" charset="0"/>
                          <a:ea typeface="Arial" pitchFamily="34" charset="-122"/>
                          <a:cs typeface="Arial" pitchFamily="34" charset="-120"/>
                        </a:rPr>
                        <a:t>Fecha Envío</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E1E"/>
                          </a:solidFill>
                          <a:latin typeface="Courier New" pitchFamily="34" charset="0"/>
                          <a:ea typeface="Courier New" pitchFamily="34" charset="-122"/>
                          <a:cs typeface="Courier New" pitchFamily="34" charset="-120"/>
                        </a:rPr>
                        <a:t>datetime64</a:t>
                      </a:r>
                      <a:endParaRPr lang="en-US" sz="12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E1E"/>
                          </a:solidFill>
                          <a:latin typeface="Courier New" pitchFamily="34" charset="0"/>
                          <a:ea typeface="Courier New" pitchFamily="34" charset="-122"/>
                          <a:cs typeface="Courier New" pitchFamily="34" charset="-120"/>
                        </a:rPr>
                        <a:t>?</a:t>
                      </a:r>
                      <a:endParaRPr lang="en-US" sz="12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47472">
                <a:tc>
                  <a:txBody>
                    <a:bodyPr/>
                    <a:lstStyle/>
                    <a:p>
                      <a:pPr algn="l" indent="0" marL="0">
                        <a:buNone/>
                      </a:pPr>
                      <a:r>
                        <a:rPr lang="en-US" sz="1250" dirty="0">
                          <a:solidFill>
                            <a:srgbClr val="1E1E1E"/>
                          </a:solidFill>
                          <a:latin typeface="Arial" pitchFamily="34" charset="0"/>
                          <a:ea typeface="Arial" pitchFamily="34" charset="-122"/>
                          <a:cs typeface="Arial" pitchFamily="34" charset="-120"/>
                        </a:rPr>
                        <a:t>Ventas</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E1E"/>
                          </a:solidFill>
                          <a:latin typeface="Courier New" pitchFamily="34" charset="0"/>
                          <a:ea typeface="Courier New" pitchFamily="34" charset="-122"/>
                          <a:cs typeface="Courier New" pitchFamily="34" charset="-120"/>
                        </a:rPr>
                        <a:t>float64</a:t>
                      </a:r>
                      <a:endParaRPr lang="en-US" sz="12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E1E"/>
                          </a:solidFill>
                          <a:latin typeface="Courier New" pitchFamily="34" charset="0"/>
                          <a:ea typeface="Courier New" pitchFamily="34" charset="-122"/>
                          <a:cs typeface="Courier New" pitchFamily="34" charset="-120"/>
                        </a:rPr>
                        <a:t>?</a:t>
                      </a:r>
                      <a:endParaRPr lang="en-US" sz="12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47472">
                <a:tc>
                  <a:txBody>
                    <a:bodyPr/>
                    <a:lstStyle/>
                    <a:p>
                      <a:pPr algn="l" indent="0" marL="0">
                        <a:buNone/>
                      </a:pPr>
                      <a:r>
                        <a:rPr lang="en-US" sz="1250" dirty="0">
                          <a:solidFill>
                            <a:srgbClr val="1E1E1E"/>
                          </a:solidFill>
                          <a:latin typeface="Arial" pitchFamily="34" charset="0"/>
                          <a:ea typeface="Arial" pitchFamily="34" charset="-122"/>
                          <a:cs typeface="Arial" pitchFamily="34" charset="-120"/>
                        </a:rPr>
                        <a:t>Cantidad</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E1E"/>
                          </a:solidFill>
                          <a:latin typeface="Courier New" pitchFamily="34" charset="0"/>
                          <a:ea typeface="Courier New" pitchFamily="34" charset="-122"/>
                          <a:cs typeface="Courier New" pitchFamily="34" charset="-120"/>
                        </a:rPr>
                        <a:t>entero positivo</a:t>
                      </a:r>
                      <a:endParaRPr lang="en-US" sz="12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E1E"/>
                          </a:solidFill>
                          <a:latin typeface="Courier New" pitchFamily="34" charset="0"/>
                          <a:ea typeface="Courier New" pitchFamily="34" charset="-122"/>
                          <a:cs typeface="Courier New" pitchFamily="34" charset="-120"/>
                        </a:rPr>
                        <a:t>?</a:t>
                      </a:r>
                      <a:endParaRPr lang="en-US" sz="12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47472">
                <a:tc>
                  <a:txBody>
                    <a:bodyPr/>
                    <a:lstStyle/>
                    <a:p>
                      <a:pPr algn="l" indent="0" marL="0">
                        <a:buNone/>
                      </a:pPr>
                      <a:r>
                        <a:rPr lang="en-US" sz="1250" dirty="0">
                          <a:solidFill>
                            <a:srgbClr val="1E1E1E"/>
                          </a:solidFill>
                          <a:latin typeface="Arial" pitchFamily="34" charset="0"/>
                          <a:ea typeface="Arial" pitchFamily="34" charset="-122"/>
                          <a:cs typeface="Arial" pitchFamily="34" charset="-120"/>
                        </a:rPr>
                        <a:t>Descuento</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E1E"/>
                          </a:solidFill>
                          <a:latin typeface="Courier New" pitchFamily="34" charset="0"/>
                          <a:ea typeface="Courier New" pitchFamily="34" charset="-122"/>
                          <a:cs typeface="Courier New" pitchFamily="34" charset="-120"/>
                        </a:rPr>
                        <a:t>float64</a:t>
                      </a:r>
                      <a:endParaRPr lang="en-US" sz="12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E1E"/>
                          </a:solidFill>
                          <a:latin typeface="Courier New" pitchFamily="34" charset="0"/>
                          <a:ea typeface="Courier New" pitchFamily="34" charset="-122"/>
                          <a:cs typeface="Courier New" pitchFamily="34" charset="-120"/>
                        </a:rPr>
                        <a:t>?</a:t>
                      </a:r>
                      <a:endParaRPr lang="en-US" sz="125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bl>
          </a:graphicData>
        </a:graphic>
      </p:graphicFrame>
      <p:sp>
        <p:nvSpPr>
          <p:cNvPr id="12" name="Shape 8"/>
          <p:cNvSpPr/>
          <p:nvPr/>
        </p:nvSpPr>
        <p:spPr>
          <a:xfrm>
            <a:off x="7772400" y="1554480"/>
            <a:ext cx="3749040" cy="2103120"/>
          </a:xfrm>
          <a:prstGeom prst="rect">
            <a:avLst/>
          </a:prstGeom>
          <a:solidFill>
            <a:srgbClr val="FBEDEF"/>
          </a:solidFill>
          <a:ln/>
        </p:spPr>
      </p:sp>
      <p:sp>
        <p:nvSpPr>
          <p:cNvPr id="13" name="Text 9"/>
          <p:cNvSpPr txBox="1"/>
          <p:nvPr/>
        </p:nvSpPr>
        <p:spPr>
          <a:xfrm>
            <a:off x="8001000" y="1719072"/>
            <a:ext cx="3291840" cy="274320"/>
          </a:xfrm>
          <a:prstGeom prst="rect">
            <a:avLst/>
          </a:prstGeom>
          <a:noFill/>
          <a:ln/>
        </p:spPr>
        <p:txBody>
          <a:bodyPr wrap="square" lIns="0" tIns="0" rIns="0" bIns="0" rtlCol="0" anchor="ctr"/>
          <a:lstStyle/>
          <a:p>
            <a:pPr indent="0" marL="0">
              <a:buNone/>
            </a:pPr>
            <a:r>
              <a:rPr lang="en-US" sz="1100" b="1" spc="150" kern="0" dirty="0">
                <a:solidFill>
                  <a:srgbClr val="A6192E"/>
                </a:solidFill>
                <a:latin typeface="Arial" pitchFamily="34" charset="0"/>
                <a:ea typeface="Arial" pitchFamily="34" charset="-122"/>
                <a:cs typeface="Arial" pitchFamily="34" charset="-120"/>
              </a:rPr>
              <a:t>TU APUESTA</a:t>
            </a:r>
            <a:endParaRPr lang="en-US" sz="1100" dirty="0"/>
          </a:p>
        </p:txBody>
      </p:sp>
      <p:sp>
        <p:nvSpPr>
          <p:cNvPr id="14" name="Text 10"/>
          <p:cNvSpPr txBox="1"/>
          <p:nvPr/>
        </p:nvSpPr>
        <p:spPr>
          <a:xfrm>
            <a:off x="8001000" y="2011680"/>
            <a:ext cx="3291840" cy="1051560"/>
          </a:xfrm>
          <a:prstGeom prst="rect">
            <a:avLst/>
          </a:prstGeom>
          <a:noFill/>
          <a:ln/>
        </p:spPr>
        <p:txBody>
          <a:bodyPr wrap="square" lIns="0" tIns="0" rIns="0" bIns="0" rtlCol="0" anchor="t"/>
          <a:lstStyle/>
          <a:p>
            <a:pPr indent="0" marL="0">
              <a:lnSpc>
                <a:spcPts val="2400"/>
              </a:lnSpc>
              <a:buNone/>
            </a:pPr>
            <a:r>
              <a:rPr lang="en-US" sz="1800" b="1" dirty="0">
                <a:solidFill>
                  <a:srgbClr val="1E1E1E"/>
                </a:solidFill>
                <a:latin typeface="Arial" pitchFamily="34" charset="0"/>
                <a:ea typeface="Arial" pitchFamily="34" charset="-122"/>
                <a:cs typeface="Arial" pitchFamily="34" charset="-120"/>
              </a:rPr>
              <a:t>¿Cuántas columnas mienten sobre su tipo? ¿Cuáles?</a:t>
            </a:r>
            <a:endParaRPr lang="en-US" sz="1800" dirty="0"/>
          </a:p>
        </p:txBody>
      </p:sp>
      <p:sp>
        <p:nvSpPr>
          <p:cNvPr id="15" name="Text 11"/>
          <p:cNvSpPr txBox="1"/>
          <p:nvPr/>
        </p:nvSpPr>
        <p:spPr>
          <a:xfrm>
            <a:off x="8001000" y="3063240"/>
            <a:ext cx="3291840" cy="457200"/>
          </a:xfrm>
          <a:prstGeom prst="rect">
            <a:avLst/>
          </a:prstGeom>
          <a:noFill/>
          <a:ln/>
        </p:spPr>
        <p:txBody>
          <a:bodyPr wrap="square" lIns="0" tIns="0" rIns="0" bIns="0" rtlCol="0" anchor="b"/>
          <a:lstStyle/>
          <a:p>
            <a:pPr indent="0" marL="0">
              <a:buNone/>
            </a:pPr>
            <a:r>
              <a:rPr lang="en-US" sz="1250" dirty="0">
                <a:solidFill>
                  <a:srgbClr val="6B6B6B"/>
                </a:solidFill>
                <a:latin typeface="Arial" pitchFamily="34" charset="0"/>
                <a:ea typeface="Arial" pitchFamily="34" charset="-122"/>
                <a:cs typeface="Arial" pitchFamily="34" charset="-120"/>
              </a:rPr>
              <a:t>Un número y una lista. Dos minutos.</a:t>
            </a:r>
            <a:endParaRPr lang="en-US" sz="1250" dirty="0"/>
          </a:p>
        </p:txBody>
      </p:sp>
      <p:sp>
        <p:nvSpPr>
          <p:cNvPr id="16" name="Text 12"/>
          <p:cNvSpPr txBox="1"/>
          <p:nvPr/>
        </p:nvSpPr>
        <p:spPr>
          <a:xfrm>
            <a:off x="7772400" y="3840480"/>
            <a:ext cx="3749040" cy="1280160"/>
          </a:xfrm>
          <a:prstGeom prst="rect">
            <a:avLst/>
          </a:prstGeom>
          <a:noFill/>
          <a:ln/>
        </p:spPr>
        <p:txBody>
          <a:bodyPr wrap="square" lIns="0" tIns="0" rIns="0" bIns="0" rtlCol="0" anchor="ctr"/>
          <a:lstStyle/>
          <a:p>
            <a:pPr indent="0" marL="0">
              <a:lnSpc>
                <a:spcPts val="1800"/>
              </a:lnSpc>
              <a:buNone/>
            </a:pPr>
            <a:r>
              <a:rPr lang="en-US" sz="1300" dirty="0">
                <a:solidFill>
                  <a:srgbClr val="6B6B6B"/>
                </a:solidFill>
                <a:latin typeface="Arial" pitchFamily="34" charset="0"/>
                <a:ea typeface="Arial" pitchFamily="34" charset="-122"/>
                <a:cs typeface="Arial" pitchFamily="34" charset="-120"/>
              </a:rPr>
              <a:t>Regla: una sola celda con un símbolo de dólar vuelve object toda la columna. Y una columna object no se suma, no se promedia y no se ordena bien.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89611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PASO 2 · LO QUE DICE dtypes</a:t>
            </a:r>
            <a:endParaRPr lang="en-US" sz="1300" dirty="0"/>
          </a:p>
        </p:txBody>
      </p:sp>
      <p:sp>
        <p:nvSpPr>
          <p:cNvPr id="4" name="Text 1"/>
          <p:cNvSpPr txBox="1"/>
          <p:nvPr/>
        </p:nvSpPr>
        <p:spPr>
          <a:xfrm>
            <a:off x="685800" y="868680"/>
            <a:ext cx="10789920" cy="54864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Tres columnas con tipo incorrecto, dos con valores sospechosos</a:t>
            </a:r>
            <a:endParaRPr lang="en-US" sz="2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1554480"/>
          <a:ext cx="6949440" cy="914400"/>
        </p:xfrm>
        <a:graphic>
          <a:graphicData uri="http://schemas.openxmlformats.org/drawingml/2006/table">
            <a:tbl>
              <a:tblPr/>
              <a:tblGrid>
                <a:gridCol w="1463040"/>
                <a:gridCol w="914400"/>
                <a:gridCol w="3840480"/>
                <a:gridCol w="731520"/>
              </a:tblGrid>
              <a:tr h="438912">
                <a:tc>
                  <a:txBody>
                    <a:bodyPr/>
                    <a:lstStyle/>
                    <a:p>
                      <a:pPr algn="l" indent="0" marL="0">
                        <a:buNone/>
                      </a:pPr>
                      <a:r>
                        <a:rPr lang="en-US" sz="1050" b="1" dirty="0">
                          <a:solidFill>
                            <a:srgbClr val="A6192E"/>
                          </a:solidFill>
                          <a:latin typeface="Arial" pitchFamily="34" charset="0"/>
                          <a:ea typeface="Arial" pitchFamily="34" charset="-122"/>
                          <a:cs typeface="Arial" pitchFamily="34" charset="-120"/>
                        </a:rPr>
                        <a:t>Columna</a:t>
                      </a:r>
                      <a:endParaRPr lang="en-US" sz="10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l" indent="0" marL="0">
                        <a:buNone/>
                      </a:pPr>
                      <a:r>
                        <a:rPr lang="en-US" sz="1050" b="1" dirty="0">
                          <a:solidFill>
                            <a:srgbClr val="A6192E"/>
                          </a:solidFill>
                          <a:latin typeface="Arial" pitchFamily="34" charset="0"/>
                          <a:ea typeface="Arial" pitchFamily="34" charset="-122"/>
                          <a:cs typeface="Arial" pitchFamily="34" charset="-120"/>
                        </a:rPr>
                        <a:t>dtypes</a:t>
                      </a:r>
                      <a:endParaRPr lang="en-US" sz="10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l" indent="0" marL="0">
                        <a:buNone/>
                      </a:pPr>
                      <a:r>
                        <a:rPr lang="en-US" sz="1050" b="1" dirty="0">
                          <a:solidFill>
                            <a:srgbClr val="A6192E"/>
                          </a:solidFill>
                          <a:latin typeface="Arial" pitchFamily="34" charset="0"/>
                          <a:ea typeface="Arial" pitchFamily="34" charset="-122"/>
                          <a:cs typeface="Arial" pitchFamily="34" charset="-120"/>
                        </a:rPr>
                        <a:t>Síntoma</a:t>
                      </a:r>
                      <a:endParaRPr lang="en-US" sz="10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ctr" indent="0" marL="0">
                        <a:buNone/>
                      </a:pPr>
                      <a:r>
                        <a:rPr lang="en-US" sz="1050" b="1" dirty="0">
                          <a:solidFill>
                            <a:srgbClr val="A6192E"/>
                          </a:solidFill>
                          <a:latin typeface="Arial" pitchFamily="34" charset="0"/>
                          <a:ea typeface="Arial" pitchFamily="34" charset="-122"/>
                          <a:cs typeface="Arial" pitchFamily="34" charset="-120"/>
                        </a:rPr>
                        <a:t>Filas</a:t>
                      </a:r>
                      <a:endParaRPr lang="en-US" sz="10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r>
              <a:tr h="438912">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Fecha Pedido</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1E1E"/>
                          </a:solidFill>
                          <a:latin typeface="Courier New" pitchFamily="34" charset="0"/>
                          <a:ea typeface="Courier New" pitchFamily="34" charset="-122"/>
                          <a:cs typeface="Courier New" pitchFamily="34" charset="-120"/>
                        </a:rPr>
                        <a:t>object</a:t>
                      </a:r>
                      <a:endParaRPr lang="en-US" sz="120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35 filas vienen como dd/mm/yyyy, el resto yyyy-mm-dd</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1E1E"/>
                          </a:solidFill>
                          <a:latin typeface="Arial" pitchFamily="34" charset="0"/>
                          <a:ea typeface="Arial" pitchFamily="34" charset="-122"/>
                          <a:cs typeface="Arial" pitchFamily="34" charset="-120"/>
                        </a:rPr>
                        <a:t>35</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438912">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Fecha Envío</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1E1E"/>
                          </a:solidFill>
                          <a:latin typeface="Courier New" pitchFamily="34" charset="0"/>
                          <a:ea typeface="Courier New" pitchFamily="34" charset="-122"/>
                          <a:cs typeface="Courier New" pitchFamily="34" charset="-120"/>
                        </a:rPr>
                        <a:t>object</a:t>
                      </a:r>
                      <a:endParaRPr lang="en-US" sz="120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mismo problema: texto, dos formatos mezclados</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1E1E"/>
                          </a:solidFill>
                          <a:latin typeface="Arial" pitchFamily="34" charset="0"/>
                          <a:ea typeface="Arial" pitchFamily="34" charset="-122"/>
                          <a:cs typeface="Arial" pitchFamily="34" charset="-120"/>
                        </a:rPr>
                        <a:t>35</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438912">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Ventas</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1E1E"/>
                          </a:solidFill>
                          <a:latin typeface="Courier New" pitchFamily="34" charset="0"/>
                          <a:ea typeface="Courier New" pitchFamily="34" charset="-122"/>
                          <a:cs typeface="Courier New" pitchFamily="34" charset="-120"/>
                        </a:rPr>
                        <a:t>object</a:t>
                      </a:r>
                      <a:endParaRPr lang="en-US" sz="120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43 filas traen formato de factura: $201,45</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1E1E"/>
                          </a:solidFill>
                          <a:latin typeface="Arial" pitchFamily="34" charset="0"/>
                          <a:ea typeface="Arial" pitchFamily="34" charset="-122"/>
                          <a:cs typeface="Arial" pitchFamily="34" charset="-120"/>
                        </a:rPr>
                        <a:t>43</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438912">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Cantidad</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1E1E"/>
                          </a:solidFill>
                          <a:latin typeface="Courier New" pitchFamily="34" charset="0"/>
                          <a:ea typeface="Courier New" pitchFamily="34" charset="-122"/>
                          <a:cs typeface="Courier New" pitchFamily="34" charset="-120"/>
                        </a:rPr>
                        <a:t>int64</a:t>
                      </a:r>
                      <a:endParaRPr lang="en-US" sz="120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el tipo está bien, pero hay 9 valores negativos</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1E1E"/>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438912">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Descuento</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1E1E"/>
                          </a:solidFill>
                          <a:latin typeface="Courier New" pitchFamily="34" charset="0"/>
                          <a:ea typeface="Courier New" pitchFamily="34" charset="-122"/>
                          <a:cs typeface="Courier New" pitchFamily="34" charset="-120"/>
                        </a:rPr>
                        <a:t>float64</a:t>
                      </a:r>
                      <a:endParaRPr lang="en-US" sz="1200" dirty="0">
                        <a:latin typeface="Courier New" charset="0"/>
                        <a:ea typeface="Courier New" charset="0"/>
                        <a:cs typeface="Courier New"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el tipo está bien, pero 212 vacíos (paso 4)</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1E1E"/>
                          </a:solidFill>
                          <a:latin typeface="Arial" pitchFamily="34" charset="0"/>
                          <a:ea typeface="Arial" pitchFamily="34" charset="-122"/>
                          <a:cs typeface="Arial" pitchFamily="34" charset="-120"/>
                        </a:rPr>
                        <a:t>212</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7955280" y="1554480"/>
            <a:ext cx="36576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LA EVIDENCIA, CONTADA CON CÓDIGO</a:t>
            </a:r>
            <a:endParaRPr lang="en-US" sz="1150" dirty="0"/>
          </a:p>
        </p:txBody>
      </p:sp>
      <p:sp>
        <p:nvSpPr>
          <p:cNvPr id="7" name="Shape 3"/>
          <p:cNvSpPr/>
          <p:nvPr/>
        </p:nvSpPr>
        <p:spPr>
          <a:xfrm>
            <a:off x="7955280" y="1874520"/>
            <a:ext cx="3566160" cy="2341245"/>
          </a:xfrm>
          <a:prstGeom prst="roundRect">
            <a:avLst>
              <a:gd name="adj" fmla="val 3124"/>
            </a:avLst>
          </a:prstGeom>
          <a:solidFill>
            <a:srgbClr val="F4F4F4"/>
          </a:solidFill>
          <a:ln w="9525">
            <a:solidFill>
              <a:srgbClr val="E0E0E0"/>
            </a:solidFill>
            <a:prstDash val="solid"/>
          </a:ln>
        </p:spPr>
      </p:sp>
      <p:sp>
        <p:nvSpPr>
          <p:cNvPr id="8" name="Text 4"/>
          <p:cNvSpPr txBox="1"/>
          <p:nvPr/>
        </p:nvSpPr>
        <p:spPr>
          <a:xfrm>
            <a:off x="8119872" y="1984248"/>
            <a:ext cx="3236976" cy="2121789"/>
          </a:xfrm>
          <a:prstGeom prst="rect">
            <a:avLst/>
          </a:prstGeom>
          <a:noFill/>
          <a:ln/>
        </p:spPr>
        <p:txBody>
          <a:bodyPr wrap="square" lIns="0" tIns="0" rIns="0" bIns="0" rtlCol="0" anchor="t"/>
          <a:lstStyle/>
          <a:p>
            <a:pPr indent="0" marL="0">
              <a:lnSpc>
                <a:spcPts val="1523"/>
              </a:lnSpc>
              <a:buNone/>
            </a:pPr>
            <a:r>
              <a:rPr lang="en-US" sz="1050" dirty="0">
                <a:solidFill>
                  <a:srgbClr val="1E1E1E"/>
                </a:solidFill>
                <a:latin typeface="Courier New" pitchFamily="34" charset="0"/>
                <a:ea typeface="Courier New" pitchFamily="34" charset="-122"/>
                <a:cs typeface="Courier New" pitchFamily="34" charset="-120"/>
              </a:rPr>
              <a:t>v = df["Ventas"]</a:t>
            </a:r>
            <a:endParaRPr lang="en-US" sz="1050" dirty="0"/>
          </a:p>
          <a:p>
            <a:pPr indent="0" marL="0">
              <a:lnSpc>
                <a:spcPts val="1523"/>
              </a:lnSpc>
              <a:buNone/>
            </a:pPr>
            <a:r>
              <a:rPr lang="en-US" sz="1050" dirty="0">
                <a:solidFill>
                  <a:srgbClr val="1E1E1E"/>
                </a:solidFill>
                <a:latin typeface="Courier New" pitchFamily="34" charset="0"/>
                <a:ea typeface="Courier New" pitchFamily="34" charset="-122"/>
                <a:cs typeface="Courier New" pitchFamily="34" charset="-120"/>
              </a:rPr>
              <a:t>v.str.startswith("$").sum()</a:t>
            </a:r>
            <a:endParaRPr lang="en-US" sz="1050" dirty="0"/>
          </a:p>
          <a:p>
            <a:pPr indent="0" marL="0">
              <a:lnSpc>
                <a:spcPts val="1523"/>
              </a:lnSpc>
              <a:buNone/>
            </a:pPr>
            <a:r>
              <a:rPr lang="en-US" sz="1050" i="1" dirty="0">
                <a:solidFill>
                  <a:srgbClr val="8A8A8A"/>
                </a:solidFill>
                <a:latin typeface="Courier New" pitchFamily="34" charset="0"/>
                <a:ea typeface="Courier New" pitchFamily="34" charset="-122"/>
                <a:cs typeface="Courier New" pitchFamily="34" charset="-120"/>
              </a:rPr>
              <a:t># 43</a:t>
            </a:r>
            <a:endParaRPr lang="en-US" sz="1050" dirty="0"/>
          </a:p>
          <a:p>
            <a:pPr indent="0" marL="0">
              <a:lnSpc>
                <a:spcPts val="1523"/>
              </a:lnSpc>
              <a:buNone/>
            </a:pPr>
            <a:r>
              <a:rPr lang="en-US" sz="1050" dirty="0">
                <a:solidFill>
                  <a:srgbClr val="1E1E1E"/>
                </a:solidFill>
                <a:latin typeface="Courier New" pitchFamily="34" charset="0"/>
                <a:ea typeface="Courier New" pitchFamily="34" charset="-122"/>
                <a:cs typeface="Courier New" pitchFamily="34" charset="-120"/>
              </a:rPr>
              <a:t>v[v.str.startswith("$")].head(3)</a:t>
            </a:r>
            <a:endParaRPr lang="en-US" sz="1050" dirty="0"/>
          </a:p>
          <a:p>
            <a:pPr indent="0" marL="0">
              <a:lnSpc>
                <a:spcPts val="1523"/>
              </a:lnSpc>
              <a:buNone/>
            </a:pPr>
            <a:r>
              <a:rPr lang="en-US" sz="1050" i="1" dirty="0">
                <a:solidFill>
                  <a:srgbClr val="8A8A8A"/>
                </a:solidFill>
                <a:latin typeface="Courier New" pitchFamily="34" charset="0"/>
                <a:ea typeface="Courier New" pitchFamily="34" charset="-122"/>
                <a:cs typeface="Courier New" pitchFamily="34" charset="-120"/>
              </a:rPr>
              <a:t># $201,45  $42,88  $37,68</a:t>
            </a:r>
            <a:endParaRPr lang="en-US" sz="1050" dirty="0"/>
          </a:p>
          <a:p>
            <a:pPr indent="0" marL="0">
              <a:lnSpc>
                <a:spcPts val="1523"/>
              </a:lnSpc>
              <a:buNone/>
            </a:pPr>
            <a:r>
              <a:rPr lang="en-US" sz="1050" dirty="0">
                <a:solidFill>
                  <a:srgbClr val="1E1E1E"/>
                </a:solidFill>
                <a:latin typeface="Courier New" pitchFamily="34" charset="0"/>
                <a:ea typeface="Courier New" pitchFamily="34" charset="-122"/>
                <a:cs typeface="Courier New" pitchFamily="34" charset="-120"/>
              </a:rPr>
              <a:t>f = df["Fecha Pedido"]</a:t>
            </a:r>
            <a:endParaRPr lang="en-US" sz="1050" dirty="0"/>
          </a:p>
          <a:p>
            <a:pPr indent="0" marL="0">
              <a:lnSpc>
                <a:spcPts val="1523"/>
              </a:lnSpc>
              <a:buNone/>
            </a:pPr>
            <a:r>
              <a:rPr lang="en-US" sz="1050" dirty="0">
                <a:solidFill>
                  <a:srgbClr val="1E1E1E"/>
                </a:solidFill>
                <a:latin typeface="Courier New" pitchFamily="34" charset="0"/>
                <a:ea typeface="Courier New" pitchFamily="34" charset="-122"/>
                <a:cs typeface="Courier New" pitchFamily="34" charset="-120"/>
              </a:rPr>
              <a:t>f.str.contains("/").sum()</a:t>
            </a:r>
            <a:endParaRPr lang="en-US" sz="1050" dirty="0"/>
          </a:p>
          <a:p>
            <a:pPr indent="0" marL="0">
              <a:lnSpc>
                <a:spcPts val="1523"/>
              </a:lnSpc>
              <a:buNone/>
            </a:pPr>
            <a:r>
              <a:rPr lang="en-US" sz="1050" i="1" dirty="0">
                <a:solidFill>
                  <a:srgbClr val="8A8A8A"/>
                </a:solidFill>
                <a:latin typeface="Courier New" pitchFamily="34" charset="0"/>
                <a:ea typeface="Courier New" pitchFamily="34" charset="-122"/>
                <a:cs typeface="Courier New" pitchFamily="34" charset="-120"/>
              </a:rPr>
              <a:t># 35</a:t>
            </a:r>
            <a:endParaRPr lang="en-US" sz="1050" dirty="0"/>
          </a:p>
          <a:p>
            <a:pPr indent="0" marL="0">
              <a:lnSpc>
                <a:spcPts val="1523"/>
              </a:lnSpc>
              <a:buNone/>
            </a:pPr>
            <a:r>
              <a:rPr lang="en-US" sz="1050" dirty="0">
                <a:solidFill>
                  <a:srgbClr val="1E1E1E"/>
                </a:solidFill>
                <a:latin typeface="Courier New" pitchFamily="34" charset="0"/>
                <a:ea typeface="Courier New" pitchFamily="34" charset="-122"/>
                <a:cs typeface="Courier New" pitchFamily="34" charset="-120"/>
              </a:rPr>
              <a:t>(df["Cantidad"] &lt; 0).sum()</a:t>
            </a:r>
            <a:endParaRPr lang="en-US" sz="1050" dirty="0"/>
          </a:p>
          <a:p>
            <a:pPr indent="0" marL="0">
              <a:lnSpc>
                <a:spcPts val="1523"/>
              </a:lnSpc>
              <a:buNone/>
            </a:pPr>
            <a:r>
              <a:rPr lang="en-US" sz="1050" i="1" dirty="0">
                <a:solidFill>
                  <a:srgbClr val="8A8A8A"/>
                </a:solidFill>
                <a:latin typeface="Courier New" pitchFamily="34" charset="0"/>
                <a:ea typeface="Courier New" pitchFamily="34" charset="-122"/>
                <a:cs typeface="Courier New" pitchFamily="34" charset="-120"/>
              </a:rPr>
              <a:t># 9</a:t>
            </a:r>
            <a:endParaRPr lang="en-US" sz="1050" dirty="0"/>
          </a:p>
        </p:txBody>
      </p:sp>
      <p:sp>
        <p:nvSpPr>
          <p:cNvPr id="9" name="Shape 5"/>
          <p:cNvSpPr/>
          <p:nvPr/>
        </p:nvSpPr>
        <p:spPr>
          <a:xfrm>
            <a:off x="685800" y="4434840"/>
            <a:ext cx="10835640" cy="777240"/>
          </a:xfrm>
          <a:prstGeom prst="rect">
            <a:avLst/>
          </a:prstGeom>
          <a:solidFill>
            <a:srgbClr val="FBEDEF"/>
          </a:solidFill>
          <a:ln/>
        </p:spPr>
      </p:sp>
      <p:sp>
        <p:nvSpPr>
          <p:cNvPr id="10" name="Text 6"/>
          <p:cNvSpPr txBox="1"/>
          <p:nvPr/>
        </p:nvSpPr>
        <p:spPr>
          <a:xfrm>
            <a:off x="914400" y="4434840"/>
            <a:ext cx="10424160" cy="777240"/>
          </a:xfrm>
          <a:prstGeom prst="rect">
            <a:avLst/>
          </a:prstGeom>
          <a:noFill/>
          <a:ln/>
        </p:spPr>
        <p:txBody>
          <a:bodyPr wrap="square" lIns="0" tIns="0" rIns="0" bIns="0" rtlCol="0" anchor="ctr"/>
          <a:lstStyle/>
          <a:p>
            <a:pPr indent="0" marL="0">
              <a:buNone/>
            </a:pPr>
            <a:r>
              <a:rPr lang="en-US" sz="1500" b="1" dirty="0">
                <a:solidFill>
                  <a:srgbClr val="A6192E"/>
                </a:solidFill>
                <a:latin typeface="Arial" pitchFamily="34" charset="0"/>
                <a:ea typeface="Arial" pitchFamily="34" charset="-122"/>
                <a:cs typeface="Arial" pitchFamily="34" charset="-120"/>
              </a:rPr>
              <a:t>Orden: primero corregir los tipos, después contar. isna() sobre una columna numérica guardada como texto cuenta mal.</a:t>
            </a:r>
            <a:endParaRPr lang="en-US" sz="1500" dirty="0"/>
          </a:p>
        </p:txBody>
      </p:sp>
      <p:sp>
        <p:nvSpPr>
          <p:cNvPr id="11" name="Text 7"/>
          <p:cNvSpPr txBox="1"/>
          <p:nvPr/>
        </p:nvSpPr>
        <p:spPr>
          <a:xfrm>
            <a:off x="685800" y="5349240"/>
            <a:ext cx="10835640" cy="457200"/>
          </a:xfrm>
          <a:prstGeom prst="rect">
            <a:avLst/>
          </a:prstGeom>
          <a:noFill/>
          <a:ln/>
        </p:spPr>
        <p:txBody>
          <a:bodyPr wrap="square" lIns="0" tIns="0" rIns="0" bIns="0" rtlCol="0" anchor="ctr"/>
          <a:lstStyle/>
          <a:p>
            <a:pPr indent="0" marL="0">
              <a:buNone/>
            </a:pPr>
            <a:r>
              <a:rPr lang="en-US" sz="1300" dirty="0">
                <a:solidFill>
                  <a:srgbClr val="6B6B6B"/>
                </a:solidFill>
                <a:latin typeface="Arial" pitchFamily="34" charset="0"/>
                <a:ea typeface="Arial" pitchFamily="34" charset="-122"/>
                <a:cs typeface="Arial" pitchFamily="34" charset="-120"/>
              </a:rPr>
              <a:t>Los tipos se corrigen en el paso 7. Por ahora se anotan: contar viene antes que limpiar.</a:t>
            </a:r>
            <a:endParaRPr lang="en-US" sz="1300" dirty="0"/>
          </a:p>
        </p:txBody>
      </p:sp>
      <p:sp>
        <p:nvSpPr>
          <p:cNvPr id="12" name="Shape 8"/>
          <p:cNvSpPr/>
          <p:nvPr/>
        </p:nvSpPr>
        <p:spPr>
          <a:xfrm>
            <a:off x="685800" y="6126480"/>
            <a:ext cx="109728" cy="457200"/>
          </a:xfrm>
          <a:prstGeom prst="rect">
            <a:avLst/>
          </a:prstGeom>
          <a:solidFill>
            <a:srgbClr val="A6192E"/>
          </a:solidFill>
          <a:ln/>
        </p:spPr>
      </p:sp>
      <p:sp>
        <p:nvSpPr>
          <p:cNvPr id="13" name="Text 9"/>
          <p:cNvSpPr txBox="1"/>
          <p:nvPr/>
        </p:nvSpPr>
        <p:spPr>
          <a:xfrm>
            <a:off x="960120" y="6126480"/>
            <a:ext cx="10515600" cy="457200"/>
          </a:xfrm>
          <a:prstGeom prst="rect">
            <a:avLst/>
          </a:prstGeom>
          <a:noFill/>
          <a:ln/>
        </p:spPr>
        <p:txBody>
          <a:bodyPr wrap="square" lIns="0" tIns="0" rIns="0" bIns="0" rtlCol="0" anchor="ctr"/>
          <a:lstStyle/>
          <a:p>
            <a:pPr indent="0" marL="0">
              <a:buNone/>
            </a:pPr>
            <a:r>
              <a:rPr lang="en-US" sz="1350" b="1" dirty="0">
                <a:solidFill>
                  <a:srgbClr val="A6192E"/>
                </a:solidFill>
                <a:latin typeface="Arial" pitchFamily="34" charset="0"/>
                <a:ea typeface="Arial" pitchFamily="34" charset="-122"/>
                <a:cs typeface="Arial" pitchFamily="34" charset="-120"/>
              </a:rPr>
              <a:t>BITÁCORA  </a:t>
            </a:r>
            <a:pPr indent="0" marL="0">
              <a:buNone/>
            </a:pPr>
            <a:r>
              <a:rPr lang="en-US" sz="1350" dirty="0">
                <a:solidFill>
                  <a:srgbClr val="1E1E1E"/>
                </a:solidFill>
                <a:latin typeface="Arial" pitchFamily="34" charset="0"/>
                <a:ea typeface="Arial" pitchFamily="34" charset="-122"/>
                <a:cs typeface="Arial" pitchFamily="34" charset="-120"/>
              </a:rPr>
              <a:t>Ventas como texto · 43 · Fechas en dd/mm/yyyy · 35 · decisión: corregir (astype, to_datetime) y verificar el dtype después.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89611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PASO 3 · HUECOS DECLARADOS</a:t>
            </a:r>
            <a:endParaRPr lang="en-US" sz="1300" dirty="0"/>
          </a:p>
        </p:txBody>
      </p:sp>
      <p:sp>
        <p:nvSpPr>
          <p:cNvPr id="3" name="Shape 1"/>
          <p:cNvSpPr/>
          <p:nvPr/>
        </p:nvSpPr>
        <p:spPr>
          <a:xfrm>
            <a:off x="9966960" y="411480"/>
            <a:ext cx="1554480" cy="457200"/>
          </a:xfrm>
          <a:prstGeom prst="roundRect">
            <a:avLst>
              <a:gd name="adj" fmla="val 50000"/>
            </a:avLst>
          </a:prstGeom>
          <a:solidFill>
            <a:srgbClr val="FBEDEF"/>
          </a:solidFill>
          <a:ln w="12700">
            <a:solidFill>
              <a:srgbClr val="A6192E"/>
            </a:solidFill>
            <a:prstDash val="solid"/>
          </a:ln>
        </p:spPr>
      </p:sp>
      <p:sp>
        <p:nvSpPr>
          <p:cNvPr id="4" name="Text 2"/>
          <p:cNvSpPr txBox="1"/>
          <p:nvPr/>
        </p:nvSpPr>
        <p:spPr>
          <a:xfrm>
            <a:off x="9966960" y="411480"/>
            <a:ext cx="1554480" cy="457200"/>
          </a:xfrm>
          <a:prstGeom prst="rect">
            <a:avLst/>
          </a:prstGeom>
          <a:noFill/>
          <a:ln/>
        </p:spPr>
        <p:txBody>
          <a:bodyPr wrap="square" lIns="0" tIns="0" rIns="0" bIns="0" rtlCol="0" anchor="ctr"/>
          <a:lstStyle/>
          <a:p>
            <a:pPr algn="ctr" indent="0" marL="0">
              <a:buNone/>
            </a:pPr>
            <a:r>
              <a:rPr lang="en-US" sz="1200" b="1" dirty="0">
                <a:solidFill>
                  <a:srgbClr val="A6192E"/>
                </a:solidFill>
                <a:latin typeface="Arial" pitchFamily="34" charset="0"/>
                <a:ea typeface="Arial" pitchFamily="34" charset="-122"/>
                <a:cs typeface="Arial" pitchFamily="34" charset="-120"/>
              </a:rPr>
              <a:t>MIN 32–45</a:t>
            </a:r>
            <a:endParaRPr lang="en-US" sz="1200" dirty="0"/>
          </a:p>
        </p:txBody>
      </p:sp>
      <p:sp>
        <p:nvSpPr>
          <p:cNvPr id="6" name="Text 3"/>
          <p:cNvSpPr txBox="1"/>
          <p:nvPr/>
        </p:nvSpPr>
        <p:spPr>
          <a:xfrm>
            <a:off x="685800" y="868680"/>
            <a:ext cx="10789920" cy="54864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isna(): los huecos declarados</a:t>
            </a:r>
            <a:endParaRPr lang="en-US" sz="2700" dirty="0"/>
          </a:p>
        </p:txBody>
      </p:sp>
      <p:sp>
        <p:nvSpPr>
          <p:cNvPr id="7" name="Text 4"/>
          <p:cNvSpPr txBox="1"/>
          <p:nvPr/>
        </p:nvSpPr>
        <p:spPr>
          <a:xfrm>
            <a:off x="685800" y="1554480"/>
            <a:ext cx="54864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CORRE ESTO</a:t>
            </a:r>
            <a:endParaRPr lang="en-US" sz="1150" dirty="0"/>
          </a:p>
        </p:txBody>
      </p:sp>
      <p:sp>
        <p:nvSpPr>
          <p:cNvPr id="8" name="Shape 5"/>
          <p:cNvSpPr/>
          <p:nvPr/>
        </p:nvSpPr>
        <p:spPr>
          <a:xfrm>
            <a:off x="685800" y="1874520"/>
            <a:ext cx="6766560" cy="1750695"/>
          </a:xfrm>
          <a:prstGeom prst="roundRect">
            <a:avLst>
              <a:gd name="adj" fmla="val 4178"/>
            </a:avLst>
          </a:prstGeom>
          <a:solidFill>
            <a:srgbClr val="F4F4F4"/>
          </a:solidFill>
          <a:ln w="9525">
            <a:solidFill>
              <a:srgbClr val="E0E0E0"/>
            </a:solidFill>
            <a:prstDash val="solid"/>
          </a:ln>
        </p:spPr>
      </p:sp>
      <p:sp>
        <p:nvSpPr>
          <p:cNvPr id="9" name="Text 6"/>
          <p:cNvSpPr txBox="1"/>
          <p:nvPr/>
        </p:nvSpPr>
        <p:spPr>
          <a:xfrm>
            <a:off x="850392" y="1984248"/>
            <a:ext cx="6437376" cy="1531239"/>
          </a:xfrm>
          <a:prstGeom prst="rect">
            <a:avLst/>
          </a:prstGeom>
          <a:noFill/>
          <a:ln/>
        </p:spPr>
        <p:txBody>
          <a:bodyPr wrap="square" lIns="0" tIns="0" rIns="0" bIns="0" rtlCol="0" anchor="t"/>
          <a:lstStyle/>
          <a:p>
            <a:pPr indent="0" marL="0">
              <a:lnSpc>
                <a:spcPts val="1813"/>
              </a:lnSpc>
              <a:buNone/>
            </a:pPr>
            <a:r>
              <a:rPr lang="en-US" sz="1250" dirty="0">
                <a:solidFill>
                  <a:srgbClr val="1E1E1E"/>
                </a:solidFill>
                <a:latin typeface="Courier New" pitchFamily="34" charset="0"/>
                <a:ea typeface="Courier New" pitchFamily="34" charset="-122"/>
                <a:cs typeface="Courier New" pitchFamily="34" charset="-120"/>
              </a:rPr>
              <a:t>df.isna().sum()                     </a:t>
            </a:r>
            <a:pPr indent="0" marL="0">
              <a:lnSpc>
                <a:spcPts val="1813"/>
              </a:lnSpc>
              <a:buNone/>
            </a:pPr>
            <a:r>
              <a:rPr lang="en-US" sz="1250" i="1" dirty="0">
                <a:solidFill>
                  <a:srgbClr val="8A8A8A"/>
                </a:solidFill>
                <a:latin typeface="Courier New" pitchFamily="34" charset="0"/>
                <a:ea typeface="Courier New" pitchFamily="34" charset="-122"/>
                <a:cs typeface="Courier New" pitchFamily="34" charset="-120"/>
              </a:rPr>
              <a:t># huecos declarados por columna</a:t>
            </a:r>
            <a:endParaRPr lang="en-US" sz="1250" dirty="0"/>
          </a:p>
          <a:p>
            <a:pPr indent="0" marL="0">
              <a:lnSpc>
                <a:spcPts val="1813"/>
              </a:lnSpc>
              <a:buNone/>
            </a:pPr>
            <a:endParaRPr lang="en-US" sz="1250" dirty="0"/>
          </a:p>
          <a:p>
            <a:pPr indent="0" marL="0">
              <a:lnSpc>
                <a:spcPts val="1813"/>
              </a:lnSpc>
              <a:buNone/>
            </a:pPr>
            <a:r>
              <a:rPr lang="en-US" sz="1250" dirty="0">
                <a:solidFill>
                  <a:srgbClr val="1E1E1E"/>
                </a:solidFill>
                <a:latin typeface="Courier New" pitchFamily="34" charset="0"/>
                <a:ea typeface="Courier New" pitchFamily="34" charset="-122"/>
                <a:cs typeface="Courier New" pitchFamily="34" charset="-120"/>
              </a:rPr>
              <a:t>df["ID Cliente"].isna().sum()       </a:t>
            </a:r>
            <a:pPr indent="0" marL="0">
              <a:lnSpc>
                <a:spcPts val="1813"/>
              </a:lnSpc>
              <a:buNone/>
            </a:pPr>
            <a:r>
              <a:rPr lang="en-US" sz="1250" i="1" dirty="0">
                <a:solidFill>
                  <a:srgbClr val="8A8A8A"/>
                </a:solidFill>
                <a:latin typeface="Courier New" pitchFamily="34" charset="0"/>
                <a:ea typeface="Courier New" pitchFamily="34" charset="-122"/>
                <a:cs typeface="Courier New" pitchFamily="34" charset="-120"/>
              </a:rPr>
              <a:t># 99</a:t>
            </a:r>
            <a:endParaRPr lang="en-US" sz="1250" dirty="0"/>
          </a:p>
          <a:p>
            <a:pPr indent="0" marL="0">
              <a:lnSpc>
                <a:spcPts val="1813"/>
              </a:lnSpc>
              <a:buNone/>
            </a:pPr>
            <a:r>
              <a:rPr lang="en-US" sz="1250" i="1" dirty="0">
                <a:solidFill>
                  <a:srgbClr val="8A8A8A"/>
                </a:solidFill>
                <a:latin typeface="Courier New" pitchFamily="34" charset="0"/>
                <a:ea typeface="Courier New" pitchFamily="34" charset="-122"/>
                <a:cs typeface="Courier New" pitchFamily="34" charset="-120"/>
              </a:rPr>
              <a:t># Auditoría dijo 120. ¿Dónde están los otros 21?</a:t>
            </a:r>
            <a:endParaRPr lang="en-US" sz="1250" dirty="0"/>
          </a:p>
          <a:p>
            <a:pPr indent="0" marL="0">
              <a:lnSpc>
                <a:spcPts val="1813"/>
              </a:lnSpc>
              <a:buNone/>
            </a:pPr>
            <a:endParaRPr lang="en-US" sz="1250" dirty="0"/>
          </a:p>
          <a:p>
            <a:pPr indent="0" marL="0">
              <a:lnSpc>
                <a:spcPts val="1813"/>
              </a:lnSpc>
              <a:buNone/>
            </a:pPr>
            <a:r>
              <a:rPr lang="en-US" sz="1250" dirty="0">
                <a:solidFill>
                  <a:srgbClr val="1E1E1E"/>
                </a:solidFill>
                <a:latin typeface="Courier New" pitchFamily="34" charset="0"/>
                <a:ea typeface="Courier New" pitchFamily="34" charset="-122"/>
                <a:cs typeface="Courier New" pitchFamily="34" charset="-120"/>
              </a:rPr>
              <a:t>df["ID Cliente"].value_counts(dropna=False).head()</a:t>
            </a:r>
            <a:endParaRPr lang="en-US" sz="1250" dirty="0"/>
          </a:p>
        </p:txBody>
      </p:sp>
      <p:sp>
        <p:nvSpPr>
          <p:cNvPr id="10" name="Text 7"/>
          <p:cNvSpPr txBox="1"/>
          <p:nvPr/>
        </p:nvSpPr>
        <p:spPr>
          <a:xfrm>
            <a:off x="685800" y="3794760"/>
            <a:ext cx="54864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LO QUE DEBERÍAS VER · isna().sum()</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4114800"/>
          <a:ext cx="6766560" cy="914400"/>
        </p:xfrm>
        <a:graphic>
          <a:graphicData uri="http://schemas.openxmlformats.org/drawingml/2006/table">
            <a:tbl>
              <a:tblPr/>
              <a:tblGrid>
                <a:gridCol w="2103120"/>
                <a:gridCol w="1280160"/>
                <a:gridCol w="2103120"/>
                <a:gridCol w="1280160"/>
              </a:tblGrid>
              <a:tr h="365760">
                <a:tc>
                  <a:txBody>
                    <a:bodyPr/>
                    <a:lstStyle/>
                    <a:p>
                      <a:pPr algn="l" indent="0" marL="0">
                        <a:buNone/>
                      </a:pPr>
                      <a:r>
                        <a:rPr lang="en-US" sz="1100" b="1" dirty="0">
                          <a:solidFill>
                            <a:srgbClr val="A6192E"/>
                          </a:solidFill>
                          <a:latin typeface="Arial" pitchFamily="34" charset="0"/>
                          <a:ea typeface="Arial" pitchFamily="34" charset="-122"/>
                          <a:cs typeface="Arial" pitchFamily="34" charset="-120"/>
                        </a:rPr>
                        <a:t>Columna</a:t>
                      </a:r>
                      <a:endParaRPr lang="en-US" sz="11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ctr" indent="0" marL="0">
                        <a:buNone/>
                      </a:pPr>
                      <a:r>
                        <a:rPr lang="en-US" sz="1100" b="1" dirty="0">
                          <a:solidFill>
                            <a:srgbClr val="A6192E"/>
                          </a:solidFill>
                          <a:latin typeface="Arial" pitchFamily="34" charset="0"/>
                          <a:ea typeface="Arial" pitchFamily="34" charset="-122"/>
                          <a:cs typeface="Arial" pitchFamily="34" charset="-120"/>
                        </a:rPr>
                        <a:t>Nulos</a:t>
                      </a:r>
                      <a:endParaRPr lang="en-US" sz="11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l" indent="0" marL="0">
                        <a:buNone/>
                      </a:pPr>
                      <a:r>
                        <a:rPr lang="en-US" sz="1100" b="1" dirty="0">
                          <a:solidFill>
                            <a:srgbClr val="A6192E"/>
                          </a:solidFill>
                          <a:latin typeface="Arial" pitchFamily="34" charset="0"/>
                          <a:ea typeface="Arial" pitchFamily="34" charset="-122"/>
                          <a:cs typeface="Arial" pitchFamily="34" charset="-120"/>
                        </a:rPr>
                        <a:t>Columna</a:t>
                      </a:r>
                      <a:endParaRPr lang="en-US" sz="11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ctr" indent="0" marL="0">
                        <a:buNone/>
                      </a:pPr>
                      <a:r>
                        <a:rPr lang="en-US" sz="1100" b="1" dirty="0">
                          <a:solidFill>
                            <a:srgbClr val="A6192E"/>
                          </a:solidFill>
                          <a:latin typeface="Arial" pitchFamily="34" charset="0"/>
                          <a:ea typeface="Arial" pitchFamily="34" charset="-122"/>
                          <a:cs typeface="Arial" pitchFamily="34" charset="-120"/>
                        </a:rPr>
                        <a:t>Nulos</a:t>
                      </a:r>
                      <a:endParaRPr lang="en-US" sz="11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r>
              <a:tr h="365760">
                <a:tc>
                  <a:txBody>
                    <a:bodyPr/>
                    <a:lstStyle/>
                    <a:p>
                      <a:pPr algn="l" indent="0" marL="0">
                        <a:buNone/>
                      </a:pPr>
                      <a:r>
                        <a:rPr lang="en-US" sz="1250" dirty="0">
                          <a:solidFill>
                            <a:srgbClr val="1E1E1E"/>
                          </a:solidFill>
                          <a:latin typeface="Arial" pitchFamily="34" charset="0"/>
                          <a:ea typeface="Arial" pitchFamily="34" charset="-122"/>
                          <a:cs typeface="Arial" pitchFamily="34" charset="-120"/>
                        </a:rPr>
                        <a:t>ID Cliente</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E1E"/>
                          </a:solidFill>
                          <a:latin typeface="Arial" pitchFamily="34" charset="0"/>
                          <a:ea typeface="Arial" pitchFamily="34" charset="-122"/>
                          <a:cs typeface="Arial" pitchFamily="34" charset="-120"/>
                        </a:rPr>
                        <a:t>99</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E1E"/>
                          </a:solidFill>
                          <a:latin typeface="Arial" pitchFamily="34" charset="0"/>
                          <a:ea typeface="Arial" pitchFamily="34" charset="-122"/>
                          <a:cs typeface="Arial" pitchFamily="34" charset="-120"/>
                        </a:rPr>
                        <a:t>Provincia</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E1E"/>
                          </a:solidFill>
                          <a:latin typeface="Arial" pitchFamily="34" charset="0"/>
                          <a:ea typeface="Arial" pitchFamily="34" charset="-122"/>
                          <a:cs typeface="Arial" pitchFamily="34" charset="-120"/>
                        </a:rPr>
                        <a:t>32</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E1E1E"/>
                          </a:solidFill>
                          <a:latin typeface="Arial" pitchFamily="34" charset="0"/>
                          <a:ea typeface="Arial" pitchFamily="34" charset="-122"/>
                          <a:cs typeface="Arial" pitchFamily="34" charset="-120"/>
                        </a:rPr>
                        <a:t>Nombre Cliente</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E1E"/>
                          </a:solidFill>
                          <a:latin typeface="Arial" pitchFamily="34" charset="0"/>
                          <a:ea typeface="Arial" pitchFamily="34" charset="-122"/>
                          <a:cs typeface="Arial" pitchFamily="34" charset="-120"/>
                        </a:rPr>
                        <a:t>120</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E1E"/>
                          </a:solidFill>
                          <a:latin typeface="Arial" pitchFamily="34" charset="0"/>
                          <a:ea typeface="Arial" pitchFamily="34" charset="-122"/>
                          <a:cs typeface="Arial" pitchFamily="34" charset="-120"/>
                        </a:rPr>
                        <a:t>Descuento</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E1E"/>
                          </a:solidFill>
                          <a:latin typeface="Arial" pitchFamily="34" charset="0"/>
                          <a:ea typeface="Arial" pitchFamily="34" charset="-122"/>
                          <a:cs typeface="Arial" pitchFamily="34" charset="-120"/>
                        </a:rPr>
                        <a:t>212</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E1E1E"/>
                          </a:solidFill>
                          <a:latin typeface="Arial" pitchFamily="34" charset="0"/>
                          <a:ea typeface="Arial" pitchFamily="34" charset="-122"/>
                          <a:cs typeface="Arial" pitchFamily="34" charset="-120"/>
                        </a:rPr>
                        <a:t>Todo lo demás</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E1E"/>
                          </a:solidFill>
                          <a:latin typeface="Arial" pitchFamily="34" charset="0"/>
                          <a:ea typeface="Arial" pitchFamily="34" charset="-122"/>
                          <a:cs typeface="Arial" pitchFamily="34" charset="-120"/>
                        </a:rPr>
                        <a:t>0</a:t>
                      </a: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endParaRPr lang="en-US" sz="12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bl>
          </a:graphicData>
        </a:graphic>
      </p:graphicFrame>
      <p:sp>
        <p:nvSpPr>
          <p:cNvPr id="12" name="Shape 8"/>
          <p:cNvSpPr/>
          <p:nvPr/>
        </p:nvSpPr>
        <p:spPr>
          <a:xfrm>
            <a:off x="7772400" y="1554480"/>
            <a:ext cx="3749040" cy="2377440"/>
          </a:xfrm>
          <a:prstGeom prst="rect">
            <a:avLst/>
          </a:prstGeom>
          <a:solidFill>
            <a:srgbClr val="FBEDEF"/>
          </a:solidFill>
          <a:ln/>
        </p:spPr>
      </p:sp>
      <p:sp>
        <p:nvSpPr>
          <p:cNvPr id="13" name="Text 9"/>
          <p:cNvSpPr txBox="1"/>
          <p:nvPr/>
        </p:nvSpPr>
        <p:spPr>
          <a:xfrm>
            <a:off x="8001000" y="1719072"/>
            <a:ext cx="3291840" cy="274320"/>
          </a:xfrm>
          <a:prstGeom prst="rect">
            <a:avLst/>
          </a:prstGeom>
          <a:noFill/>
          <a:ln/>
        </p:spPr>
        <p:txBody>
          <a:bodyPr wrap="square" lIns="0" tIns="0" rIns="0" bIns="0" rtlCol="0" anchor="ctr"/>
          <a:lstStyle/>
          <a:p>
            <a:pPr indent="0" marL="0">
              <a:buNone/>
            </a:pPr>
            <a:r>
              <a:rPr lang="en-US" sz="1100" b="1" spc="150" kern="0" dirty="0">
                <a:solidFill>
                  <a:srgbClr val="A6192E"/>
                </a:solidFill>
                <a:latin typeface="Arial" pitchFamily="34" charset="0"/>
                <a:ea typeface="Arial" pitchFamily="34" charset="-122"/>
                <a:cs typeface="Arial" pitchFamily="34" charset="-120"/>
              </a:rPr>
              <a:t>TU APUESTA</a:t>
            </a:r>
            <a:endParaRPr lang="en-US" sz="1100" dirty="0"/>
          </a:p>
        </p:txBody>
      </p:sp>
      <p:sp>
        <p:nvSpPr>
          <p:cNvPr id="14" name="Text 10"/>
          <p:cNvSpPr txBox="1"/>
          <p:nvPr/>
        </p:nvSpPr>
        <p:spPr>
          <a:xfrm>
            <a:off x="8001000" y="2011680"/>
            <a:ext cx="3291840" cy="1325880"/>
          </a:xfrm>
          <a:prstGeom prst="rect">
            <a:avLst/>
          </a:prstGeom>
          <a:noFill/>
          <a:ln/>
        </p:spPr>
        <p:txBody>
          <a:bodyPr wrap="square" lIns="0" tIns="0" rIns="0" bIns="0" rtlCol="0" anchor="t"/>
          <a:lstStyle/>
          <a:p>
            <a:pPr indent="0" marL="0">
              <a:lnSpc>
                <a:spcPts val="2400"/>
              </a:lnSpc>
              <a:buNone/>
            </a:pPr>
            <a:r>
              <a:rPr lang="en-US" sz="1800" b="1" dirty="0">
                <a:solidFill>
                  <a:srgbClr val="1E1E1E"/>
                </a:solidFill>
                <a:latin typeface="Arial" pitchFamily="34" charset="0"/>
                <a:ea typeface="Arial" pitchFamily="34" charset="-122"/>
                <a:cs typeface="Arial" pitchFamily="34" charset="-120"/>
              </a:rPr>
              <a:t>isna() dice 99. Auditoría dice 120. ¿Cuántas líneas SIN cliente encuentras tú?</a:t>
            </a:r>
            <a:endParaRPr lang="en-US" sz="1800" dirty="0"/>
          </a:p>
        </p:txBody>
      </p:sp>
      <p:sp>
        <p:nvSpPr>
          <p:cNvPr id="15" name="Text 11"/>
          <p:cNvSpPr txBox="1"/>
          <p:nvPr/>
        </p:nvSpPr>
        <p:spPr>
          <a:xfrm>
            <a:off x="8001000" y="3337560"/>
            <a:ext cx="3291840" cy="457200"/>
          </a:xfrm>
          <a:prstGeom prst="rect">
            <a:avLst/>
          </a:prstGeom>
          <a:noFill/>
          <a:ln/>
        </p:spPr>
        <p:txBody>
          <a:bodyPr wrap="square" lIns="0" tIns="0" rIns="0" bIns="0" rtlCol="0" anchor="b"/>
          <a:lstStyle/>
          <a:p>
            <a:pPr indent="0" marL="0">
              <a:buNone/>
            </a:pPr>
            <a:r>
              <a:rPr lang="en-US" sz="1250" dirty="0">
                <a:solidFill>
                  <a:srgbClr val="6B6B6B"/>
                </a:solidFill>
                <a:latin typeface="Arial" pitchFamily="34" charset="0"/>
                <a:ea typeface="Arial" pitchFamily="34" charset="-122"/>
                <a:cs typeface="Arial" pitchFamily="34" charset="-120"/>
              </a:rPr>
              <a:t>Tu número y la línea de código que lo defiende.</a:t>
            </a:r>
            <a:endParaRPr lang="en-US" sz="1250" dirty="0"/>
          </a:p>
        </p:txBody>
      </p:sp>
      <p:sp>
        <p:nvSpPr>
          <p:cNvPr id="16" name="Text 12"/>
          <p:cNvSpPr txBox="1"/>
          <p:nvPr/>
        </p:nvSpPr>
        <p:spPr>
          <a:xfrm>
            <a:off x="7772400" y="4114800"/>
            <a:ext cx="3749040" cy="1188720"/>
          </a:xfrm>
          <a:prstGeom prst="rect">
            <a:avLst/>
          </a:prstGeom>
          <a:noFill/>
          <a:ln/>
        </p:spPr>
        <p:txBody>
          <a:bodyPr wrap="square" lIns="0" tIns="0" rIns="0" bIns="0" rtlCol="0" anchor="ctr"/>
          <a:lstStyle/>
          <a:p>
            <a:pPr indent="0" marL="0">
              <a:lnSpc>
                <a:spcPts val="1800"/>
              </a:lnSpc>
              <a:buNone/>
            </a:pPr>
            <a:r>
              <a:rPr lang="en-US" sz="1300" dirty="0">
                <a:solidFill>
                  <a:srgbClr val="6B6B6B"/>
                </a:solidFill>
                <a:latin typeface="Arial" pitchFamily="34" charset="0"/>
                <a:ea typeface="Arial" pitchFamily="34" charset="-122"/>
                <a:cs typeface="Arial" pitchFamily="34" charset="-120"/>
              </a:rPr>
              <a:t>Fíjate en Nombre Cliente: ahí sí faltan 120. Dos columnas que deberían contar lo mismo y no lo hacen son una pista.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89611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PASO 3 · HUECOS GUARDADOS COMO TEXTO</a:t>
            </a:r>
            <a:endParaRPr lang="en-US" sz="1300" dirty="0"/>
          </a:p>
        </p:txBody>
      </p:sp>
      <p:sp>
        <p:nvSpPr>
          <p:cNvPr id="4" name="Text 1"/>
          <p:cNvSpPr txBox="1"/>
          <p:nvPr/>
        </p:nvSpPr>
        <p:spPr>
          <a:xfrm>
            <a:off x="685800" y="868680"/>
            <a:ext cx="10789920" cy="54864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Los 21 que faltaban se llaman "SIN-ID"</a:t>
            </a:r>
            <a:endParaRPr lang="en-US" sz="2700" dirty="0"/>
          </a:p>
        </p:txBody>
      </p:sp>
      <p:sp>
        <p:nvSpPr>
          <p:cNvPr id="5" name="Text 2"/>
          <p:cNvSpPr txBox="1"/>
          <p:nvPr/>
        </p:nvSpPr>
        <p:spPr>
          <a:xfrm>
            <a:off x="685800" y="1554480"/>
            <a:ext cx="54864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LO QUE DEBERÍAS VER</a:t>
            </a:r>
            <a:endParaRPr lang="en-US" sz="1150" dirty="0"/>
          </a:p>
        </p:txBody>
      </p:sp>
      <p:sp>
        <p:nvSpPr>
          <p:cNvPr id="6" name="Shape 3"/>
          <p:cNvSpPr/>
          <p:nvPr/>
        </p:nvSpPr>
        <p:spPr>
          <a:xfrm>
            <a:off x="685800" y="1874520"/>
            <a:ext cx="5394960" cy="1927860"/>
          </a:xfrm>
          <a:prstGeom prst="roundRect">
            <a:avLst>
              <a:gd name="adj" fmla="val 3794"/>
            </a:avLst>
          </a:prstGeom>
          <a:solidFill>
            <a:srgbClr val="F4F4F4"/>
          </a:solidFill>
          <a:ln w="9525">
            <a:solidFill>
              <a:srgbClr val="E0E0E0"/>
            </a:solidFill>
            <a:prstDash val="solid"/>
          </a:ln>
        </p:spPr>
      </p:sp>
      <p:sp>
        <p:nvSpPr>
          <p:cNvPr id="7" name="Text 4"/>
          <p:cNvSpPr txBox="1"/>
          <p:nvPr/>
        </p:nvSpPr>
        <p:spPr>
          <a:xfrm>
            <a:off x="850392" y="1984248"/>
            <a:ext cx="5065776" cy="1708404"/>
          </a:xfrm>
          <a:prstGeom prst="rect">
            <a:avLst/>
          </a:prstGeom>
          <a:noFill/>
          <a:ln/>
        </p:spPr>
        <p:txBody>
          <a:bodyPr wrap="square" lIns="0" tIns="0" rIns="0" bIns="0" rtlCol="0" anchor="t"/>
          <a:lstStyle/>
          <a:p>
            <a:pPr indent="0" marL="0">
              <a:lnSpc>
                <a:spcPts val="1740"/>
              </a:lnSpc>
              <a:buNone/>
            </a:pPr>
            <a:r>
              <a:rPr lang="en-US" sz="1200" dirty="0">
                <a:solidFill>
                  <a:srgbClr val="1E1E1E"/>
                </a:solidFill>
                <a:latin typeface="Courier New" pitchFamily="34" charset="0"/>
                <a:ea typeface="Courier New" pitchFamily="34" charset="-122"/>
                <a:cs typeface="Courier New" pitchFamily="34" charset="-120"/>
              </a:rPr>
              <a:t>df["ID Cliente"].value_counts(dropna=False).head(4)</a:t>
            </a:r>
            <a:endParaRPr lang="en-US" sz="1200" dirty="0"/>
          </a:p>
          <a:p>
            <a:pPr indent="0" marL="0">
              <a:lnSpc>
                <a:spcPts val="1740"/>
              </a:lnSpc>
              <a:buNone/>
            </a:pPr>
            <a:r>
              <a:rPr lang="en-US" sz="1200" i="1" dirty="0">
                <a:solidFill>
                  <a:srgbClr val="8A8A8A"/>
                </a:solidFill>
                <a:latin typeface="Courier New" pitchFamily="34" charset="0"/>
                <a:ea typeface="Courier New" pitchFamily="34" charset="-122"/>
                <a:cs typeface="Courier New" pitchFamily="34" charset="-120"/>
              </a:rPr>
              <a:t># NaN       99</a:t>
            </a:r>
            <a:endParaRPr lang="en-US" sz="1200" dirty="0"/>
          </a:p>
          <a:p>
            <a:pPr indent="0" marL="0">
              <a:lnSpc>
                <a:spcPts val="1740"/>
              </a:lnSpc>
              <a:buNone/>
            </a:pPr>
            <a:r>
              <a:rPr lang="en-US" sz="1200" i="1" dirty="0">
                <a:solidFill>
                  <a:srgbClr val="8A8A8A"/>
                </a:solidFill>
                <a:latin typeface="Courier New" pitchFamily="34" charset="0"/>
                <a:ea typeface="Courier New" pitchFamily="34" charset="-122"/>
                <a:cs typeface="Courier New" pitchFamily="34" charset="-120"/>
              </a:rPr>
              <a:t># CL-124    35</a:t>
            </a:r>
            <a:endParaRPr lang="en-US" sz="1200" dirty="0"/>
          </a:p>
          <a:p>
            <a:pPr indent="0" marL="0">
              <a:lnSpc>
                <a:spcPts val="1740"/>
              </a:lnSpc>
              <a:buNone/>
            </a:pPr>
            <a:r>
              <a:rPr lang="en-US" sz="1200" i="1" dirty="0">
                <a:solidFill>
                  <a:srgbClr val="8A8A8A"/>
                </a:solidFill>
                <a:latin typeface="Courier New" pitchFamily="34" charset="0"/>
                <a:ea typeface="Courier New" pitchFamily="34" charset="-122"/>
                <a:cs typeface="Courier New" pitchFamily="34" charset="-120"/>
              </a:rPr>
              <a:t># CL-154    30</a:t>
            </a:r>
            <a:endParaRPr lang="en-US" sz="1200" dirty="0"/>
          </a:p>
          <a:p>
            <a:pPr indent="0" marL="0">
              <a:lnSpc>
                <a:spcPts val="1740"/>
              </a:lnSpc>
              <a:buNone/>
            </a:pPr>
            <a:r>
              <a:rPr lang="en-US" sz="1200" i="1" dirty="0">
                <a:solidFill>
                  <a:srgbClr val="8A8A8A"/>
                </a:solidFill>
                <a:latin typeface="Courier New" pitchFamily="34" charset="0"/>
                <a:ea typeface="Courier New" pitchFamily="34" charset="-122"/>
                <a:cs typeface="Courier New" pitchFamily="34" charset="-120"/>
              </a:rPr>
              <a:t># CL-170    29</a:t>
            </a:r>
            <a:endParaRPr lang="en-US" sz="1200" dirty="0"/>
          </a:p>
          <a:p>
            <a:pPr indent="0" marL="0">
              <a:lnSpc>
                <a:spcPts val="1740"/>
              </a:lnSpc>
              <a:buNone/>
            </a:pPr>
            <a:r>
              <a:rPr lang="en-US" sz="1200" dirty="0">
                <a:solidFill>
                  <a:srgbClr val="1E1E1E"/>
                </a:solidFill>
                <a:latin typeface="Courier New" pitchFamily="34" charset="0"/>
                <a:ea typeface="Courier New" pitchFamily="34" charset="-122"/>
                <a:cs typeface="Courier New" pitchFamily="34" charset="-120"/>
              </a:rPr>
              <a:t>df["ID Cliente"].isin(["SIN-ID"]).sum()</a:t>
            </a:r>
            <a:endParaRPr lang="en-US" sz="1200" dirty="0"/>
          </a:p>
          <a:p>
            <a:pPr indent="0" marL="0">
              <a:lnSpc>
                <a:spcPts val="1740"/>
              </a:lnSpc>
              <a:buNone/>
            </a:pPr>
            <a:r>
              <a:rPr lang="en-US" sz="1200" i="1" dirty="0">
                <a:solidFill>
                  <a:srgbClr val="8A8A8A"/>
                </a:solidFill>
                <a:latin typeface="Courier New" pitchFamily="34" charset="0"/>
                <a:ea typeface="Courier New" pitchFamily="34" charset="-122"/>
                <a:cs typeface="Courier New" pitchFamily="34" charset="-120"/>
              </a:rPr>
              <a:t># 21</a:t>
            </a:r>
            <a:endParaRPr lang="en-US" sz="1200" dirty="0"/>
          </a:p>
        </p:txBody>
      </p:sp>
      <p:sp>
        <p:nvSpPr>
          <p:cNvPr id="8" name="Text 5"/>
          <p:cNvSpPr txBox="1"/>
          <p:nvPr/>
        </p:nvSpPr>
        <p:spPr>
          <a:xfrm>
            <a:off x="6400800" y="1554480"/>
            <a:ext cx="54864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LA MÁSCARA QUE CUADRA CON AUDITORÍA</a:t>
            </a:r>
            <a:endParaRPr lang="en-US" sz="1150" dirty="0"/>
          </a:p>
        </p:txBody>
      </p:sp>
      <p:sp>
        <p:nvSpPr>
          <p:cNvPr id="9" name="Shape 6"/>
          <p:cNvSpPr/>
          <p:nvPr/>
        </p:nvSpPr>
        <p:spPr>
          <a:xfrm>
            <a:off x="6400800" y="1874520"/>
            <a:ext cx="5120640" cy="1691640"/>
          </a:xfrm>
          <a:prstGeom prst="roundRect">
            <a:avLst>
              <a:gd name="adj" fmla="val 4324"/>
            </a:avLst>
          </a:prstGeom>
          <a:solidFill>
            <a:srgbClr val="F4F4F4"/>
          </a:solidFill>
          <a:ln w="9525">
            <a:solidFill>
              <a:srgbClr val="E0E0E0"/>
            </a:solidFill>
            <a:prstDash val="solid"/>
          </a:ln>
        </p:spPr>
      </p:sp>
      <p:sp>
        <p:nvSpPr>
          <p:cNvPr id="10" name="Text 7"/>
          <p:cNvSpPr txBox="1"/>
          <p:nvPr/>
        </p:nvSpPr>
        <p:spPr>
          <a:xfrm>
            <a:off x="6565392" y="1984248"/>
            <a:ext cx="4791456" cy="1472184"/>
          </a:xfrm>
          <a:prstGeom prst="rect">
            <a:avLst/>
          </a:prstGeom>
          <a:noFill/>
          <a:ln/>
        </p:spPr>
        <p:txBody>
          <a:bodyPr wrap="square" lIns="0" tIns="0" rIns="0" bIns="0" rtlCol="0" anchor="t"/>
          <a:lstStyle/>
          <a:p>
            <a:pPr indent="0" marL="0">
              <a:lnSpc>
                <a:spcPts val="1740"/>
              </a:lnSpc>
              <a:buNone/>
            </a:pPr>
            <a:r>
              <a:rPr lang="en-US" sz="1200" dirty="0">
                <a:solidFill>
                  <a:srgbClr val="1E1E1E"/>
                </a:solidFill>
                <a:latin typeface="Courier New" pitchFamily="34" charset="0"/>
                <a:ea typeface="Courier New" pitchFamily="34" charset="-122"/>
                <a:cs typeface="Courier New" pitchFamily="34" charset="-120"/>
              </a:rPr>
              <a:t>c = df["ID Cliente"]</a:t>
            </a:r>
            <a:endParaRPr lang="en-US" sz="1200" dirty="0"/>
          </a:p>
          <a:p>
            <a:pPr indent="0" marL="0">
              <a:lnSpc>
                <a:spcPts val="1740"/>
              </a:lnSpc>
              <a:buNone/>
            </a:pPr>
            <a:r>
              <a:rPr lang="en-US" sz="1200" dirty="0">
                <a:solidFill>
                  <a:srgbClr val="1E1E1E"/>
                </a:solidFill>
                <a:latin typeface="Courier New" pitchFamily="34" charset="0"/>
                <a:ea typeface="Courier New" pitchFamily="34" charset="-122"/>
                <a:cs typeface="Courier New" pitchFamily="34" charset="-120"/>
              </a:rPr>
              <a:t>sin_cliente = c.isna() | c.isin(["", "SIN-ID"])</a:t>
            </a:r>
            <a:endParaRPr lang="en-US" sz="1200" dirty="0"/>
          </a:p>
          <a:p>
            <a:pPr indent="0" marL="0">
              <a:lnSpc>
                <a:spcPts val="1740"/>
              </a:lnSpc>
              <a:buNone/>
            </a:pPr>
            <a:r>
              <a:rPr lang="en-US" sz="1200" dirty="0">
                <a:solidFill>
                  <a:srgbClr val="1E1E1E"/>
                </a:solidFill>
                <a:latin typeface="Courier New" pitchFamily="34" charset="0"/>
                <a:ea typeface="Courier New" pitchFamily="34" charset="-122"/>
                <a:cs typeface="Courier New" pitchFamily="34" charset="-120"/>
              </a:rPr>
              <a:t>sin_cliente.sum()</a:t>
            </a:r>
            <a:endParaRPr lang="en-US" sz="1200" dirty="0"/>
          </a:p>
          <a:p>
            <a:pPr indent="0" marL="0">
              <a:lnSpc>
                <a:spcPts val="1740"/>
              </a:lnSpc>
              <a:buNone/>
            </a:pPr>
            <a:r>
              <a:rPr lang="en-US" sz="1200" i="1" dirty="0">
                <a:solidFill>
                  <a:srgbClr val="8A8A8A"/>
                </a:solidFill>
                <a:latin typeface="Courier New" pitchFamily="34" charset="0"/>
                <a:ea typeface="Courier New" pitchFamily="34" charset="-122"/>
                <a:cs typeface="Courier New" pitchFamily="34" charset="-120"/>
              </a:rPr>
              <a:t># 120</a:t>
            </a:r>
            <a:endParaRPr lang="en-US" sz="1200" dirty="0"/>
          </a:p>
          <a:p>
            <a:pPr indent="0" marL="0">
              <a:lnSpc>
                <a:spcPts val="1740"/>
              </a:lnSpc>
              <a:buNone/>
            </a:pPr>
            <a:r>
              <a:rPr lang="en-US" sz="1200" dirty="0">
                <a:solidFill>
                  <a:srgbClr val="1E1E1E"/>
                </a:solidFill>
                <a:latin typeface="Courier New" pitchFamily="34" charset="0"/>
                <a:ea typeface="Courier New" pitchFamily="34" charset="-122"/>
                <a:cs typeface="Courier New" pitchFamily="34" charset="-120"/>
              </a:rPr>
              <a:t>df["Nombre Cliente"].isna().sum()</a:t>
            </a:r>
            <a:endParaRPr lang="en-US" sz="1200" dirty="0"/>
          </a:p>
          <a:p>
            <a:pPr indent="0" marL="0">
              <a:lnSpc>
                <a:spcPts val="1740"/>
              </a:lnSpc>
              <a:buNone/>
            </a:pPr>
            <a:r>
              <a:rPr lang="en-US" sz="1200" i="1" dirty="0">
                <a:solidFill>
                  <a:srgbClr val="8A8A8A"/>
                </a:solidFill>
                <a:latin typeface="Courier New" pitchFamily="34" charset="0"/>
                <a:ea typeface="Courier New" pitchFamily="34" charset="-122"/>
                <a:cs typeface="Courier New" pitchFamily="34" charset="-120"/>
              </a:rPr>
              <a:t># 120   ← la segunda columna lo confirma</a:t>
            </a:r>
            <a:endParaRPr lang="en-US" sz="1200" dirty="0"/>
          </a:p>
        </p:txBody>
      </p:sp>
      <p:sp>
        <p:nvSpPr>
          <p:cNvPr id="11" name="Shape 8"/>
          <p:cNvSpPr/>
          <p:nvPr/>
        </p:nvSpPr>
        <p:spPr>
          <a:xfrm>
            <a:off x="685800" y="4206240"/>
            <a:ext cx="10835640" cy="914400"/>
          </a:xfrm>
          <a:prstGeom prst="rect">
            <a:avLst/>
          </a:prstGeom>
          <a:solidFill>
            <a:srgbClr val="FBEDEF"/>
          </a:solidFill>
          <a:ln/>
        </p:spPr>
      </p:sp>
      <p:sp>
        <p:nvSpPr>
          <p:cNvPr id="12" name="Text 9"/>
          <p:cNvSpPr txBox="1"/>
          <p:nvPr/>
        </p:nvSpPr>
        <p:spPr>
          <a:xfrm>
            <a:off x="914400" y="4206240"/>
            <a:ext cx="10424160" cy="914400"/>
          </a:xfrm>
          <a:prstGeom prst="rect">
            <a:avLst/>
          </a:prstGeom>
          <a:noFill/>
          <a:ln/>
        </p:spPr>
        <p:txBody>
          <a:bodyPr wrap="square" lIns="0" tIns="0" rIns="0" bIns="0" rtlCol="0" anchor="ctr"/>
          <a:lstStyle/>
          <a:p>
            <a:pPr indent="0" marL="0">
              <a:lnSpc>
                <a:spcPts val="2100"/>
              </a:lnSpc>
              <a:buNone/>
            </a:pPr>
            <a:r>
              <a:rPr lang="en-US" sz="1500" b="1" dirty="0">
                <a:solidFill>
                  <a:srgbClr val="A6192E"/>
                </a:solidFill>
                <a:latin typeface="Arial" pitchFamily="34" charset="0"/>
                <a:ea typeface="Arial" pitchFamily="34" charset="-122"/>
                <a:cs typeface="Arial" pitchFamily="34" charset="-120"/>
              </a:rPr>
              <a:t>isna() encuentra los huecos declarados como NaN. Los guardados como texto o como número ("", "SIN-ID", "N/A", -9999) se encuentran con value_counts(dropna=False) e isin().</a:t>
            </a:r>
            <a:endParaRPr lang="en-US" sz="1500" dirty="0"/>
          </a:p>
        </p:txBody>
      </p:sp>
      <p:sp>
        <p:nvSpPr>
          <p:cNvPr id="13" name="Text 10"/>
          <p:cNvSpPr txBox="1"/>
          <p:nvPr/>
        </p:nvSpPr>
        <p:spPr>
          <a:xfrm>
            <a:off x="685800" y="5303520"/>
            <a:ext cx="10835640" cy="457200"/>
          </a:xfrm>
          <a:prstGeom prst="rect">
            <a:avLst/>
          </a:prstGeom>
          <a:noFill/>
          <a:ln/>
        </p:spPr>
        <p:txBody>
          <a:bodyPr wrap="square" lIns="0" tIns="0" rIns="0" bIns="0" rtlCol="0" anchor="ctr"/>
          <a:lstStyle/>
          <a:p>
            <a:pPr indent="0" marL="0">
              <a:buNone/>
            </a:pPr>
            <a:r>
              <a:rPr lang="en-US" sz="1300" dirty="0">
                <a:solidFill>
                  <a:srgbClr val="6B6B6B"/>
                </a:solidFill>
                <a:latin typeface="Arial" pitchFamily="34" charset="0"/>
                <a:ea typeface="Arial" pitchFamily="34" charset="-122"/>
                <a:cs typeface="Arial" pitchFamily="34" charset="-120"/>
              </a:rPr>
              <a:t>Sobre toda columna sospechosa, primero value_counts(dropna=False).</a:t>
            </a:r>
            <a:endParaRPr lang="en-US" sz="1300" dirty="0"/>
          </a:p>
        </p:txBody>
      </p:sp>
      <p:sp>
        <p:nvSpPr>
          <p:cNvPr id="14" name="Shape 11"/>
          <p:cNvSpPr/>
          <p:nvPr/>
        </p:nvSpPr>
        <p:spPr>
          <a:xfrm>
            <a:off x="685800" y="6126480"/>
            <a:ext cx="109728" cy="457200"/>
          </a:xfrm>
          <a:prstGeom prst="rect">
            <a:avLst/>
          </a:prstGeom>
          <a:solidFill>
            <a:srgbClr val="A6192E"/>
          </a:solidFill>
          <a:ln/>
        </p:spPr>
      </p:sp>
      <p:sp>
        <p:nvSpPr>
          <p:cNvPr id="15" name="Text 12"/>
          <p:cNvSpPr txBox="1"/>
          <p:nvPr/>
        </p:nvSpPr>
        <p:spPr>
          <a:xfrm>
            <a:off x="960120" y="6126480"/>
            <a:ext cx="10515600" cy="457200"/>
          </a:xfrm>
          <a:prstGeom prst="rect">
            <a:avLst/>
          </a:prstGeom>
          <a:noFill/>
          <a:ln/>
        </p:spPr>
        <p:txBody>
          <a:bodyPr wrap="square" lIns="0" tIns="0" rIns="0" bIns="0" rtlCol="0" anchor="ctr"/>
          <a:lstStyle/>
          <a:p>
            <a:pPr indent="0" marL="0">
              <a:buNone/>
            </a:pPr>
            <a:r>
              <a:rPr lang="en-US" sz="1350" b="1" dirty="0">
                <a:solidFill>
                  <a:srgbClr val="A6192E"/>
                </a:solidFill>
                <a:latin typeface="Arial" pitchFamily="34" charset="0"/>
                <a:ea typeface="Arial" pitchFamily="34" charset="-122"/>
                <a:cs typeface="Arial" pitchFamily="34" charset="-120"/>
              </a:rPr>
              <a:t>BITÁCORA  </a:t>
            </a:r>
            <a:pPr indent="0" marL="0">
              <a:buNone/>
            </a:pPr>
            <a:r>
              <a:rPr lang="en-US" sz="1350" dirty="0">
                <a:solidFill>
                  <a:srgbClr val="1E1E1E"/>
                </a:solidFill>
                <a:latin typeface="Arial" pitchFamily="34" charset="0"/>
                <a:ea typeface="Arial" pitchFamily="34" charset="-122"/>
                <a:cs typeface="Arial" pitchFamily="34" charset="-120"/>
              </a:rPr>
              <a:t>Sin ID Cliente · 120 (99 NaN + 21 "SIN-ID") · evidencia: la máscara · decisión: pendiente, depende del paso siguiente.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89611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PASO 3 · DÓNDE SE CONCENTRA EL HUECO</a:t>
            </a:r>
            <a:endParaRPr lang="en-US" sz="1300" dirty="0"/>
          </a:p>
        </p:txBody>
      </p:sp>
      <p:sp>
        <p:nvSpPr>
          <p:cNvPr id="4" name="Text 1"/>
          <p:cNvSpPr txBox="1"/>
          <p:nvPr/>
        </p:nvSpPr>
        <p:spPr>
          <a:xfrm>
            <a:off x="685800" y="868680"/>
            <a:ext cx="10789920" cy="54864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El hueco se concentra en una región</a:t>
            </a:r>
            <a:endParaRPr lang="en-US" sz="2700" dirty="0"/>
          </a:p>
        </p:txBody>
      </p:sp>
      <p:sp>
        <p:nvSpPr>
          <p:cNvPr id="5" name="Shape 2"/>
          <p:cNvSpPr/>
          <p:nvPr/>
        </p:nvSpPr>
        <p:spPr>
          <a:xfrm>
            <a:off x="685800" y="1554480"/>
            <a:ext cx="4937760" cy="1927860"/>
          </a:xfrm>
          <a:prstGeom prst="roundRect">
            <a:avLst>
              <a:gd name="adj" fmla="val 3794"/>
            </a:avLst>
          </a:prstGeom>
          <a:solidFill>
            <a:srgbClr val="F4F4F4"/>
          </a:solidFill>
          <a:ln w="9525">
            <a:solidFill>
              <a:srgbClr val="E0E0E0"/>
            </a:solidFill>
            <a:prstDash val="solid"/>
          </a:ln>
        </p:spPr>
      </p:sp>
      <p:sp>
        <p:nvSpPr>
          <p:cNvPr id="6" name="Text 3"/>
          <p:cNvSpPr txBox="1"/>
          <p:nvPr/>
        </p:nvSpPr>
        <p:spPr>
          <a:xfrm>
            <a:off x="850392" y="1664208"/>
            <a:ext cx="4608576" cy="1708404"/>
          </a:xfrm>
          <a:prstGeom prst="rect">
            <a:avLst/>
          </a:prstGeom>
          <a:noFill/>
          <a:ln/>
        </p:spPr>
        <p:txBody>
          <a:bodyPr wrap="square" lIns="0" tIns="0" rIns="0" bIns="0" rtlCol="0" anchor="t"/>
          <a:lstStyle/>
          <a:p>
            <a:pPr indent="0" marL="0">
              <a:lnSpc>
                <a:spcPts val="1740"/>
              </a:lnSpc>
              <a:buNone/>
            </a:pPr>
            <a:r>
              <a:rPr lang="en-US" sz="1200" dirty="0">
                <a:solidFill>
                  <a:srgbClr val="1E1E1E"/>
                </a:solidFill>
                <a:latin typeface="Courier New" pitchFamily="34" charset="0"/>
                <a:ea typeface="Courier New" pitchFamily="34" charset="-122"/>
                <a:cs typeface="Courier New" pitchFamily="34" charset="-120"/>
              </a:rPr>
              <a:t>(df.assign(sin=sin_cliente)</a:t>
            </a:r>
            <a:endParaRPr lang="en-US" sz="1200" dirty="0"/>
          </a:p>
          <a:p>
            <a:pPr indent="0" marL="0">
              <a:lnSpc>
                <a:spcPts val="1740"/>
              </a:lnSpc>
              <a:buNone/>
            </a:pPr>
            <a:r>
              <a:rPr lang="en-US" sz="1200" dirty="0">
                <a:solidFill>
                  <a:srgbClr val="1E1E1E"/>
                </a:solidFill>
                <a:latin typeface="Courier New" pitchFamily="34" charset="0"/>
                <a:ea typeface="Courier New" pitchFamily="34" charset="-122"/>
                <a:cs typeface="Courier New" pitchFamily="34" charset="-120"/>
              </a:rPr>
              <a:t>   .groupby("Región")["sin"].mean()</a:t>
            </a:r>
            <a:endParaRPr lang="en-US" sz="1200" dirty="0"/>
          </a:p>
          <a:p>
            <a:pPr indent="0" marL="0">
              <a:lnSpc>
                <a:spcPts val="1740"/>
              </a:lnSpc>
              <a:buNone/>
            </a:pPr>
            <a:r>
              <a:rPr lang="en-US" sz="1200" dirty="0">
                <a:solidFill>
                  <a:srgbClr val="1E1E1E"/>
                </a:solidFill>
                <a:latin typeface="Courier New" pitchFamily="34" charset="0"/>
                <a:ea typeface="Courier New" pitchFamily="34" charset="-122"/>
                <a:cs typeface="Courier New" pitchFamily="34" charset="-120"/>
              </a:rPr>
              <a:t>   .mul(100).round(1))</a:t>
            </a:r>
            <a:endParaRPr lang="en-US" sz="1200" dirty="0"/>
          </a:p>
          <a:p>
            <a:pPr indent="0" marL="0">
              <a:lnSpc>
                <a:spcPts val="1740"/>
              </a:lnSpc>
              <a:buNone/>
            </a:pPr>
            <a:r>
              <a:rPr lang="en-US" sz="1200" i="1" dirty="0">
                <a:solidFill>
                  <a:srgbClr val="8A8A8A"/>
                </a:solidFill>
                <a:latin typeface="Courier New" pitchFamily="34" charset="0"/>
                <a:ea typeface="Courier New" pitchFamily="34" charset="-122"/>
                <a:cs typeface="Courier New" pitchFamily="34" charset="-120"/>
              </a:rPr>
              <a:t># Amazonía     0.0</a:t>
            </a:r>
            <a:endParaRPr lang="en-US" sz="1200" dirty="0"/>
          </a:p>
          <a:p>
            <a:pPr indent="0" marL="0">
              <a:lnSpc>
                <a:spcPts val="1740"/>
              </a:lnSpc>
              <a:buNone/>
            </a:pPr>
            <a:r>
              <a:rPr lang="en-US" sz="1200" i="1" dirty="0">
                <a:solidFill>
                  <a:srgbClr val="8A8A8A"/>
                </a:solidFill>
                <a:latin typeface="Courier New" pitchFamily="34" charset="0"/>
                <a:ea typeface="Courier New" pitchFamily="34" charset="-122"/>
                <a:cs typeface="Courier New" pitchFamily="34" charset="-120"/>
              </a:rPr>
              <a:t># Costa       11.4</a:t>
            </a:r>
            <a:endParaRPr lang="en-US" sz="1200" dirty="0"/>
          </a:p>
          <a:p>
            <a:pPr indent="0" marL="0">
              <a:lnSpc>
                <a:spcPts val="1740"/>
              </a:lnSpc>
              <a:buNone/>
            </a:pPr>
            <a:r>
              <a:rPr lang="en-US" sz="1200" i="1" dirty="0">
                <a:solidFill>
                  <a:srgbClr val="8A8A8A"/>
                </a:solidFill>
                <a:latin typeface="Courier New" pitchFamily="34" charset="0"/>
                <a:ea typeface="Courier New" pitchFamily="34" charset="-122"/>
                <a:cs typeface="Courier New" pitchFamily="34" charset="-120"/>
              </a:rPr>
              <a:t># Galápagos    3.6</a:t>
            </a:r>
            <a:endParaRPr lang="en-US" sz="1200" dirty="0"/>
          </a:p>
          <a:p>
            <a:pPr indent="0" marL="0">
              <a:lnSpc>
                <a:spcPts val="1740"/>
              </a:lnSpc>
              <a:buNone/>
            </a:pPr>
            <a:r>
              <a:rPr lang="en-US" sz="1200" i="1" dirty="0">
                <a:solidFill>
                  <a:srgbClr val="8A8A8A"/>
                </a:solidFill>
                <a:latin typeface="Courier New" pitchFamily="34" charset="0"/>
                <a:ea typeface="Courier New" pitchFamily="34" charset="-122"/>
                <a:cs typeface="Courier New" pitchFamily="34" charset="-120"/>
              </a:rPr>
              <a:t># Sierra       7.1</a:t>
            </a:r>
            <a:endParaRPr lang="en-US" sz="1200" dirty="0"/>
          </a:p>
        </p:txBody>
      </p:sp>
      <p:pic>
        <p:nvPicPr>
          <p:cNvPr id="7" name="Image 0" descr="img_deck/fig1_sin_cliente_region.png">    </p:cNvPr>
          <p:cNvPicPr>
            <a:picLocks noChangeAspect="1"/>
          </p:cNvPicPr>
          <p:nvPr/>
        </p:nvPicPr>
        <p:blipFill>
          <a:blip r:embed="rId1"/>
          <a:stretch>
            <a:fillRect/>
          </a:stretch>
        </p:blipFill>
        <p:spPr>
          <a:xfrm>
            <a:off x="685800" y="3657600"/>
            <a:ext cx="4389120" cy="2297110"/>
          </a:xfrm>
          <a:prstGeom prst="rect">
            <a:avLst/>
          </a:prstGeom>
        </p:spPr>
      </p:pic>
      <p:sp>
        <p:nvSpPr>
          <p:cNvPr id="8" name="Text 4"/>
          <p:cNvSpPr txBox="1"/>
          <p:nvPr/>
        </p:nvSpPr>
        <p:spPr>
          <a:xfrm>
            <a:off x="6035040" y="1554480"/>
            <a:ext cx="54864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TEORÍA · LOS TRES SIGNIFICADOS DE UN HUECO</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035040" y="1874520"/>
          <a:ext cx="5486400" cy="914400"/>
        </p:xfrm>
        <a:graphic>
          <a:graphicData uri="http://schemas.openxmlformats.org/drawingml/2006/table">
            <a:tbl>
              <a:tblPr/>
              <a:tblGrid>
                <a:gridCol w="1188720"/>
                <a:gridCol w="2286000"/>
                <a:gridCol w="2011680"/>
              </a:tblGrid>
              <a:tr h="566928">
                <a:tc>
                  <a:txBody>
                    <a:bodyPr/>
                    <a:lstStyle/>
                    <a:p>
                      <a:pPr algn="l" indent="0" marL="0">
                        <a:buNone/>
                      </a:pPr>
                      <a:r>
                        <a:rPr lang="en-US" sz="1000" b="1" dirty="0">
                          <a:solidFill>
                            <a:srgbClr val="A6192E"/>
                          </a:solidFill>
                          <a:latin typeface="Arial" pitchFamily="34" charset="0"/>
                          <a:ea typeface="Arial" pitchFamily="34" charset="-122"/>
                          <a:cs typeface="Arial" pitchFamily="34" charset="-120"/>
                        </a:rPr>
                        <a:t>Caso</a:t>
                      </a:r>
                      <a:endParaRPr lang="en-US" sz="10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l" indent="0" marL="0">
                        <a:buNone/>
                      </a:pPr>
                      <a:r>
                        <a:rPr lang="en-US" sz="1000" b="1" dirty="0">
                          <a:solidFill>
                            <a:srgbClr val="A6192E"/>
                          </a:solidFill>
                          <a:latin typeface="Arial" pitchFamily="34" charset="0"/>
                          <a:ea typeface="Arial" pitchFamily="34" charset="-122"/>
                          <a:cs typeface="Arial" pitchFamily="34" charset="-120"/>
                        </a:rPr>
                        <a:t>Qué es</a:t>
                      </a:r>
                      <a:endParaRPr lang="en-US" sz="10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l" indent="0" marL="0">
                        <a:buNone/>
                      </a:pPr>
                      <a:r>
                        <a:rPr lang="en-US" sz="1000" b="1" dirty="0">
                          <a:solidFill>
                            <a:srgbClr val="A6192E"/>
                          </a:solidFill>
                          <a:latin typeface="Arial" pitchFamily="34" charset="0"/>
                          <a:ea typeface="Arial" pitchFamily="34" charset="-122"/>
                          <a:cs typeface="Arial" pitchFamily="34" charset="-120"/>
                        </a:rPr>
                        <a:t>En Andina Market</a:t>
                      </a:r>
                      <a:endParaRPr lang="en-US" sz="10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r>
              <a:tr h="566928">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Ausente</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El valor existe en el mundo, nadie lo capturó.</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Provincia vacía de un pedido despachado.</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566928">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Cero</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El valor es exactamente cero. Es un dato, no un hueco.</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Descuento = 0: hubo venta sin rebaja.</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566928">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Desconocido</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Ni siquiera sabemos si existe un valor.</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1E1E"/>
                          </a:solidFill>
                          <a:latin typeface="Arial" pitchFamily="34" charset="0"/>
                          <a:ea typeface="Arial" pitchFamily="34" charset="-122"/>
                          <a:cs typeface="Arial" pitchFamily="34" charset="-120"/>
                        </a:rPr>
                        <a:t>ID Cliente vacío: ¿anónimo o perdido?</a:t>
                      </a:r>
                      <a:endParaRPr lang="en-US" sz="11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bl>
          </a:graphicData>
        </a:graphic>
      </p:graphicFrame>
      <p:sp>
        <p:nvSpPr>
          <p:cNvPr id="10" name="Shape 5"/>
          <p:cNvSpPr/>
          <p:nvPr/>
        </p:nvSpPr>
        <p:spPr>
          <a:xfrm>
            <a:off x="6035040" y="4343400"/>
            <a:ext cx="5486400" cy="914400"/>
          </a:xfrm>
          <a:prstGeom prst="rect">
            <a:avLst/>
          </a:prstGeom>
          <a:solidFill>
            <a:srgbClr val="FBEDEF"/>
          </a:solidFill>
          <a:ln/>
        </p:spPr>
      </p:sp>
      <p:sp>
        <p:nvSpPr>
          <p:cNvPr id="11" name="Text 6"/>
          <p:cNvSpPr txBox="1"/>
          <p:nvPr/>
        </p:nvSpPr>
        <p:spPr>
          <a:xfrm>
            <a:off x="6263640" y="4343400"/>
            <a:ext cx="5029200" cy="914400"/>
          </a:xfrm>
          <a:prstGeom prst="rect">
            <a:avLst/>
          </a:prstGeom>
          <a:noFill/>
          <a:ln/>
        </p:spPr>
        <p:txBody>
          <a:bodyPr wrap="square" lIns="0" tIns="0" rIns="0" bIns="0" rtlCol="0" anchor="ctr"/>
          <a:lstStyle/>
          <a:p>
            <a:pPr indent="0" marL="0">
              <a:lnSpc>
                <a:spcPts val="1800"/>
              </a:lnSpc>
              <a:buNone/>
            </a:pPr>
            <a:r>
              <a:rPr lang="en-US" sz="1350" b="1" dirty="0">
                <a:solidFill>
                  <a:srgbClr val="A6192E"/>
                </a:solidFill>
                <a:latin typeface="Arial" pitchFamily="34" charset="0"/>
                <a:ea typeface="Arial" pitchFamily="34" charset="-122"/>
                <a:cs typeface="Arial" pitchFamily="34" charset="-120"/>
              </a:rPr>
              <a:t>Un faltante concentrado en una región, canal o turno apunta a un proceso de captura distinto. Antes de imputar o borrar, preguntar cómo se captura el campo.</a:t>
            </a:r>
            <a:endParaRPr lang="en-US" sz="1350" dirty="0"/>
          </a:p>
        </p:txBody>
      </p:sp>
      <p:sp>
        <p:nvSpPr>
          <p:cNvPr id="12" name="Text 7"/>
          <p:cNvSpPr txBox="1"/>
          <p:nvPr/>
        </p:nvSpPr>
        <p:spPr>
          <a:xfrm>
            <a:off x="6035040" y="5394960"/>
            <a:ext cx="5486400" cy="548640"/>
          </a:xfrm>
          <a:prstGeom prst="rect">
            <a:avLst/>
          </a:prstGeom>
          <a:noFill/>
          <a:ln/>
        </p:spPr>
        <p:txBody>
          <a:bodyPr wrap="square" lIns="0" tIns="0" rIns="0" bIns="0" rtlCol="0" anchor="ctr"/>
          <a:lstStyle/>
          <a:p>
            <a:pPr indent="0" marL="0">
              <a:lnSpc>
                <a:spcPts val="1700"/>
              </a:lnSpc>
              <a:buNone/>
            </a:pPr>
            <a:r>
              <a:rPr lang="en-US" sz="1250" dirty="0">
                <a:solidFill>
                  <a:srgbClr val="6B6B6B"/>
                </a:solidFill>
                <a:latin typeface="Arial" pitchFamily="34" charset="0"/>
                <a:ea typeface="Arial" pitchFamily="34" charset="-122"/>
                <a:cs typeface="Arial" pitchFamily="34" charset="-120"/>
              </a:rPr>
              <a:t>Respuesta a la apuesta del correo: D. Con la tabla sola no se distingue una venta de mostrador de un olvido; hay que preguntar al proceso.</a:t>
            </a:r>
            <a:endParaRPr lang="en-US" sz="1250" dirty="0"/>
          </a:p>
        </p:txBody>
      </p:sp>
      <p:sp>
        <p:nvSpPr>
          <p:cNvPr id="13" name="Shape 8"/>
          <p:cNvSpPr/>
          <p:nvPr/>
        </p:nvSpPr>
        <p:spPr>
          <a:xfrm>
            <a:off x="685800" y="6126480"/>
            <a:ext cx="109728" cy="457200"/>
          </a:xfrm>
          <a:prstGeom prst="rect">
            <a:avLst/>
          </a:prstGeom>
          <a:solidFill>
            <a:srgbClr val="A6192E"/>
          </a:solidFill>
          <a:ln/>
        </p:spPr>
      </p:sp>
      <p:sp>
        <p:nvSpPr>
          <p:cNvPr id="14" name="Text 9"/>
          <p:cNvSpPr txBox="1"/>
          <p:nvPr/>
        </p:nvSpPr>
        <p:spPr>
          <a:xfrm>
            <a:off x="960120" y="6126480"/>
            <a:ext cx="10515600" cy="457200"/>
          </a:xfrm>
          <a:prstGeom prst="rect">
            <a:avLst/>
          </a:prstGeom>
          <a:noFill/>
          <a:ln/>
        </p:spPr>
        <p:txBody>
          <a:bodyPr wrap="square" lIns="0" tIns="0" rIns="0" bIns="0" rtlCol="0" anchor="ctr"/>
          <a:lstStyle/>
          <a:p>
            <a:pPr indent="0" marL="0">
              <a:buNone/>
            </a:pPr>
            <a:r>
              <a:rPr lang="en-US" sz="1350" b="1" dirty="0">
                <a:solidFill>
                  <a:srgbClr val="A6192E"/>
                </a:solidFill>
                <a:latin typeface="Arial" pitchFamily="34" charset="0"/>
                <a:ea typeface="Arial" pitchFamily="34" charset="-122"/>
                <a:cs typeface="Arial" pitchFamily="34" charset="-120"/>
              </a:rPr>
              <a:t>BITÁCORA  </a:t>
            </a:r>
            <a:pPr indent="0" marL="0">
              <a:buNone/>
            </a:pPr>
            <a:r>
              <a:rPr lang="en-US" sz="1350" dirty="0">
                <a:solidFill>
                  <a:srgbClr val="1E1E1E"/>
                </a:solidFill>
                <a:latin typeface="Arial" pitchFamily="34" charset="0"/>
                <a:ea typeface="Arial" pitchFamily="34" charset="-122"/>
                <a:cs typeface="Arial" pitchFamily="34" charset="-120"/>
              </a:rPr>
              <a:t>Sin ID Cliente · 120 · concentrado en Costa (11.4 %) · decisión: documentar y preguntar a ventas cómo se captura en mostrador.</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89611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PASO 4 · CERO, VACÍO Y CENTINELA</a:t>
            </a:r>
            <a:endParaRPr lang="en-US" sz="1300" dirty="0"/>
          </a:p>
        </p:txBody>
      </p:sp>
      <p:sp>
        <p:nvSpPr>
          <p:cNvPr id="3" name="Shape 1"/>
          <p:cNvSpPr/>
          <p:nvPr/>
        </p:nvSpPr>
        <p:spPr>
          <a:xfrm>
            <a:off x="9966960" y="411480"/>
            <a:ext cx="1554480" cy="457200"/>
          </a:xfrm>
          <a:prstGeom prst="roundRect">
            <a:avLst>
              <a:gd name="adj" fmla="val 50000"/>
            </a:avLst>
          </a:prstGeom>
          <a:solidFill>
            <a:srgbClr val="FBEDEF"/>
          </a:solidFill>
          <a:ln w="12700">
            <a:solidFill>
              <a:srgbClr val="A6192E"/>
            </a:solidFill>
            <a:prstDash val="solid"/>
          </a:ln>
        </p:spPr>
      </p:sp>
      <p:sp>
        <p:nvSpPr>
          <p:cNvPr id="4" name="Text 2"/>
          <p:cNvSpPr txBox="1"/>
          <p:nvPr/>
        </p:nvSpPr>
        <p:spPr>
          <a:xfrm>
            <a:off x="9966960" y="411480"/>
            <a:ext cx="1554480" cy="457200"/>
          </a:xfrm>
          <a:prstGeom prst="rect">
            <a:avLst/>
          </a:prstGeom>
          <a:noFill/>
          <a:ln/>
        </p:spPr>
        <p:txBody>
          <a:bodyPr wrap="square" lIns="0" tIns="0" rIns="0" bIns="0" rtlCol="0" anchor="ctr"/>
          <a:lstStyle/>
          <a:p>
            <a:pPr algn="ctr" indent="0" marL="0">
              <a:buNone/>
            </a:pPr>
            <a:r>
              <a:rPr lang="en-US" sz="1200" b="1" dirty="0">
                <a:solidFill>
                  <a:srgbClr val="A6192E"/>
                </a:solidFill>
                <a:latin typeface="Arial" pitchFamily="34" charset="0"/>
                <a:ea typeface="Arial" pitchFamily="34" charset="-122"/>
                <a:cs typeface="Arial" pitchFamily="34" charset="-120"/>
              </a:rPr>
              <a:t>MIN 45–52</a:t>
            </a:r>
            <a:endParaRPr lang="en-US" sz="1200" dirty="0"/>
          </a:p>
        </p:txBody>
      </p:sp>
      <p:sp>
        <p:nvSpPr>
          <p:cNvPr id="6" name="Text 3"/>
          <p:cNvSpPr txBox="1"/>
          <p:nvPr/>
        </p:nvSpPr>
        <p:spPr>
          <a:xfrm>
            <a:off x="685800" y="868680"/>
            <a:ext cx="10789920" cy="54864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Descuento y Utilidad: tres valores que se confunden</a:t>
            </a:r>
            <a:endParaRPr lang="en-US" sz="2700" dirty="0"/>
          </a:p>
        </p:txBody>
      </p:sp>
      <p:sp>
        <p:nvSpPr>
          <p:cNvPr id="7" name="Text 4"/>
          <p:cNvSpPr txBox="1"/>
          <p:nvPr/>
        </p:nvSpPr>
        <p:spPr>
          <a:xfrm>
            <a:off x="685800" y="1554480"/>
            <a:ext cx="54864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A · DESCUENTO: CERO NO ES VACÍO</a:t>
            </a:r>
            <a:endParaRPr lang="en-US" sz="1150" dirty="0"/>
          </a:p>
        </p:txBody>
      </p:sp>
      <p:sp>
        <p:nvSpPr>
          <p:cNvPr id="8" name="Shape 5"/>
          <p:cNvSpPr/>
          <p:nvPr/>
        </p:nvSpPr>
        <p:spPr>
          <a:xfrm>
            <a:off x="685800" y="1874520"/>
            <a:ext cx="5394960" cy="1179830"/>
          </a:xfrm>
          <a:prstGeom prst="roundRect">
            <a:avLst>
              <a:gd name="adj" fmla="val 6200"/>
            </a:avLst>
          </a:prstGeom>
          <a:solidFill>
            <a:srgbClr val="F4F4F4"/>
          </a:solidFill>
          <a:ln w="9525">
            <a:solidFill>
              <a:srgbClr val="E0E0E0"/>
            </a:solidFill>
            <a:prstDash val="solid"/>
          </a:ln>
        </p:spPr>
      </p:sp>
      <p:sp>
        <p:nvSpPr>
          <p:cNvPr id="9" name="Text 6"/>
          <p:cNvSpPr txBox="1"/>
          <p:nvPr/>
        </p:nvSpPr>
        <p:spPr>
          <a:xfrm>
            <a:off x="850392" y="1984248"/>
            <a:ext cx="5065776" cy="960374"/>
          </a:xfrm>
          <a:prstGeom prst="rect">
            <a:avLst/>
          </a:prstGeom>
          <a:noFill/>
          <a:ln/>
        </p:spPr>
        <p:txBody>
          <a:bodyPr wrap="square" lIns="0" tIns="0" rIns="0" bIns="0" rtlCol="0" anchor="t"/>
          <a:lstStyle/>
          <a:p>
            <a:pPr indent="0" marL="0">
              <a:lnSpc>
                <a:spcPts val="1668"/>
              </a:lnSpc>
              <a:buNone/>
            </a:pPr>
            <a:r>
              <a:rPr lang="en-US" sz="1150" dirty="0">
                <a:solidFill>
                  <a:srgbClr val="1E1E1E"/>
                </a:solidFill>
                <a:latin typeface="Courier New" pitchFamily="34" charset="0"/>
                <a:ea typeface="Courier New" pitchFamily="34" charset="-122"/>
                <a:cs typeface="Courier New" pitchFamily="34" charset="-120"/>
              </a:rPr>
              <a:t>df["Descuento"].value_counts(dropna=False)</a:t>
            </a:r>
            <a:endParaRPr lang="en-US" sz="1150" dirty="0"/>
          </a:p>
          <a:p>
            <a:pPr indent="0" marL="0">
              <a:lnSpc>
                <a:spcPts val="1668"/>
              </a:lnSpc>
              <a:buNone/>
            </a:pPr>
            <a:r>
              <a:rPr lang="en-US" sz="1150" i="1" dirty="0">
                <a:solidFill>
                  <a:srgbClr val="8A8A8A"/>
                </a:solidFill>
                <a:latin typeface="Courier New" pitchFamily="34" charset="0"/>
                <a:ea typeface="Courier New" pitchFamily="34" charset="-122"/>
                <a:cs typeface="Courier New" pitchFamily="34" charset="-120"/>
              </a:rPr>
              <a:t># 0.0    658   ← hubo venta, no hubo rebaja</a:t>
            </a:r>
            <a:endParaRPr lang="en-US" sz="1150" dirty="0"/>
          </a:p>
          <a:p>
            <a:pPr indent="0" marL="0">
              <a:lnSpc>
                <a:spcPts val="1668"/>
              </a:lnSpc>
              <a:buNone/>
            </a:pPr>
            <a:r>
              <a:rPr lang="en-US" sz="1150" i="1" dirty="0">
                <a:solidFill>
                  <a:srgbClr val="8A8A8A"/>
                </a:solidFill>
                <a:latin typeface="Courier New" pitchFamily="34" charset="0"/>
                <a:ea typeface="Courier New" pitchFamily="34" charset="-122"/>
                <a:cs typeface="Courier New" pitchFamily="34" charset="-120"/>
              </a:rPr>
              <a:t># NaN    212   ← ¿sin rebaja o sin registro?</a:t>
            </a:r>
            <a:endParaRPr lang="en-US" sz="1150" dirty="0"/>
          </a:p>
          <a:p>
            <a:pPr indent="0" marL="0">
              <a:lnSpc>
                <a:spcPts val="1668"/>
              </a:lnSpc>
              <a:buNone/>
            </a:pPr>
            <a:r>
              <a:rPr lang="en-US" sz="1150" i="1" dirty="0">
                <a:solidFill>
                  <a:srgbClr val="8A8A8A"/>
                </a:solidFill>
                <a:latin typeface="Courier New" pitchFamily="34" charset="0"/>
                <a:ea typeface="Courier New" pitchFamily="34" charset="-122"/>
                <a:cs typeface="Courier New" pitchFamily="34" charset="-120"/>
              </a:rPr>
              <a:t># 0.1    204 ...</a:t>
            </a:r>
            <a:endParaRPr lang="en-US" sz="1150" dirty="0"/>
          </a:p>
        </p:txBody>
      </p:sp>
      <p:sp>
        <p:nvSpPr>
          <p:cNvPr id="10" name="Shape 7"/>
          <p:cNvSpPr/>
          <p:nvPr/>
        </p:nvSpPr>
        <p:spPr>
          <a:xfrm>
            <a:off x="685800" y="3246120"/>
            <a:ext cx="5394960" cy="1920240"/>
          </a:xfrm>
          <a:prstGeom prst="rect">
            <a:avLst/>
          </a:prstGeom>
          <a:solidFill>
            <a:srgbClr val="FBEDEF"/>
          </a:solidFill>
          <a:ln/>
        </p:spPr>
      </p:sp>
      <p:sp>
        <p:nvSpPr>
          <p:cNvPr id="11" name="Text 8"/>
          <p:cNvSpPr txBox="1"/>
          <p:nvPr/>
        </p:nvSpPr>
        <p:spPr>
          <a:xfrm>
            <a:off x="914400" y="3410712"/>
            <a:ext cx="4937760" cy="274320"/>
          </a:xfrm>
          <a:prstGeom prst="rect">
            <a:avLst/>
          </a:prstGeom>
          <a:noFill/>
          <a:ln/>
        </p:spPr>
        <p:txBody>
          <a:bodyPr wrap="square" lIns="0" tIns="0" rIns="0" bIns="0" rtlCol="0" anchor="ctr"/>
          <a:lstStyle/>
          <a:p>
            <a:pPr indent="0" marL="0">
              <a:buNone/>
            </a:pPr>
            <a:r>
              <a:rPr lang="en-US" sz="1100" b="1" spc="150" kern="0" dirty="0">
                <a:solidFill>
                  <a:srgbClr val="A6192E"/>
                </a:solidFill>
                <a:latin typeface="Arial" pitchFamily="34" charset="0"/>
                <a:ea typeface="Arial" pitchFamily="34" charset="-122"/>
                <a:cs typeface="Arial" pitchFamily="34" charset="-120"/>
              </a:rPr>
              <a:t>TU APUESTA</a:t>
            </a:r>
            <a:endParaRPr lang="en-US" sz="1100" dirty="0"/>
          </a:p>
        </p:txBody>
      </p:sp>
      <p:sp>
        <p:nvSpPr>
          <p:cNvPr id="12" name="Text 9"/>
          <p:cNvSpPr txBox="1"/>
          <p:nvPr/>
        </p:nvSpPr>
        <p:spPr>
          <a:xfrm>
            <a:off x="914400" y="3703320"/>
            <a:ext cx="4937760" cy="868680"/>
          </a:xfrm>
          <a:prstGeom prst="rect">
            <a:avLst/>
          </a:prstGeom>
          <a:noFill/>
          <a:ln/>
        </p:spPr>
        <p:txBody>
          <a:bodyPr wrap="square" lIns="0" tIns="0" rIns="0" bIns="0" rtlCol="0" anchor="t"/>
          <a:lstStyle/>
          <a:p>
            <a:pPr indent="0" marL="0">
              <a:lnSpc>
                <a:spcPts val="2400"/>
              </a:lnSpc>
              <a:buNone/>
            </a:pPr>
            <a:r>
              <a:rPr lang="en-US" sz="1800" b="1" dirty="0">
                <a:solidFill>
                  <a:srgbClr val="1E1E1E"/>
                </a:solidFill>
                <a:latin typeface="Arial" pitchFamily="34" charset="0"/>
                <a:ea typeface="Arial" pitchFamily="34" charset="-122"/>
                <a:cs typeface="Arial" pitchFamily="34" charset="-120"/>
              </a:rPr>
              <a:t>¿Cuántas líneas no tuvieron descuento?</a:t>
            </a:r>
            <a:endParaRPr lang="en-US" sz="1800" dirty="0"/>
          </a:p>
        </p:txBody>
      </p:sp>
      <p:sp>
        <p:nvSpPr>
          <p:cNvPr id="13" name="Text 10"/>
          <p:cNvSpPr txBox="1"/>
          <p:nvPr/>
        </p:nvSpPr>
        <p:spPr>
          <a:xfrm>
            <a:off x="914400" y="4572000"/>
            <a:ext cx="4937760" cy="457200"/>
          </a:xfrm>
          <a:prstGeom prst="rect">
            <a:avLst/>
          </a:prstGeom>
          <a:noFill/>
          <a:ln/>
        </p:spPr>
        <p:txBody>
          <a:bodyPr wrap="square" lIns="0" tIns="0" rIns="0" bIns="0" rtlCol="0" anchor="b"/>
          <a:lstStyle/>
          <a:p>
            <a:pPr indent="0" marL="0">
              <a:buNone/>
            </a:pPr>
            <a:r>
              <a:rPr lang="en-US" sz="1250" dirty="0">
                <a:solidFill>
                  <a:srgbClr val="6B6B6B"/>
                </a:solidFill>
                <a:latin typeface="Arial" pitchFamily="34" charset="0"/>
                <a:ea typeface="Arial" pitchFamily="34" charset="-122"/>
                <a:cs typeface="Arial" pitchFamily="34" charset="-120"/>
              </a:rPr>
              <a:t>A · 658     B · 870     C · entre 658 y 870, y se pregunta</a:t>
            </a:r>
            <a:endParaRPr lang="en-US" sz="1250" dirty="0"/>
          </a:p>
        </p:txBody>
      </p:sp>
      <p:sp>
        <p:nvSpPr>
          <p:cNvPr id="14" name="Text 11"/>
          <p:cNvSpPr txBox="1"/>
          <p:nvPr/>
        </p:nvSpPr>
        <p:spPr>
          <a:xfrm>
            <a:off x="6400800" y="1554480"/>
            <a:ext cx="54864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B · UTILIDAD: EL CENTINELA</a:t>
            </a:r>
            <a:endParaRPr lang="en-US" sz="1150" dirty="0"/>
          </a:p>
        </p:txBody>
      </p:sp>
      <p:sp>
        <p:nvSpPr>
          <p:cNvPr id="15" name="Shape 12"/>
          <p:cNvSpPr/>
          <p:nvPr/>
        </p:nvSpPr>
        <p:spPr>
          <a:xfrm>
            <a:off x="6400800" y="1874520"/>
            <a:ext cx="5120640" cy="2085340"/>
          </a:xfrm>
          <a:prstGeom prst="roundRect">
            <a:avLst>
              <a:gd name="adj" fmla="val 3508"/>
            </a:avLst>
          </a:prstGeom>
          <a:solidFill>
            <a:srgbClr val="F4F4F4"/>
          </a:solidFill>
          <a:ln w="9525">
            <a:solidFill>
              <a:srgbClr val="E0E0E0"/>
            </a:solidFill>
            <a:prstDash val="solid"/>
          </a:ln>
        </p:spPr>
      </p:sp>
      <p:sp>
        <p:nvSpPr>
          <p:cNvPr id="16" name="Text 13"/>
          <p:cNvSpPr txBox="1"/>
          <p:nvPr/>
        </p:nvSpPr>
        <p:spPr>
          <a:xfrm>
            <a:off x="6565392" y="1984248"/>
            <a:ext cx="4791456" cy="1865884"/>
          </a:xfrm>
          <a:prstGeom prst="rect">
            <a:avLst/>
          </a:prstGeom>
          <a:noFill/>
          <a:ln/>
        </p:spPr>
        <p:txBody>
          <a:bodyPr wrap="square" lIns="0" tIns="0" rIns="0" bIns="0" rtlCol="0" anchor="t"/>
          <a:lstStyle/>
          <a:p>
            <a:pPr indent="0" marL="0">
              <a:lnSpc>
                <a:spcPts val="1668"/>
              </a:lnSpc>
              <a:buNone/>
            </a:pPr>
            <a:r>
              <a:rPr lang="en-US" sz="1150" dirty="0">
                <a:solidFill>
                  <a:srgbClr val="1E1E1E"/>
                </a:solidFill>
                <a:latin typeface="Courier New" pitchFamily="34" charset="0"/>
                <a:ea typeface="Courier New" pitchFamily="34" charset="-122"/>
                <a:cs typeface="Courier New" pitchFamily="34" charset="-120"/>
              </a:rPr>
              <a:t>df["Utilidad"].describe().round(1)</a:t>
            </a:r>
            <a:endParaRPr lang="en-US" sz="1150" dirty="0"/>
          </a:p>
          <a:p>
            <a:pPr indent="0" marL="0">
              <a:lnSpc>
                <a:spcPts val="1668"/>
              </a:lnSpc>
              <a:buNone/>
            </a:pPr>
            <a:r>
              <a:rPr lang="en-US" sz="1150" i="1" dirty="0">
                <a:solidFill>
                  <a:srgbClr val="8A8A8A"/>
                </a:solidFill>
                <a:latin typeface="Courier New" pitchFamily="34" charset="0"/>
                <a:ea typeface="Courier New" pitchFamily="34" charset="-122"/>
                <a:cs typeface="Courier New" pitchFamily="34" charset="-120"/>
              </a:rPr>
              <a:t># mean    -99.1   ← ¿pierde plata cada línea?</a:t>
            </a:r>
            <a:endParaRPr lang="en-US" sz="1150" dirty="0"/>
          </a:p>
          <a:p>
            <a:pPr indent="0" marL="0">
              <a:lnSpc>
                <a:spcPts val="1668"/>
              </a:lnSpc>
              <a:buNone/>
            </a:pPr>
            <a:r>
              <a:rPr lang="en-US" sz="1150" i="1" dirty="0">
                <a:solidFill>
                  <a:srgbClr val="8A8A8A"/>
                </a:solidFill>
                <a:latin typeface="Courier New" pitchFamily="34" charset="0"/>
                <a:ea typeface="Courier New" pitchFamily="34" charset="-122"/>
                <a:cs typeface="Courier New" pitchFamily="34" charset="-120"/>
              </a:rPr>
              <a:t># min   -9999.0   ← ahí está</a:t>
            </a:r>
            <a:endParaRPr lang="en-US" sz="1150" dirty="0"/>
          </a:p>
          <a:p>
            <a:pPr indent="0" marL="0">
              <a:lnSpc>
                <a:spcPts val="1668"/>
              </a:lnSpc>
              <a:buNone/>
            </a:pPr>
            <a:endParaRPr lang="en-US" sz="1150" dirty="0"/>
          </a:p>
          <a:p>
            <a:pPr indent="0" marL="0">
              <a:lnSpc>
                <a:spcPts val="1668"/>
              </a:lnSpc>
              <a:buNone/>
            </a:pPr>
            <a:r>
              <a:rPr lang="en-US" sz="1150" dirty="0">
                <a:solidFill>
                  <a:srgbClr val="1E1E1E"/>
                </a:solidFill>
                <a:latin typeface="Courier New" pitchFamily="34" charset="0"/>
                <a:ea typeface="Courier New" pitchFamily="34" charset="-122"/>
                <a:cs typeface="Courier New" pitchFamily="34" charset="-120"/>
              </a:rPr>
              <a:t>df["Utilidad"].value_counts().head(2)</a:t>
            </a:r>
            <a:endParaRPr lang="en-US" sz="1150" dirty="0"/>
          </a:p>
          <a:p>
            <a:pPr indent="0" marL="0">
              <a:lnSpc>
                <a:spcPts val="1668"/>
              </a:lnSpc>
              <a:buNone/>
            </a:pPr>
            <a:r>
              <a:rPr lang="en-US" sz="1150" i="1" dirty="0">
                <a:solidFill>
                  <a:srgbClr val="8A8A8A"/>
                </a:solidFill>
                <a:latin typeface="Courier New" pitchFamily="34" charset="0"/>
                <a:ea typeface="Courier New" pitchFamily="34" charset="-122"/>
                <a:cs typeface="Courier New" pitchFamily="34" charset="-120"/>
              </a:rPr>
              <a:t># -9999.00    15</a:t>
            </a:r>
            <a:endParaRPr lang="en-US" sz="1150" dirty="0"/>
          </a:p>
          <a:p>
            <a:pPr indent="0" marL="0">
              <a:lnSpc>
                <a:spcPts val="1668"/>
              </a:lnSpc>
              <a:buNone/>
            </a:pPr>
            <a:r>
              <a:rPr lang="en-US" sz="1150" dirty="0">
                <a:solidFill>
                  <a:srgbClr val="1E1E1E"/>
                </a:solidFill>
                <a:latin typeface="Courier New" pitchFamily="34" charset="0"/>
                <a:ea typeface="Courier New" pitchFamily="34" charset="-122"/>
                <a:cs typeface="Courier New" pitchFamily="34" charset="-120"/>
              </a:rPr>
              <a:t>df.loc[df["Utilidad"] != -9999, "Utilidad"].mean()</a:t>
            </a:r>
            <a:endParaRPr lang="en-US" sz="1150" dirty="0"/>
          </a:p>
          <a:p>
            <a:pPr indent="0" marL="0">
              <a:lnSpc>
                <a:spcPts val="1668"/>
              </a:lnSpc>
              <a:buNone/>
            </a:pPr>
            <a:r>
              <a:rPr lang="en-US" sz="1150" i="1" dirty="0">
                <a:solidFill>
                  <a:srgbClr val="8A8A8A"/>
                </a:solidFill>
                <a:latin typeface="Courier New" pitchFamily="34" charset="0"/>
                <a:ea typeface="Courier New" pitchFamily="34" charset="-122"/>
                <a:cs typeface="Courier New" pitchFamily="34" charset="-120"/>
              </a:rPr>
              <a:t># 13.41   ← la utilidad real por línea</a:t>
            </a:r>
            <a:endParaRPr lang="en-US" sz="1150" dirty="0"/>
          </a:p>
        </p:txBody>
      </p:sp>
      <p:sp>
        <p:nvSpPr>
          <p:cNvPr id="17" name="Text 14"/>
          <p:cNvSpPr txBox="1"/>
          <p:nvPr/>
        </p:nvSpPr>
        <p:spPr>
          <a:xfrm>
            <a:off x="6400800" y="4434840"/>
            <a:ext cx="5120640" cy="822960"/>
          </a:xfrm>
          <a:prstGeom prst="rect">
            <a:avLst/>
          </a:prstGeom>
          <a:noFill/>
          <a:ln/>
        </p:spPr>
        <p:txBody>
          <a:bodyPr wrap="square" lIns="0" tIns="0" rIns="0" bIns="0" rtlCol="0" anchor="ctr"/>
          <a:lstStyle/>
          <a:p>
            <a:pPr indent="0" marL="0">
              <a:lnSpc>
                <a:spcPts val="1700"/>
              </a:lnSpc>
              <a:buNone/>
            </a:pPr>
            <a:r>
              <a:rPr lang="en-US" sz="1250" dirty="0">
                <a:solidFill>
                  <a:srgbClr val="6B6B6B"/>
                </a:solidFill>
                <a:latin typeface="Arial" pitchFamily="34" charset="0"/>
                <a:ea typeface="Arial" pitchFamily="34" charset="-122"/>
                <a:cs typeface="Arial" pitchFamily="34" charset="-120"/>
              </a:rPr>
              <a:t>Un sistema viejo usaba -9999 para decir "desconocido". Para pandas es un número válido: isna() jamás lo encuentra y arrastra la media de toda una región.</a:t>
            </a:r>
            <a:endParaRPr lang="en-US" sz="1250" dirty="0"/>
          </a:p>
        </p:txBody>
      </p:sp>
      <p:sp>
        <p:nvSpPr>
          <p:cNvPr id="18" name="Shape 15"/>
          <p:cNvSpPr/>
          <p:nvPr/>
        </p:nvSpPr>
        <p:spPr>
          <a:xfrm>
            <a:off x="685800" y="6126480"/>
            <a:ext cx="109728" cy="457200"/>
          </a:xfrm>
          <a:prstGeom prst="rect">
            <a:avLst/>
          </a:prstGeom>
          <a:solidFill>
            <a:srgbClr val="A6192E"/>
          </a:solidFill>
          <a:ln/>
        </p:spPr>
      </p:sp>
      <p:sp>
        <p:nvSpPr>
          <p:cNvPr id="19" name="Text 16"/>
          <p:cNvSpPr txBox="1"/>
          <p:nvPr/>
        </p:nvSpPr>
        <p:spPr>
          <a:xfrm>
            <a:off x="960120" y="6126480"/>
            <a:ext cx="10515600" cy="457200"/>
          </a:xfrm>
          <a:prstGeom prst="rect">
            <a:avLst/>
          </a:prstGeom>
          <a:noFill/>
          <a:ln/>
        </p:spPr>
        <p:txBody>
          <a:bodyPr wrap="square" lIns="0" tIns="0" rIns="0" bIns="0" rtlCol="0" anchor="ctr"/>
          <a:lstStyle/>
          <a:p>
            <a:pPr indent="0" marL="0">
              <a:buNone/>
            </a:pPr>
            <a:r>
              <a:rPr lang="en-US" sz="1350" b="1" dirty="0">
                <a:solidFill>
                  <a:srgbClr val="A6192E"/>
                </a:solidFill>
                <a:latin typeface="Arial" pitchFamily="34" charset="0"/>
                <a:ea typeface="Arial" pitchFamily="34" charset="-122"/>
                <a:cs typeface="Arial" pitchFamily="34" charset="-120"/>
              </a:rPr>
              <a:t>BITÁCORA  </a:t>
            </a:r>
            <a:pPr indent="0" marL="0">
              <a:buNone/>
            </a:pPr>
            <a:r>
              <a:rPr lang="en-US" sz="1350" dirty="0">
                <a:solidFill>
                  <a:srgbClr val="1E1E1E"/>
                </a:solidFill>
                <a:latin typeface="Arial" pitchFamily="34" charset="0"/>
                <a:ea typeface="Arial" pitchFamily="34" charset="-122"/>
                <a:cs typeface="Arial" pitchFamily="34" charset="-120"/>
              </a:rPr>
              <a:t>Descuento no registrado · 212 · decisión: preguntar la regla de captura. Utilidad = -9999 · 15 · decisión: convertir a NaN.</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89611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PASO 5 · DUPLICADOS</a:t>
            </a:r>
            <a:endParaRPr lang="en-US" sz="1300" dirty="0"/>
          </a:p>
        </p:txBody>
      </p:sp>
      <p:sp>
        <p:nvSpPr>
          <p:cNvPr id="3" name="Shape 1"/>
          <p:cNvSpPr/>
          <p:nvPr/>
        </p:nvSpPr>
        <p:spPr>
          <a:xfrm>
            <a:off x="9966960" y="411480"/>
            <a:ext cx="1554480" cy="457200"/>
          </a:xfrm>
          <a:prstGeom prst="roundRect">
            <a:avLst>
              <a:gd name="adj" fmla="val 50000"/>
            </a:avLst>
          </a:prstGeom>
          <a:solidFill>
            <a:srgbClr val="FBEDEF"/>
          </a:solidFill>
          <a:ln w="12700">
            <a:solidFill>
              <a:srgbClr val="A6192E"/>
            </a:solidFill>
            <a:prstDash val="solid"/>
          </a:ln>
        </p:spPr>
      </p:sp>
      <p:sp>
        <p:nvSpPr>
          <p:cNvPr id="4" name="Text 2"/>
          <p:cNvSpPr txBox="1"/>
          <p:nvPr/>
        </p:nvSpPr>
        <p:spPr>
          <a:xfrm>
            <a:off x="9966960" y="411480"/>
            <a:ext cx="1554480" cy="457200"/>
          </a:xfrm>
          <a:prstGeom prst="rect">
            <a:avLst/>
          </a:prstGeom>
          <a:noFill/>
          <a:ln/>
        </p:spPr>
        <p:txBody>
          <a:bodyPr wrap="square" lIns="0" tIns="0" rIns="0" bIns="0" rtlCol="0" anchor="ctr"/>
          <a:lstStyle/>
          <a:p>
            <a:pPr algn="ctr" indent="0" marL="0">
              <a:buNone/>
            </a:pPr>
            <a:r>
              <a:rPr lang="en-US" sz="1200" b="1" dirty="0">
                <a:solidFill>
                  <a:srgbClr val="A6192E"/>
                </a:solidFill>
                <a:latin typeface="Arial" pitchFamily="34" charset="0"/>
                <a:ea typeface="Arial" pitchFamily="34" charset="-122"/>
                <a:cs typeface="Arial" pitchFamily="34" charset="-120"/>
              </a:rPr>
              <a:t>MIN 52–58</a:t>
            </a:r>
            <a:endParaRPr lang="en-US" sz="1200" dirty="0"/>
          </a:p>
        </p:txBody>
      </p:sp>
      <p:sp>
        <p:nvSpPr>
          <p:cNvPr id="6" name="Text 3"/>
          <p:cNvSpPr txBox="1"/>
          <p:nvPr/>
        </p:nvSpPr>
        <p:spPr>
          <a:xfrm>
            <a:off x="685800" y="868680"/>
            <a:ext cx="10789920" cy="54864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duplicated() da cero por la columna ID Fila</a:t>
            </a:r>
            <a:endParaRPr lang="en-US" sz="2700" dirty="0"/>
          </a:p>
        </p:txBody>
      </p:sp>
      <p:sp>
        <p:nvSpPr>
          <p:cNvPr id="7" name="Shape 4"/>
          <p:cNvSpPr/>
          <p:nvPr/>
        </p:nvSpPr>
        <p:spPr>
          <a:xfrm>
            <a:off x="685800" y="1554480"/>
            <a:ext cx="4937760" cy="1737360"/>
          </a:xfrm>
          <a:prstGeom prst="rect">
            <a:avLst/>
          </a:prstGeom>
          <a:solidFill>
            <a:srgbClr val="FBEDEF"/>
          </a:solidFill>
          <a:ln/>
        </p:spPr>
      </p:sp>
      <p:sp>
        <p:nvSpPr>
          <p:cNvPr id="8" name="Text 5"/>
          <p:cNvSpPr txBox="1"/>
          <p:nvPr/>
        </p:nvSpPr>
        <p:spPr>
          <a:xfrm>
            <a:off x="914400" y="1719072"/>
            <a:ext cx="4480560" cy="274320"/>
          </a:xfrm>
          <a:prstGeom prst="rect">
            <a:avLst/>
          </a:prstGeom>
          <a:noFill/>
          <a:ln/>
        </p:spPr>
        <p:txBody>
          <a:bodyPr wrap="square" lIns="0" tIns="0" rIns="0" bIns="0" rtlCol="0" anchor="ctr"/>
          <a:lstStyle/>
          <a:p>
            <a:pPr indent="0" marL="0">
              <a:buNone/>
            </a:pPr>
            <a:r>
              <a:rPr lang="en-US" sz="1100" b="1" spc="150" kern="0" dirty="0">
                <a:solidFill>
                  <a:srgbClr val="A6192E"/>
                </a:solidFill>
                <a:latin typeface="Arial" pitchFamily="34" charset="0"/>
                <a:ea typeface="Arial" pitchFamily="34" charset="-122"/>
                <a:cs typeface="Arial" pitchFamily="34" charset="-120"/>
              </a:rPr>
              <a:t>TU APUESTA</a:t>
            </a:r>
            <a:endParaRPr lang="en-US" sz="1100" dirty="0"/>
          </a:p>
        </p:txBody>
      </p:sp>
      <p:sp>
        <p:nvSpPr>
          <p:cNvPr id="9" name="Text 6"/>
          <p:cNvSpPr txBox="1"/>
          <p:nvPr/>
        </p:nvSpPr>
        <p:spPr>
          <a:xfrm>
            <a:off x="914400" y="2011680"/>
            <a:ext cx="4480560" cy="685800"/>
          </a:xfrm>
          <a:prstGeom prst="rect">
            <a:avLst/>
          </a:prstGeom>
          <a:noFill/>
          <a:ln/>
        </p:spPr>
        <p:txBody>
          <a:bodyPr wrap="square" lIns="0" tIns="0" rIns="0" bIns="0" rtlCol="0" anchor="t"/>
          <a:lstStyle/>
          <a:p>
            <a:pPr indent="0" marL="0">
              <a:lnSpc>
                <a:spcPts val="2400"/>
              </a:lnSpc>
              <a:buNone/>
            </a:pPr>
            <a:r>
              <a:rPr lang="en-US" sz="1800" b="1" dirty="0">
                <a:solidFill>
                  <a:srgbClr val="1E1E1E"/>
                </a:solidFill>
                <a:latin typeface="Arial" pitchFamily="34" charset="0"/>
                <a:ea typeface="Arial" pitchFamily="34" charset="-122"/>
                <a:cs typeface="Arial" pitchFamily="34" charset="-120"/>
              </a:rPr>
              <a:t>¿Cuántas filas repetidas exactas crees que hay en la base?</a:t>
            </a:r>
            <a:endParaRPr lang="en-US" sz="1800" dirty="0"/>
          </a:p>
        </p:txBody>
      </p:sp>
      <p:sp>
        <p:nvSpPr>
          <p:cNvPr id="10" name="Text 7"/>
          <p:cNvSpPr txBox="1"/>
          <p:nvPr/>
        </p:nvSpPr>
        <p:spPr>
          <a:xfrm>
            <a:off x="914400" y="2697480"/>
            <a:ext cx="4480560" cy="457200"/>
          </a:xfrm>
          <a:prstGeom prst="rect">
            <a:avLst/>
          </a:prstGeom>
          <a:noFill/>
          <a:ln/>
        </p:spPr>
        <p:txBody>
          <a:bodyPr wrap="square" lIns="0" tIns="0" rIns="0" bIns="0" rtlCol="0" anchor="b"/>
          <a:lstStyle/>
          <a:p>
            <a:pPr indent="0" marL="0">
              <a:buNone/>
            </a:pPr>
            <a:r>
              <a:rPr lang="en-US" sz="1250" dirty="0">
                <a:solidFill>
                  <a:srgbClr val="6B6B6B"/>
                </a:solidFill>
                <a:latin typeface="Arial" pitchFamily="34" charset="0"/>
                <a:ea typeface="Arial" pitchFamily="34" charset="-122"/>
                <a:cs typeface="Arial" pitchFamily="34" charset="-120"/>
              </a:rPr>
              <a:t>Escribe tu número antes de correr la celda.</a:t>
            </a:r>
            <a:endParaRPr lang="en-US" sz="1250" dirty="0"/>
          </a:p>
        </p:txBody>
      </p:sp>
      <p:sp>
        <p:nvSpPr>
          <p:cNvPr id="11" name="Text 8"/>
          <p:cNvSpPr txBox="1"/>
          <p:nvPr/>
        </p:nvSpPr>
        <p:spPr>
          <a:xfrm>
            <a:off x="685800" y="3520440"/>
            <a:ext cx="54864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CORRE ESTO, EN ESTE ORDEN</a:t>
            </a:r>
            <a:endParaRPr lang="en-US" sz="1150" dirty="0"/>
          </a:p>
        </p:txBody>
      </p:sp>
      <p:sp>
        <p:nvSpPr>
          <p:cNvPr id="12" name="Shape 9"/>
          <p:cNvSpPr/>
          <p:nvPr/>
        </p:nvSpPr>
        <p:spPr>
          <a:xfrm>
            <a:off x="685800" y="3840480"/>
            <a:ext cx="4937760" cy="2085340"/>
          </a:xfrm>
          <a:prstGeom prst="roundRect">
            <a:avLst>
              <a:gd name="adj" fmla="val 3508"/>
            </a:avLst>
          </a:prstGeom>
          <a:solidFill>
            <a:srgbClr val="F4F4F4"/>
          </a:solidFill>
          <a:ln w="9525">
            <a:solidFill>
              <a:srgbClr val="E0E0E0"/>
            </a:solidFill>
            <a:prstDash val="solid"/>
          </a:ln>
        </p:spPr>
      </p:sp>
      <p:sp>
        <p:nvSpPr>
          <p:cNvPr id="13" name="Text 10"/>
          <p:cNvSpPr txBox="1"/>
          <p:nvPr/>
        </p:nvSpPr>
        <p:spPr>
          <a:xfrm>
            <a:off x="850392" y="3950208"/>
            <a:ext cx="4608576" cy="1865884"/>
          </a:xfrm>
          <a:prstGeom prst="rect">
            <a:avLst/>
          </a:prstGeom>
          <a:noFill/>
          <a:ln/>
        </p:spPr>
        <p:txBody>
          <a:bodyPr wrap="square" lIns="0" tIns="0" rIns="0" bIns="0" rtlCol="0" anchor="t"/>
          <a:lstStyle/>
          <a:p>
            <a:pPr indent="0" marL="0">
              <a:lnSpc>
                <a:spcPts val="1668"/>
              </a:lnSpc>
              <a:buNone/>
            </a:pPr>
            <a:r>
              <a:rPr lang="en-US" sz="1150" dirty="0">
                <a:solidFill>
                  <a:srgbClr val="1E1E1E"/>
                </a:solidFill>
                <a:latin typeface="Courier New" pitchFamily="34" charset="0"/>
                <a:ea typeface="Courier New" pitchFamily="34" charset="-122"/>
                <a:cs typeface="Courier New" pitchFamily="34" charset="-120"/>
              </a:rPr>
              <a:t>df.duplicated().sum()</a:t>
            </a:r>
            <a:endParaRPr lang="en-US" sz="1150" dirty="0"/>
          </a:p>
          <a:p>
            <a:pPr indent="0" marL="0">
              <a:lnSpc>
                <a:spcPts val="1668"/>
              </a:lnSpc>
              <a:buNone/>
            </a:pPr>
            <a:r>
              <a:rPr lang="en-US" sz="1150" i="1" dirty="0">
                <a:solidFill>
                  <a:srgbClr val="8A8A8A"/>
                </a:solidFill>
                <a:latin typeface="Courier New" pitchFamily="34" charset="0"/>
                <a:ea typeface="Courier New" pitchFamily="34" charset="-122"/>
                <a:cs typeface="Courier New" pitchFamily="34" charset="-120"/>
              </a:rPr>
              <a:t># 0    ← miente</a:t>
            </a:r>
            <a:endParaRPr lang="en-US" sz="1150" dirty="0"/>
          </a:p>
          <a:p>
            <a:pPr indent="0" marL="0">
              <a:lnSpc>
                <a:spcPts val="1668"/>
              </a:lnSpc>
              <a:buNone/>
            </a:pPr>
            <a:endParaRPr lang="en-US" sz="1150" dirty="0"/>
          </a:p>
          <a:p>
            <a:pPr indent="0" marL="0">
              <a:lnSpc>
                <a:spcPts val="1668"/>
              </a:lnSpc>
              <a:buNone/>
            </a:pPr>
            <a:r>
              <a:rPr lang="en-US" sz="1150" dirty="0">
                <a:solidFill>
                  <a:srgbClr val="1E1E1E"/>
                </a:solidFill>
                <a:latin typeface="Courier New" pitchFamily="34" charset="0"/>
                <a:ea typeface="Courier New" pitchFamily="34" charset="-122"/>
                <a:cs typeface="Courier New" pitchFamily="34" charset="-120"/>
              </a:rPr>
              <a:t>sin_id = df.drop(columns=["ID Fila"])</a:t>
            </a:r>
            <a:endParaRPr lang="en-US" sz="1150" dirty="0"/>
          </a:p>
          <a:p>
            <a:pPr indent="0" marL="0">
              <a:lnSpc>
                <a:spcPts val="1668"/>
              </a:lnSpc>
              <a:buNone/>
            </a:pPr>
            <a:r>
              <a:rPr lang="en-US" sz="1150" dirty="0">
                <a:solidFill>
                  <a:srgbClr val="1E1E1E"/>
                </a:solidFill>
                <a:latin typeface="Courier New" pitchFamily="34" charset="0"/>
                <a:ea typeface="Courier New" pitchFamily="34" charset="-122"/>
                <a:cs typeface="Courier New" pitchFamily="34" charset="-120"/>
              </a:rPr>
              <a:t>sin_id.duplicated().sum()</a:t>
            </a:r>
            <a:endParaRPr lang="en-US" sz="1150" dirty="0"/>
          </a:p>
          <a:p>
            <a:pPr indent="0" marL="0">
              <a:lnSpc>
                <a:spcPts val="1668"/>
              </a:lnSpc>
              <a:buNone/>
            </a:pPr>
            <a:r>
              <a:rPr lang="en-US" sz="1150" i="1" dirty="0">
                <a:solidFill>
                  <a:srgbClr val="8A8A8A"/>
                </a:solidFill>
                <a:latin typeface="Courier New" pitchFamily="34" charset="0"/>
                <a:ea typeface="Courier New" pitchFamily="34" charset="-122"/>
                <a:cs typeface="Courier New" pitchFamily="34" charset="-120"/>
              </a:rPr>
              <a:t># 24   ← la verdad</a:t>
            </a:r>
            <a:endParaRPr lang="en-US" sz="1150" dirty="0"/>
          </a:p>
          <a:p>
            <a:pPr indent="0" marL="0">
              <a:lnSpc>
                <a:spcPts val="1668"/>
              </a:lnSpc>
              <a:buNone/>
            </a:pPr>
            <a:endParaRPr lang="en-US" sz="1150" dirty="0"/>
          </a:p>
          <a:p>
            <a:pPr indent="0" marL="0">
              <a:lnSpc>
                <a:spcPts val="1668"/>
              </a:lnSpc>
              <a:buNone/>
            </a:pPr>
            <a:r>
              <a:rPr lang="en-US" sz="1150" dirty="0">
                <a:solidFill>
                  <a:srgbClr val="1E1E1E"/>
                </a:solidFill>
                <a:latin typeface="Courier New" pitchFamily="34" charset="0"/>
                <a:ea typeface="Courier New" pitchFamily="34" charset="-122"/>
                <a:cs typeface="Courier New" pitchFamily="34" charset="-120"/>
              </a:rPr>
              <a:t>sin_id[sin_id.duplicated(keep=False)].head(6)</a:t>
            </a:r>
            <a:endParaRPr lang="en-US" sz="1150" dirty="0"/>
          </a:p>
        </p:txBody>
      </p:sp>
      <p:sp>
        <p:nvSpPr>
          <p:cNvPr id="14" name="Text 11"/>
          <p:cNvSpPr txBox="1"/>
          <p:nvPr/>
        </p:nvSpPr>
        <p:spPr>
          <a:xfrm>
            <a:off x="6400800" y="1417320"/>
            <a:ext cx="5120640" cy="1280160"/>
          </a:xfrm>
          <a:prstGeom prst="rect">
            <a:avLst/>
          </a:prstGeom>
          <a:noFill/>
          <a:ln/>
        </p:spPr>
        <p:txBody>
          <a:bodyPr wrap="square" lIns="0" tIns="0" rIns="0" bIns="0" rtlCol="0" anchor="ctr"/>
          <a:lstStyle/>
          <a:p>
            <a:pPr indent="0" marL="0">
              <a:buNone/>
            </a:pPr>
            <a:r>
              <a:rPr lang="en-US" sz="8800" b="1" dirty="0">
                <a:solidFill>
                  <a:srgbClr val="A6192E"/>
                </a:solidFill>
                <a:latin typeface="Arial" pitchFamily="34" charset="0"/>
                <a:ea typeface="Arial" pitchFamily="34" charset="-122"/>
                <a:cs typeface="Arial" pitchFamily="34" charset="-120"/>
              </a:rPr>
              <a:t>24</a:t>
            </a:r>
            <a:endParaRPr lang="en-US" sz="8800" dirty="0"/>
          </a:p>
        </p:txBody>
      </p:sp>
      <p:sp>
        <p:nvSpPr>
          <p:cNvPr id="15" name="Text 12"/>
          <p:cNvSpPr txBox="1"/>
          <p:nvPr/>
        </p:nvSpPr>
        <p:spPr>
          <a:xfrm>
            <a:off x="6400800" y="2743200"/>
            <a:ext cx="5120640" cy="457200"/>
          </a:xfrm>
          <a:prstGeom prst="rect">
            <a:avLst/>
          </a:prstGeom>
          <a:noFill/>
          <a:ln/>
        </p:spPr>
        <p:txBody>
          <a:bodyPr wrap="square" lIns="0" tIns="0" rIns="0" bIns="0" rtlCol="0" anchor="ctr"/>
          <a:lstStyle/>
          <a:p>
            <a:pPr indent="0" marL="0">
              <a:buNone/>
            </a:pPr>
            <a:r>
              <a:rPr lang="en-US" sz="1500" dirty="0">
                <a:solidFill>
                  <a:srgbClr val="6B6B6B"/>
                </a:solidFill>
                <a:latin typeface="Arial" pitchFamily="34" charset="0"/>
                <a:ea typeface="Arial" pitchFamily="34" charset="-122"/>
                <a:cs typeface="Arial" pitchFamily="34" charset="-120"/>
              </a:rPr>
              <a:t>filas idénticas que ID Fila disfraza de distintas</a:t>
            </a:r>
            <a:endParaRPr lang="en-US" sz="1500" dirty="0"/>
          </a:p>
        </p:txBody>
      </p:sp>
      <p:sp>
        <p:nvSpPr>
          <p:cNvPr id="16" name="Shape 13"/>
          <p:cNvSpPr/>
          <p:nvPr/>
        </p:nvSpPr>
        <p:spPr>
          <a:xfrm>
            <a:off x="6400800" y="3429000"/>
            <a:ext cx="5120640" cy="1417320"/>
          </a:xfrm>
          <a:prstGeom prst="rect">
            <a:avLst/>
          </a:prstGeom>
          <a:solidFill>
            <a:srgbClr val="FBEDEF"/>
          </a:solidFill>
          <a:ln/>
        </p:spPr>
      </p:sp>
      <p:sp>
        <p:nvSpPr>
          <p:cNvPr id="17" name="Text 14"/>
          <p:cNvSpPr txBox="1"/>
          <p:nvPr/>
        </p:nvSpPr>
        <p:spPr>
          <a:xfrm>
            <a:off x="6629400" y="3429000"/>
            <a:ext cx="4663440" cy="1417320"/>
          </a:xfrm>
          <a:prstGeom prst="rect">
            <a:avLst/>
          </a:prstGeom>
          <a:noFill/>
          <a:ln/>
        </p:spPr>
        <p:txBody>
          <a:bodyPr wrap="square" lIns="0" tIns="0" rIns="0" bIns="0" rtlCol="0" anchor="ctr"/>
          <a:lstStyle/>
          <a:p>
            <a:pPr indent="0" marL="0">
              <a:lnSpc>
                <a:spcPts val="1900"/>
              </a:lnSpc>
              <a:buNone/>
            </a:pPr>
            <a:r>
              <a:rPr lang="en-US" sz="1350" b="1" dirty="0">
                <a:solidFill>
                  <a:srgbClr val="A6192E"/>
                </a:solidFill>
                <a:latin typeface="Arial" pitchFamily="34" charset="0"/>
                <a:ea typeface="Arial" pitchFamily="34" charset="-122"/>
                <a:cs typeface="Arial" pitchFamily="34" charset="-120"/>
              </a:rPr>
              <a:t>ID Fila es un consecutivo que el sistema le puso a cada registro después de duplicarse. Para buscar duplicados reales, primero quita los identificadores automáticos: ID Fila, timestamps de carga, hashes.</a:t>
            </a:r>
            <a:endParaRPr lang="en-US" sz="1350" dirty="0"/>
          </a:p>
        </p:txBody>
      </p:sp>
      <p:sp>
        <p:nvSpPr>
          <p:cNvPr id="18" name="Text 15"/>
          <p:cNvSpPr txBox="1"/>
          <p:nvPr/>
        </p:nvSpPr>
        <p:spPr>
          <a:xfrm>
            <a:off x="6400800" y="4983480"/>
            <a:ext cx="5120640" cy="548640"/>
          </a:xfrm>
          <a:prstGeom prst="rect">
            <a:avLst/>
          </a:prstGeom>
          <a:noFill/>
          <a:ln/>
        </p:spPr>
        <p:txBody>
          <a:bodyPr wrap="square" lIns="0" tIns="0" rIns="0" bIns="0" rtlCol="0" anchor="ctr"/>
          <a:lstStyle/>
          <a:p>
            <a:pPr indent="0" marL="0">
              <a:lnSpc>
                <a:spcPts val="1700"/>
              </a:lnSpc>
              <a:buNone/>
            </a:pPr>
            <a:r>
              <a:rPr lang="en-US" sz="1250" dirty="0">
                <a:solidFill>
                  <a:srgbClr val="6B6B6B"/>
                </a:solidFill>
                <a:latin typeface="Arial" pitchFamily="34" charset="0"/>
                <a:ea typeface="Arial" pitchFamily="34" charset="-122"/>
                <a:cs typeface="Arial" pitchFamily="34" charset="-120"/>
              </a:rPr>
              <a:t>¿Cuántos dólares inflan? Se responde en el paso 8, cuando Ventas ya sea número.</a:t>
            </a:r>
            <a:endParaRPr lang="en-US" sz="1250" dirty="0"/>
          </a:p>
        </p:txBody>
      </p:sp>
      <p:sp>
        <p:nvSpPr>
          <p:cNvPr id="19" name="Shape 16"/>
          <p:cNvSpPr/>
          <p:nvPr/>
        </p:nvSpPr>
        <p:spPr>
          <a:xfrm>
            <a:off x="685800" y="6126480"/>
            <a:ext cx="109728" cy="457200"/>
          </a:xfrm>
          <a:prstGeom prst="rect">
            <a:avLst/>
          </a:prstGeom>
          <a:solidFill>
            <a:srgbClr val="A6192E"/>
          </a:solidFill>
          <a:ln/>
        </p:spPr>
      </p:sp>
      <p:sp>
        <p:nvSpPr>
          <p:cNvPr id="20" name="Text 17"/>
          <p:cNvSpPr txBox="1"/>
          <p:nvPr/>
        </p:nvSpPr>
        <p:spPr>
          <a:xfrm>
            <a:off x="960120" y="6126480"/>
            <a:ext cx="10515600" cy="457200"/>
          </a:xfrm>
          <a:prstGeom prst="rect">
            <a:avLst/>
          </a:prstGeom>
          <a:noFill/>
          <a:ln/>
        </p:spPr>
        <p:txBody>
          <a:bodyPr wrap="square" lIns="0" tIns="0" rIns="0" bIns="0" rtlCol="0" anchor="ctr"/>
          <a:lstStyle/>
          <a:p>
            <a:pPr indent="0" marL="0">
              <a:buNone/>
            </a:pPr>
            <a:r>
              <a:rPr lang="en-US" sz="1350" b="1" dirty="0">
                <a:solidFill>
                  <a:srgbClr val="A6192E"/>
                </a:solidFill>
                <a:latin typeface="Arial" pitchFamily="34" charset="0"/>
                <a:ea typeface="Arial" pitchFamily="34" charset="-122"/>
                <a:cs typeface="Arial" pitchFamily="34" charset="-120"/>
              </a:rPr>
              <a:t>BITÁCORA  </a:t>
            </a:r>
            <a:pPr indent="0" marL="0">
              <a:buNone/>
            </a:pPr>
            <a:r>
              <a:rPr lang="en-US" sz="1350" dirty="0">
                <a:solidFill>
                  <a:srgbClr val="1E1E1E"/>
                </a:solidFill>
                <a:latin typeface="Arial" pitchFamily="34" charset="0"/>
                <a:ea typeface="Arial" pitchFamily="34" charset="-122"/>
                <a:cs typeface="Arial" pitchFamily="34" charset="-120"/>
              </a:rPr>
              <a:t>Duplicados exactos · 24 · evidencia: duplicated() sin ID Fila · decisión: excluir (drop_duplicates) y registrar cuántas filas quedan.</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89611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PASO 6 · VALORES IMPOSIBLES Y CATEGORÍAS INCONSISTENTES</a:t>
            </a:r>
            <a:endParaRPr lang="en-US" sz="1300" dirty="0"/>
          </a:p>
        </p:txBody>
      </p:sp>
      <p:sp>
        <p:nvSpPr>
          <p:cNvPr id="3" name="Shape 1"/>
          <p:cNvSpPr/>
          <p:nvPr/>
        </p:nvSpPr>
        <p:spPr>
          <a:xfrm>
            <a:off x="9966960" y="411480"/>
            <a:ext cx="1554480" cy="457200"/>
          </a:xfrm>
          <a:prstGeom prst="roundRect">
            <a:avLst>
              <a:gd name="adj" fmla="val 50000"/>
            </a:avLst>
          </a:prstGeom>
          <a:solidFill>
            <a:srgbClr val="FBEDEF"/>
          </a:solidFill>
          <a:ln w="12700">
            <a:solidFill>
              <a:srgbClr val="A6192E"/>
            </a:solidFill>
            <a:prstDash val="solid"/>
          </a:ln>
        </p:spPr>
      </p:sp>
      <p:sp>
        <p:nvSpPr>
          <p:cNvPr id="4" name="Text 2"/>
          <p:cNvSpPr txBox="1"/>
          <p:nvPr/>
        </p:nvSpPr>
        <p:spPr>
          <a:xfrm>
            <a:off x="9966960" y="411480"/>
            <a:ext cx="1554480" cy="457200"/>
          </a:xfrm>
          <a:prstGeom prst="rect">
            <a:avLst/>
          </a:prstGeom>
          <a:noFill/>
          <a:ln/>
        </p:spPr>
        <p:txBody>
          <a:bodyPr wrap="square" lIns="0" tIns="0" rIns="0" bIns="0" rtlCol="0" anchor="ctr"/>
          <a:lstStyle/>
          <a:p>
            <a:pPr algn="ctr" indent="0" marL="0">
              <a:buNone/>
            </a:pPr>
            <a:r>
              <a:rPr lang="en-US" sz="1200" b="1" dirty="0">
                <a:solidFill>
                  <a:srgbClr val="A6192E"/>
                </a:solidFill>
                <a:latin typeface="Arial" pitchFamily="34" charset="0"/>
                <a:ea typeface="Arial" pitchFamily="34" charset="-122"/>
                <a:cs typeface="Arial" pitchFamily="34" charset="-120"/>
              </a:rPr>
              <a:t>MIN 58–65</a:t>
            </a:r>
            <a:endParaRPr lang="en-US" sz="1200" dirty="0"/>
          </a:p>
        </p:txBody>
      </p:sp>
      <p:sp>
        <p:nvSpPr>
          <p:cNvPr id="6" name="Text 3"/>
          <p:cNvSpPr txBox="1"/>
          <p:nvPr/>
        </p:nvSpPr>
        <p:spPr>
          <a:xfrm>
            <a:off x="685800" y="868680"/>
            <a:ext cx="10789920" cy="54864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Ciudad, Provincia, Cantidad y fechas</a:t>
            </a:r>
            <a:endParaRPr lang="en-US" sz="2700" dirty="0"/>
          </a:p>
        </p:txBody>
      </p:sp>
      <p:sp>
        <p:nvSpPr>
          <p:cNvPr id="7" name="Text 4"/>
          <p:cNvSpPr txBox="1"/>
          <p:nvPr/>
        </p:nvSpPr>
        <p:spPr>
          <a:xfrm>
            <a:off x="685800" y="1554480"/>
            <a:ext cx="54864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A · CATEGORÍAS: MIRA EL FINAL DE LA LISTA</a:t>
            </a:r>
            <a:endParaRPr lang="en-US" sz="1150" dirty="0"/>
          </a:p>
        </p:txBody>
      </p:sp>
      <p:sp>
        <p:nvSpPr>
          <p:cNvPr id="8" name="Shape 5"/>
          <p:cNvSpPr/>
          <p:nvPr/>
        </p:nvSpPr>
        <p:spPr>
          <a:xfrm>
            <a:off x="685800" y="1874520"/>
            <a:ext cx="5394960" cy="1406208"/>
          </a:xfrm>
          <a:prstGeom prst="roundRect">
            <a:avLst>
              <a:gd name="adj" fmla="val 5202"/>
            </a:avLst>
          </a:prstGeom>
          <a:solidFill>
            <a:srgbClr val="F4F4F4"/>
          </a:solidFill>
          <a:ln w="9525">
            <a:solidFill>
              <a:srgbClr val="E0E0E0"/>
            </a:solidFill>
            <a:prstDash val="solid"/>
          </a:ln>
        </p:spPr>
      </p:sp>
      <p:sp>
        <p:nvSpPr>
          <p:cNvPr id="9" name="Text 6"/>
          <p:cNvSpPr txBox="1"/>
          <p:nvPr/>
        </p:nvSpPr>
        <p:spPr>
          <a:xfrm>
            <a:off x="850392" y="1984248"/>
            <a:ext cx="5065776" cy="1186752"/>
          </a:xfrm>
          <a:prstGeom prst="rect">
            <a:avLst/>
          </a:prstGeom>
          <a:noFill/>
          <a:ln/>
        </p:spPr>
        <p:txBody>
          <a:bodyPr wrap="square" lIns="0" tIns="0" rIns="0" bIns="0" rtlCol="0" anchor="t"/>
          <a:lstStyle/>
          <a:p>
            <a:pPr indent="0" marL="0">
              <a:lnSpc>
                <a:spcPts val="1668"/>
              </a:lnSpc>
              <a:buNone/>
            </a:pPr>
            <a:r>
              <a:rPr lang="en-US" sz="1150" dirty="0">
                <a:solidFill>
                  <a:srgbClr val="1E1E1E"/>
                </a:solidFill>
                <a:latin typeface="Courier New" pitchFamily="34" charset="0"/>
                <a:ea typeface="Courier New" pitchFamily="34" charset="-122"/>
                <a:cs typeface="Courier New" pitchFamily="34" charset="-120"/>
              </a:rPr>
              <a:t>df["Ciudad"].value_counts().tail(4)</a:t>
            </a:r>
            <a:endParaRPr lang="en-US" sz="1150" dirty="0"/>
          </a:p>
          <a:p>
            <a:pPr indent="0" marL="0">
              <a:lnSpc>
                <a:spcPts val="1668"/>
              </a:lnSpc>
              <a:buNone/>
            </a:pPr>
            <a:r>
              <a:rPr lang="en-US" sz="1150" i="1" dirty="0">
                <a:solidFill>
                  <a:srgbClr val="8A8A8A"/>
                </a:solidFill>
                <a:latin typeface="Courier New" pitchFamily="34" charset="0"/>
                <a:ea typeface="Courier New" pitchFamily="34" charset="-122"/>
                <a:cs typeface="Courier New" pitchFamily="34" charset="-120"/>
              </a:rPr>
              <a:t># QUITO           19</a:t>
            </a:r>
            <a:endParaRPr lang="en-US" sz="1150" dirty="0"/>
          </a:p>
          <a:p>
            <a:pPr indent="0" marL="0">
              <a:lnSpc>
                <a:spcPts val="1668"/>
              </a:lnSpc>
              <a:buNone/>
            </a:pPr>
            <a:r>
              <a:rPr lang="en-US" sz="1150" i="1" dirty="0">
                <a:solidFill>
                  <a:srgbClr val="8A8A8A"/>
                </a:solidFill>
                <a:latin typeface="Courier New" pitchFamily="34" charset="0"/>
                <a:ea typeface="Courier New" pitchFamily="34" charset="-122"/>
                <a:cs typeface="Courier New" pitchFamily="34" charset="-120"/>
              </a:rPr>
              <a:t># Sto. Domingo    14</a:t>
            </a:r>
            <a:endParaRPr lang="en-US" sz="1150" dirty="0"/>
          </a:p>
          <a:p>
            <a:pPr indent="0" marL="0">
              <a:lnSpc>
                <a:spcPts val="1668"/>
              </a:lnSpc>
              <a:buNone/>
            </a:pPr>
            <a:r>
              <a:rPr lang="en-US" sz="1150" i="1" dirty="0">
                <a:solidFill>
                  <a:srgbClr val="8A8A8A"/>
                </a:solidFill>
                <a:latin typeface="Courier New" pitchFamily="34" charset="0"/>
                <a:ea typeface="Courier New" pitchFamily="34" charset="-122"/>
                <a:cs typeface="Courier New" pitchFamily="34" charset="-120"/>
              </a:rPr>
              <a:t># quito           12</a:t>
            </a:r>
            <a:endParaRPr lang="en-US" sz="1150" dirty="0"/>
          </a:p>
          <a:p>
            <a:pPr indent="0" marL="0">
              <a:lnSpc>
                <a:spcPts val="1668"/>
              </a:lnSpc>
              <a:buNone/>
            </a:pPr>
            <a:r>
              <a:rPr lang="en-US" sz="1150" i="1" dirty="0">
                <a:solidFill>
                  <a:srgbClr val="8A8A8A"/>
                </a:solidFill>
                <a:latin typeface="Courier New" pitchFamily="34" charset="0"/>
                <a:ea typeface="Courier New" pitchFamily="34" charset="-122"/>
                <a:cs typeface="Courier New" pitchFamily="34" charset="-120"/>
              </a:rPr>
              <a:t>#  Quito          10   ← con espacio adelante</a:t>
            </a:r>
            <a:endParaRPr lang="en-US" sz="1150" dirty="0"/>
          </a:p>
        </p:txBody>
      </p:sp>
      <p:sp>
        <p:nvSpPr>
          <p:cNvPr id="10" name="Text 7"/>
          <p:cNvSpPr txBox="1"/>
          <p:nvPr/>
        </p:nvSpPr>
        <p:spPr>
          <a:xfrm>
            <a:off x="685800" y="3611880"/>
            <a:ext cx="54864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B · PROVINCIA VACÍA (SE PUEDE DEDUCIR)</a:t>
            </a:r>
            <a:endParaRPr lang="en-US" sz="1150" dirty="0"/>
          </a:p>
        </p:txBody>
      </p:sp>
      <p:sp>
        <p:nvSpPr>
          <p:cNvPr id="11" name="Shape 8"/>
          <p:cNvSpPr/>
          <p:nvPr/>
        </p:nvSpPr>
        <p:spPr>
          <a:xfrm>
            <a:off x="685800" y="3931920"/>
            <a:ext cx="5394960" cy="1356995"/>
          </a:xfrm>
          <a:prstGeom prst="roundRect">
            <a:avLst>
              <a:gd name="adj" fmla="val 5391"/>
            </a:avLst>
          </a:prstGeom>
          <a:solidFill>
            <a:srgbClr val="F4F4F4"/>
          </a:solidFill>
          <a:ln w="9525">
            <a:solidFill>
              <a:srgbClr val="E0E0E0"/>
            </a:solidFill>
            <a:prstDash val="solid"/>
          </a:ln>
        </p:spPr>
      </p:sp>
      <p:sp>
        <p:nvSpPr>
          <p:cNvPr id="12" name="Text 9"/>
          <p:cNvSpPr txBox="1"/>
          <p:nvPr/>
        </p:nvSpPr>
        <p:spPr>
          <a:xfrm>
            <a:off x="850392" y="4041648"/>
            <a:ext cx="5065776" cy="1137539"/>
          </a:xfrm>
          <a:prstGeom prst="rect">
            <a:avLst/>
          </a:prstGeom>
          <a:noFill/>
          <a:ln/>
        </p:spPr>
        <p:txBody>
          <a:bodyPr wrap="square" lIns="0" tIns="0" rIns="0" bIns="0" rtlCol="0" anchor="t"/>
          <a:lstStyle/>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df["Provincia"].isna().sum()</a:t>
            </a:r>
            <a:endParaRPr lang="en-US" sz="1100" dirty="0"/>
          </a:p>
          <a:p>
            <a:pPr indent="0" marL="0">
              <a:lnSpc>
                <a:spcPts val="1595"/>
              </a:lnSpc>
              <a:buNone/>
            </a:pPr>
            <a:r>
              <a:rPr lang="en-US" sz="1100" i="1" dirty="0">
                <a:solidFill>
                  <a:srgbClr val="8A8A8A"/>
                </a:solidFill>
                <a:latin typeface="Courier New" pitchFamily="34" charset="0"/>
                <a:ea typeface="Courier New" pitchFamily="34" charset="-122"/>
                <a:cs typeface="Courier New" pitchFamily="34" charset="-120"/>
              </a:rPr>
              <a:t># 32</a:t>
            </a:r>
            <a:endParaRPr lang="en-US" sz="1100" dirty="0"/>
          </a:p>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sin_prov = df["Provincia"].isna()</a:t>
            </a:r>
            <a:endParaRPr lang="en-US" sz="1100" dirty="0"/>
          </a:p>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df.loc[sin_prov, "Ciudad"].value_counts().head(3)</a:t>
            </a:r>
            <a:endParaRPr lang="en-US" sz="1100" dirty="0"/>
          </a:p>
          <a:p>
            <a:pPr indent="0" marL="0">
              <a:lnSpc>
                <a:spcPts val="1595"/>
              </a:lnSpc>
              <a:buNone/>
            </a:pPr>
            <a:r>
              <a:rPr lang="en-US" sz="1100" i="1" dirty="0">
                <a:solidFill>
                  <a:srgbClr val="8A8A8A"/>
                </a:solidFill>
                <a:latin typeface="Courier New" pitchFamily="34" charset="0"/>
                <a:ea typeface="Courier New" pitchFamily="34" charset="-122"/>
                <a:cs typeface="Courier New" pitchFamily="34" charset="-120"/>
              </a:rPr>
              <a:t># Guayaquil 9 · Quito 9 · Manta 5</a:t>
            </a:r>
            <a:endParaRPr lang="en-US" sz="1100" dirty="0"/>
          </a:p>
        </p:txBody>
      </p:sp>
      <p:sp>
        <p:nvSpPr>
          <p:cNvPr id="13" name="Text 10"/>
          <p:cNvSpPr txBox="1"/>
          <p:nvPr/>
        </p:nvSpPr>
        <p:spPr>
          <a:xfrm>
            <a:off x="6400800" y="1554480"/>
            <a:ext cx="54864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C · CANTIDAD NEGATIVA (¿DEVOLUCIONES?)</a:t>
            </a:r>
            <a:endParaRPr lang="en-US" sz="1150" dirty="0"/>
          </a:p>
        </p:txBody>
      </p:sp>
      <p:sp>
        <p:nvSpPr>
          <p:cNvPr id="14" name="Shape 11"/>
          <p:cNvSpPr/>
          <p:nvPr/>
        </p:nvSpPr>
        <p:spPr>
          <a:xfrm>
            <a:off x="6400800" y="1874520"/>
            <a:ext cx="5120640" cy="1140460"/>
          </a:xfrm>
          <a:prstGeom prst="roundRect">
            <a:avLst>
              <a:gd name="adj" fmla="val 6414"/>
            </a:avLst>
          </a:prstGeom>
          <a:solidFill>
            <a:srgbClr val="F4F4F4"/>
          </a:solidFill>
          <a:ln w="9525">
            <a:solidFill>
              <a:srgbClr val="E0E0E0"/>
            </a:solidFill>
            <a:prstDash val="solid"/>
          </a:ln>
        </p:spPr>
      </p:sp>
      <p:sp>
        <p:nvSpPr>
          <p:cNvPr id="15" name="Text 12"/>
          <p:cNvSpPr txBox="1"/>
          <p:nvPr/>
        </p:nvSpPr>
        <p:spPr>
          <a:xfrm>
            <a:off x="6565392" y="1984248"/>
            <a:ext cx="4791456" cy="921004"/>
          </a:xfrm>
          <a:prstGeom prst="rect">
            <a:avLst/>
          </a:prstGeom>
          <a:noFill/>
          <a:ln/>
        </p:spPr>
        <p:txBody>
          <a:bodyPr wrap="square" lIns="0" tIns="0" rIns="0" bIns="0" rtlCol="0" anchor="t"/>
          <a:lstStyle/>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neg = df["Cantidad"] &lt; 0</a:t>
            </a:r>
            <a:endParaRPr lang="en-US" sz="1100" dirty="0"/>
          </a:p>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neg.sum()</a:t>
            </a:r>
            <a:endParaRPr lang="en-US" sz="1100" dirty="0"/>
          </a:p>
          <a:p>
            <a:pPr indent="0" marL="0">
              <a:lnSpc>
                <a:spcPts val="1595"/>
              </a:lnSpc>
              <a:buNone/>
            </a:pPr>
            <a:r>
              <a:rPr lang="en-US" sz="1100" i="1" dirty="0">
                <a:solidFill>
                  <a:srgbClr val="8A8A8A"/>
                </a:solidFill>
                <a:latin typeface="Courier New" pitchFamily="34" charset="0"/>
                <a:ea typeface="Courier New" pitchFamily="34" charset="-122"/>
                <a:cs typeface="Courier New" pitchFamily="34" charset="-120"/>
              </a:rPr>
              <a:t># 9</a:t>
            </a:r>
            <a:endParaRPr lang="en-US" sz="1100" dirty="0"/>
          </a:p>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df.loc[neg, ["ID Pedido", "Producto", "Cantidad"]]</a:t>
            </a:r>
            <a:endParaRPr lang="en-US" sz="1100" dirty="0"/>
          </a:p>
        </p:txBody>
      </p:sp>
      <p:sp>
        <p:nvSpPr>
          <p:cNvPr id="16" name="Text 13"/>
          <p:cNvSpPr txBox="1"/>
          <p:nvPr/>
        </p:nvSpPr>
        <p:spPr>
          <a:xfrm>
            <a:off x="6400800" y="3429000"/>
            <a:ext cx="54864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D · ENVÍOS QUE VIAJAN AL PASADO (FECHAS PRIMERO)</a:t>
            </a:r>
            <a:endParaRPr lang="en-US" sz="1150" dirty="0"/>
          </a:p>
        </p:txBody>
      </p:sp>
      <p:sp>
        <p:nvSpPr>
          <p:cNvPr id="17" name="Shape 14"/>
          <p:cNvSpPr/>
          <p:nvPr/>
        </p:nvSpPr>
        <p:spPr>
          <a:xfrm>
            <a:off x="6400800" y="3749040"/>
            <a:ext cx="5120640" cy="1573530"/>
          </a:xfrm>
          <a:prstGeom prst="roundRect">
            <a:avLst>
              <a:gd name="adj" fmla="val 4649"/>
            </a:avLst>
          </a:prstGeom>
          <a:solidFill>
            <a:srgbClr val="F4F4F4"/>
          </a:solidFill>
          <a:ln w="9525">
            <a:solidFill>
              <a:srgbClr val="E0E0E0"/>
            </a:solidFill>
            <a:prstDash val="solid"/>
          </a:ln>
        </p:spPr>
      </p:sp>
      <p:sp>
        <p:nvSpPr>
          <p:cNvPr id="18" name="Text 15"/>
          <p:cNvSpPr txBox="1"/>
          <p:nvPr/>
        </p:nvSpPr>
        <p:spPr>
          <a:xfrm>
            <a:off x="6565392" y="3858768"/>
            <a:ext cx="4791456" cy="1354074"/>
          </a:xfrm>
          <a:prstGeom prst="rect">
            <a:avLst/>
          </a:prstGeom>
          <a:noFill/>
          <a:ln/>
        </p:spPr>
        <p:txBody>
          <a:bodyPr wrap="square" lIns="0" tIns="0" rIns="0" bIns="0" rtlCol="0" anchor="t"/>
          <a:lstStyle/>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pedido = pd.to_datetime(df["Fecha Pedido"],</a:t>
            </a:r>
            <a:endParaRPr lang="en-US" sz="1100" dirty="0"/>
          </a:p>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                        format="mixed", dayfirst=True)</a:t>
            </a:r>
            <a:endParaRPr lang="en-US" sz="1100" dirty="0"/>
          </a:p>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envio  = pd.to_datetime(df["Fecha Envío"],</a:t>
            </a:r>
            <a:endParaRPr lang="en-US" sz="1100" dirty="0"/>
          </a:p>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                        format="mixed", dayfirst=True)</a:t>
            </a:r>
            <a:endParaRPr lang="en-US" sz="1100" dirty="0"/>
          </a:p>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(envio &lt; pedido).sum()</a:t>
            </a:r>
            <a:endParaRPr lang="en-US" sz="1100" dirty="0"/>
          </a:p>
          <a:p>
            <a:pPr indent="0" marL="0">
              <a:lnSpc>
                <a:spcPts val="1595"/>
              </a:lnSpc>
              <a:buNone/>
            </a:pPr>
            <a:r>
              <a:rPr lang="en-US" sz="1100" i="1" dirty="0">
                <a:solidFill>
                  <a:srgbClr val="8A8A8A"/>
                </a:solidFill>
                <a:latin typeface="Courier New" pitchFamily="34" charset="0"/>
                <a:ea typeface="Courier New" pitchFamily="34" charset="-122"/>
                <a:cs typeface="Courier New" pitchFamily="34" charset="-120"/>
              </a:rPr>
              <a:t># 6   ← comparadas como texto, sale mal</a:t>
            </a:r>
            <a:endParaRPr lang="en-US" sz="1100" dirty="0"/>
          </a:p>
        </p:txBody>
      </p:sp>
      <p:sp>
        <p:nvSpPr>
          <p:cNvPr id="19" name="Shape 16"/>
          <p:cNvSpPr/>
          <p:nvPr/>
        </p:nvSpPr>
        <p:spPr>
          <a:xfrm>
            <a:off x="685800" y="6126480"/>
            <a:ext cx="109728" cy="457200"/>
          </a:xfrm>
          <a:prstGeom prst="rect">
            <a:avLst/>
          </a:prstGeom>
          <a:solidFill>
            <a:srgbClr val="A6192E"/>
          </a:solidFill>
          <a:ln/>
        </p:spPr>
      </p:sp>
      <p:sp>
        <p:nvSpPr>
          <p:cNvPr id="20" name="Text 17"/>
          <p:cNvSpPr txBox="1"/>
          <p:nvPr/>
        </p:nvSpPr>
        <p:spPr>
          <a:xfrm>
            <a:off x="960120" y="6126480"/>
            <a:ext cx="10515600" cy="457200"/>
          </a:xfrm>
          <a:prstGeom prst="rect">
            <a:avLst/>
          </a:prstGeom>
          <a:noFill/>
          <a:ln/>
        </p:spPr>
        <p:txBody>
          <a:bodyPr wrap="square" lIns="0" tIns="0" rIns="0" bIns="0" rtlCol="0" anchor="ctr"/>
          <a:lstStyle/>
          <a:p>
            <a:pPr indent="0" marL="0">
              <a:buNone/>
            </a:pPr>
            <a:r>
              <a:rPr lang="en-US" sz="1350" b="1" dirty="0">
                <a:solidFill>
                  <a:srgbClr val="A6192E"/>
                </a:solidFill>
                <a:latin typeface="Arial" pitchFamily="34" charset="0"/>
                <a:ea typeface="Arial" pitchFamily="34" charset="-122"/>
                <a:cs typeface="Arial" pitchFamily="34" charset="-120"/>
              </a:rPr>
              <a:t>BITÁCORA  </a:t>
            </a:r>
            <a:pPr indent="0" marL="0">
              <a:buNone/>
            </a:pPr>
            <a:r>
              <a:rPr lang="en-US" sz="1350" dirty="0">
                <a:solidFill>
                  <a:srgbClr val="1E1E1E"/>
                </a:solidFill>
                <a:latin typeface="Arial" pitchFamily="34" charset="0"/>
                <a:ea typeface="Arial" pitchFamily="34" charset="-122"/>
                <a:cs typeface="Arial" pitchFamily="34" charset="-120"/>
              </a:rPr>
              <a:t>Ciudad inconsistente · ~55 · Provincia vacía · 32 · Cantidad negativa · 9 · Envío anterior al pedido · 6.</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89611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CHECKPOINT · EL INVENTARIO COMPLETO</a:t>
            </a:r>
            <a:endParaRPr lang="en-US" sz="1300" dirty="0"/>
          </a:p>
        </p:txBody>
      </p:sp>
      <p:sp>
        <p:nvSpPr>
          <p:cNvPr id="3" name="Shape 1"/>
          <p:cNvSpPr/>
          <p:nvPr/>
        </p:nvSpPr>
        <p:spPr>
          <a:xfrm>
            <a:off x="9966960" y="411480"/>
            <a:ext cx="1554480" cy="457200"/>
          </a:xfrm>
          <a:prstGeom prst="roundRect">
            <a:avLst>
              <a:gd name="adj" fmla="val 50000"/>
            </a:avLst>
          </a:prstGeom>
          <a:solidFill>
            <a:srgbClr val="FBEDEF"/>
          </a:solidFill>
          <a:ln w="12700">
            <a:solidFill>
              <a:srgbClr val="A6192E"/>
            </a:solidFill>
            <a:prstDash val="solid"/>
          </a:ln>
        </p:spPr>
      </p:sp>
      <p:sp>
        <p:nvSpPr>
          <p:cNvPr id="4" name="Text 2"/>
          <p:cNvSpPr txBox="1"/>
          <p:nvPr/>
        </p:nvSpPr>
        <p:spPr>
          <a:xfrm>
            <a:off x="9966960" y="411480"/>
            <a:ext cx="1554480" cy="457200"/>
          </a:xfrm>
          <a:prstGeom prst="rect">
            <a:avLst/>
          </a:prstGeom>
          <a:noFill/>
          <a:ln/>
        </p:spPr>
        <p:txBody>
          <a:bodyPr wrap="square" lIns="0" tIns="0" rIns="0" bIns="0" rtlCol="0" anchor="ctr"/>
          <a:lstStyle/>
          <a:p>
            <a:pPr algn="ctr" indent="0" marL="0">
              <a:buNone/>
            </a:pPr>
            <a:r>
              <a:rPr lang="en-US" sz="1200" b="1" dirty="0">
                <a:solidFill>
                  <a:srgbClr val="A6192E"/>
                </a:solidFill>
                <a:latin typeface="Arial" pitchFamily="34" charset="0"/>
                <a:ea typeface="Arial" pitchFamily="34" charset="-122"/>
                <a:cs typeface="Arial" pitchFamily="34" charset="-120"/>
              </a:rPr>
              <a:t>MIN 65–68</a:t>
            </a:r>
            <a:endParaRPr lang="en-US" sz="1200" dirty="0"/>
          </a:p>
        </p:txBody>
      </p:sp>
      <p:sp>
        <p:nvSpPr>
          <p:cNvPr id="6" name="Text 3"/>
          <p:cNvSpPr txBox="1"/>
          <p:nvPr/>
        </p:nvSpPr>
        <p:spPr>
          <a:xfrm>
            <a:off x="685800" y="868680"/>
            <a:ext cx="10789920" cy="54864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El inventario completo: ¿cuántas filas tiene tu bitácora?</a:t>
            </a:r>
            <a:endParaRPr lang="en-US" sz="2700" dirty="0"/>
          </a:p>
        </p:txBody>
      </p:sp>
      <p:pic>
        <p:nvPicPr>
          <p:cNvPr id="7" name="Image 0" descr="img_deck/fig4_inventario.png">    </p:cNvPr>
          <p:cNvPicPr>
            <a:picLocks noChangeAspect="1"/>
          </p:cNvPicPr>
          <p:nvPr/>
        </p:nvPicPr>
        <p:blipFill>
          <a:blip r:embed="rId1"/>
          <a:stretch>
            <a:fillRect/>
          </a:stretch>
        </p:blipFill>
        <p:spPr>
          <a:xfrm>
            <a:off x="685800" y="1508760"/>
            <a:ext cx="6949440" cy="3869325"/>
          </a:xfrm>
          <a:prstGeom prst="rect">
            <a:avLst/>
          </a:prstGeom>
        </p:spPr>
      </p:pic>
      <p:sp>
        <p:nvSpPr>
          <p:cNvPr id="8" name="Text 4"/>
          <p:cNvSpPr txBox="1"/>
          <p:nvPr/>
        </p:nvSpPr>
        <p:spPr>
          <a:xfrm>
            <a:off x="7955280" y="1600200"/>
            <a:ext cx="36576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Y DOS QUE LA GRÁFICA NO MUESTRA</a:t>
            </a:r>
            <a:endParaRPr lang="en-US" sz="1150" dirty="0"/>
          </a:p>
        </p:txBody>
      </p:sp>
      <p:sp>
        <p:nvSpPr>
          <p:cNvPr id="9" name="Text 5"/>
          <p:cNvSpPr txBox="1"/>
          <p:nvPr/>
        </p:nvSpPr>
        <p:spPr>
          <a:xfrm>
            <a:off x="7955280" y="1920240"/>
            <a:ext cx="3566160" cy="1645920"/>
          </a:xfrm>
          <a:prstGeom prst="rect">
            <a:avLst/>
          </a:prstGeom>
          <a:noFill/>
          <a:ln/>
        </p:spPr>
        <p:txBody>
          <a:bodyPr wrap="square" lIns="0" tIns="0" rIns="0" bIns="0" rtlCol="0" anchor="ctr"/>
          <a:lstStyle/>
          <a:p>
            <a:pPr marL="177800" indent="-177800">
              <a:lnSpc>
                <a:spcPts val="1800"/>
              </a:lnSpc>
              <a:spcAft>
                <a:spcPts val="1000"/>
              </a:spcAft>
              <a:buSzPct val="100000"/>
              <a:buChar char="•"/>
            </a:pPr>
            <a:r>
              <a:rPr lang="en-US" sz="1300" dirty="0">
                <a:solidFill>
                  <a:srgbClr val="1E1E1E"/>
                </a:solidFill>
                <a:latin typeface="Arial" pitchFamily="34" charset="0"/>
                <a:ea typeface="Arial" pitchFamily="34" charset="-122"/>
                <a:cs typeface="Arial" pitchFamily="34" charset="-120"/>
              </a:rPr>
              <a:t>Total Pedido repetido por línea: afecta a todas las filas, no se suma.</a:t>
            </a:r>
            <a:endParaRPr lang="en-US" sz="1300" dirty="0"/>
          </a:p>
          <a:p>
            <a:pPr marL="177800" indent="-177800">
              <a:lnSpc>
                <a:spcPts val="1800"/>
              </a:lnSpc>
              <a:spcAft>
                <a:spcPts val="1000"/>
              </a:spcAft>
              <a:buSzPct val="100000"/>
              <a:buChar char="•"/>
            </a:pPr>
            <a:r>
              <a:rPr lang="en-US" sz="1300" dirty="0">
                <a:solidFill>
                  <a:srgbClr val="1E1E1E"/>
                </a:solidFill>
                <a:latin typeface="Arial" pitchFamily="34" charset="0"/>
                <a:ea typeface="Arial" pitchFamily="34" charset="-122"/>
                <a:cs typeface="Arial" pitchFamily="34" charset="-120"/>
              </a:rPr>
              <a:t>Ciudad con cuatro grafías de Quito y dos de Santo Domingo: unas 55 filas.</a:t>
            </a:r>
            <a:endParaRPr lang="en-US" sz="1300" dirty="0"/>
          </a:p>
        </p:txBody>
      </p:sp>
      <p:sp>
        <p:nvSpPr>
          <p:cNvPr id="10" name="Shape 6"/>
          <p:cNvSpPr/>
          <p:nvPr/>
        </p:nvSpPr>
        <p:spPr>
          <a:xfrm>
            <a:off x="7955280" y="3749040"/>
            <a:ext cx="3566160" cy="1371600"/>
          </a:xfrm>
          <a:prstGeom prst="rect">
            <a:avLst/>
          </a:prstGeom>
          <a:solidFill>
            <a:srgbClr val="FBEDEF"/>
          </a:solidFill>
          <a:ln/>
        </p:spPr>
      </p:sp>
      <p:sp>
        <p:nvSpPr>
          <p:cNvPr id="11" name="Text 7"/>
          <p:cNvSpPr txBox="1"/>
          <p:nvPr/>
        </p:nvSpPr>
        <p:spPr>
          <a:xfrm>
            <a:off x="8183880" y="3749040"/>
            <a:ext cx="3108960" cy="1371600"/>
          </a:xfrm>
          <a:prstGeom prst="rect">
            <a:avLst/>
          </a:prstGeom>
          <a:noFill/>
          <a:ln/>
        </p:spPr>
        <p:txBody>
          <a:bodyPr wrap="square" lIns="0" tIns="0" rIns="0" bIns="0" rtlCol="0" anchor="ctr"/>
          <a:lstStyle/>
          <a:p>
            <a:pPr indent="0" marL="0">
              <a:lnSpc>
                <a:spcPts val="1900"/>
              </a:lnSpc>
              <a:buNone/>
            </a:pPr>
            <a:r>
              <a:rPr lang="en-US" sz="1400" b="1" dirty="0">
                <a:solidFill>
                  <a:srgbClr val="A6192E"/>
                </a:solidFill>
                <a:latin typeface="Arial" pitchFamily="34" charset="0"/>
                <a:ea typeface="Arial" pitchFamily="34" charset="-122"/>
                <a:cs typeface="Arial" pitchFamily="34" charset="-120"/>
              </a:rPr>
              <a:t>Lo que sigue es decidir qué hacer con cada problema. Cada decisión cambia una cifra del negocio.</a:t>
            </a:r>
            <a:endParaRPr lang="en-US" sz="1400" dirty="0"/>
          </a:p>
        </p:txBody>
      </p:sp>
      <p:sp>
        <p:nvSpPr>
          <p:cNvPr id="12" name="Text 8"/>
          <p:cNvSpPr txBox="1"/>
          <p:nvPr/>
        </p:nvSpPr>
        <p:spPr>
          <a:xfrm>
            <a:off x="685800" y="6309360"/>
            <a:ext cx="10789920" cy="365760"/>
          </a:xfrm>
          <a:prstGeom prst="rect">
            <a:avLst/>
          </a:prstGeom>
          <a:noFill/>
          <a:ln/>
        </p:spPr>
        <p:txBody>
          <a:bodyPr wrap="square" lIns="0" tIns="0" rIns="0" bIns="0" rtlCol="0" anchor="ctr"/>
          <a:lstStyle/>
          <a:p>
            <a:pPr algn="ctr" indent="0" marL="0">
              <a:buNone/>
            </a:pPr>
            <a:r>
              <a:rPr lang="en-US" sz="1300" dirty="0">
                <a:solidFill>
                  <a:srgbClr val="6B6B6B"/>
                </a:solidFill>
                <a:latin typeface="Arial" pitchFamily="34" charset="0"/>
                <a:ea typeface="Arial" pitchFamily="34" charset="-122"/>
                <a:cs typeface="Arial" pitchFamily="34" charset="-120"/>
              </a:rPr>
              <a:t>Once problemas sembrados en la base. El Deber 2 pide al menos seis, con evidencia y decisión.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89611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LAS DECISIONES</a:t>
            </a:r>
            <a:endParaRPr lang="en-US" sz="1300" dirty="0"/>
          </a:p>
        </p:txBody>
      </p:sp>
      <p:sp>
        <p:nvSpPr>
          <p:cNvPr id="3" name="Shape 1"/>
          <p:cNvSpPr/>
          <p:nvPr/>
        </p:nvSpPr>
        <p:spPr>
          <a:xfrm>
            <a:off x="9966960" y="411480"/>
            <a:ext cx="1554480" cy="457200"/>
          </a:xfrm>
          <a:prstGeom prst="roundRect">
            <a:avLst>
              <a:gd name="adj" fmla="val 50000"/>
            </a:avLst>
          </a:prstGeom>
          <a:solidFill>
            <a:srgbClr val="FBEDEF"/>
          </a:solidFill>
          <a:ln w="12700">
            <a:solidFill>
              <a:srgbClr val="A6192E"/>
            </a:solidFill>
            <a:prstDash val="solid"/>
          </a:ln>
        </p:spPr>
      </p:sp>
      <p:sp>
        <p:nvSpPr>
          <p:cNvPr id="4" name="Text 2"/>
          <p:cNvSpPr txBox="1"/>
          <p:nvPr/>
        </p:nvSpPr>
        <p:spPr>
          <a:xfrm>
            <a:off x="9966960" y="411480"/>
            <a:ext cx="1554480" cy="457200"/>
          </a:xfrm>
          <a:prstGeom prst="rect">
            <a:avLst/>
          </a:prstGeom>
          <a:noFill/>
          <a:ln/>
        </p:spPr>
        <p:txBody>
          <a:bodyPr wrap="square" lIns="0" tIns="0" rIns="0" bIns="0" rtlCol="0" anchor="ctr"/>
          <a:lstStyle/>
          <a:p>
            <a:pPr algn="ctr" indent="0" marL="0">
              <a:buNone/>
            </a:pPr>
            <a:r>
              <a:rPr lang="en-US" sz="1200" b="1" dirty="0">
                <a:solidFill>
                  <a:srgbClr val="A6192E"/>
                </a:solidFill>
                <a:latin typeface="Arial" pitchFamily="34" charset="0"/>
                <a:ea typeface="Arial" pitchFamily="34" charset="-122"/>
                <a:cs typeface="Arial" pitchFamily="34" charset="-120"/>
              </a:rPr>
              <a:t>MIN 68–73</a:t>
            </a:r>
            <a:endParaRPr lang="en-US" sz="1200" dirty="0"/>
          </a:p>
        </p:txBody>
      </p:sp>
      <p:sp>
        <p:nvSpPr>
          <p:cNvPr id="6" name="Text 3"/>
          <p:cNvSpPr txBox="1"/>
          <p:nvPr/>
        </p:nvSpPr>
        <p:spPr>
          <a:xfrm>
            <a:off x="685800" y="868680"/>
            <a:ext cx="10789920" cy="54864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Cuatro decisiones posibles por problema</a:t>
            </a:r>
            <a:endParaRPr lang="en-US" sz="2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1554480"/>
          <a:ext cx="6949440" cy="914400"/>
        </p:xfrm>
        <a:graphic>
          <a:graphicData uri="http://schemas.openxmlformats.org/drawingml/2006/table">
            <a:tbl>
              <a:tblPr/>
              <a:tblGrid>
                <a:gridCol w="1280160"/>
                <a:gridCol w="2468880"/>
                <a:gridCol w="3200400"/>
              </a:tblGrid>
              <a:tr h="640080">
                <a:tc>
                  <a:txBody>
                    <a:bodyPr/>
                    <a:lstStyle/>
                    <a:p>
                      <a:pPr algn="l" indent="0" marL="0">
                        <a:buNone/>
                      </a:pPr>
                      <a:r>
                        <a:rPr lang="en-US" sz="1050" b="1" dirty="0">
                          <a:solidFill>
                            <a:srgbClr val="A6192E"/>
                          </a:solidFill>
                          <a:latin typeface="Arial" pitchFamily="34" charset="0"/>
                          <a:ea typeface="Arial" pitchFamily="34" charset="-122"/>
                          <a:cs typeface="Arial" pitchFamily="34" charset="-120"/>
                        </a:rPr>
                        <a:t>Verbo</a:t>
                      </a:r>
                      <a:endParaRPr lang="en-US" sz="10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l" indent="0" marL="0">
                        <a:buNone/>
                      </a:pPr>
                      <a:r>
                        <a:rPr lang="en-US" sz="1050" b="1" dirty="0">
                          <a:solidFill>
                            <a:srgbClr val="A6192E"/>
                          </a:solidFill>
                          <a:latin typeface="Arial" pitchFamily="34" charset="0"/>
                          <a:ea typeface="Arial" pitchFamily="34" charset="-122"/>
                          <a:cs typeface="Arial" pitchFamily="34" charset="-120"/>
                        </a:rPr>
                        <a:t>Cuándo</a:t>
                      </a:r>
                      <a:endParaRPr lang="en-US" sz="10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l" indent="0" marL="0">
                        <a:buNone/>
                      </a:pPr>
                      <a:r>
                        <a:rPr lang="en-US" sz="1050" b="1" dirty="0">
                          <a:solidFill>
                            <a:srgbClr val="A6192E"/>
                          </a:solidFill>
                          <a:latin typeface="Arial" pitchFamily="34" charset="0"/>
                          <a:ea typeface="Arial" pitchFamily="34" charset="-122"/>
                          <a:cs typeface="Arial" pitchFamily="34" charset="-120"/>
                        </a:rPr>
                        <a:t>En Andina Market</a:t>
                      </a:r>
                      <a:endParaRPr lang="en-US" sz="10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r>
              <a:tr h="640080">
                <a:tc>
                  <a:txBody>
                    <a:bodyPr/>
                    <a:lstStyle/>
                    <a:p>
                      <a:pPr algn="l" indent="0" marL="0">
                        <a:buNone/>
                      </a:pPr>
                      <a:r>
                        <a:rPr lang="en-US" sz="1200" b="1" dirty="0">
                          <a:solidFill>
                            <a:srgbClr val="1E1E1E"/>
                          </a:solidFill>
                          <a:latin typeface="Arial" pitchFamily="34" charset="0"/>
                          <a:ea typeface="Arial" pitchFamily="34" charset="-122"/>
                          <a:cs typeface="Arial" pitchFamily="34" charset="-120"/>
                        </a:rPr>
                        <a:t>Corregir</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La regla es conocida y reversible</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Unificar QUITO / quito / " Quito" con str.strip().str.title()</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640080">
                <a:tc>
                  <a:txBody>
                    <a:bodyPr/>
                    <a:lstStyle/>
                    <a:p>
                      <a:pPr algn="l" indent="0" marL="0">
                        <a:buNone/>
                      </a:pPr>
                      <a:r>
                        <a:rPr lang="en-US" sz="1200" b="1" dirty="0">
                          <a:solidFill>
                            <a:srgbClr val="1E1E1E"/>
                          </a:solidFill>
                          <a:latin typeface="Arial" pitchFamily="34" charset="0"/>
                          <a:ea typeface="Arial" pitchFamily="34" charset="-122"/>
                          <a:cs typeface="Arial" pitchFamily="34" charset="-120"/>
                        </a:rPr>
                        <a:t>Excluir</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La fila no puede ser verdad y no hay forma de repararla</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Envíos anteriores al pedido (6), si logística no los explica</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640080">
                <a:tc>
                  <a:txBody>
                    <a:bodyPr/>
                    <a:lstStyle/>
                    <a:p>
                      <a:pPr algn="l" indent="0" marL="0">
                        <a:buNone/>
                      </a:pPr>
                      <a:r>
                        <a:rPr lang="en-US" sz="1200" b="1" dirty="0">
                          <a:solidFill>
                            <a:srgbClr val="1E1E1E"/>
                          </a:solidFill>
                          <a:latin typeface="Arial" pitchFamily="34" charset="0"/>
                          <a:ea typeface="Arial" pitchFamily="34" charset="-122"/>
                          <a:cs typeface="Arial" pitchFamily="34" charset="-120"/>
                        </a:rPr>
                        <a:t>Imputar</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Hay un valor razonable y documentas el criterio</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Provincia vacía (32): se deduce de la ciudad</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640080">
                <a:tc>
                  <a:txBody>
                    <a:bodyPr/>
                    <a:lstStyle/>
                    <a:p>
                      <a:pPr algn="l" indent="0" marL="0">
                        <a:buNone/>
                      </a:pPr>
                      <a:r>
                        <a:rPr lang="en-US" sz="1200" b="1" dirty="0">
                          <a:solidFill>
                            <a:srgbClr val="1E1E1E"/>
                          </a:solidFill>
                          <a:latin typeface="Arial" pitchFamily="34" charset="0"/>
                          <a:ea typeface="Arial" pitchFamily="34" charset="-122"/>
                          <a:cs typeface="Arial" pitchFamily="34" charset="-120"/>
                        </a:rPr>
                        <a:t>Documentar</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Siempre. Los otros tres sin este no valen</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Toda la bitácora, incluidos los problemas que decides no tocar</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bl>
          </a:graphicData>
        </a:graphic>
      </p:graphicFrame>
      <p:sp>
        <p:nvSpPr>
          <p:cNvPr id="8" name="Shape 4"/>
          <p:cNvSpPr/>
          <p:nvPr/>
        </p:nvSpPr>
        <p:spPr>
          <a:xfrm>
            <a:off x="7955280" y="1554480"/>
            <a:ext cx="3566160" cy="3749040"/>
          </a:xfrm>
          <a:prstGeom prst="rect">
            <a:avLst/>
          </a:prstGeom>
          <a:solidFill>
            <a:srgbClr val="FBEDEF"/>
          </a:solidFill>
          <a:ln/>
        </p:spPr>
      </p:sp>
      <p:sp>
        <p:nvSpPr>
          <p:cNvPr id="9" name="Text 5"/>
          <p:cNvSpPr txBox="1"/>
          <p:nvPr/>
        </p:nvSpPr>
        <p:spPr>
          <a:xfrm>
            <a:off x="8183880" y="1719072"/>
            <a:ext cx="3108960" cy="274320"/>
          </a:xfrm>
          <a:prstGeom prst="rect">
            <a:avLst/>
          </a:prstGeom>
          <a:noFill/>
          <a:ln/>
        </p:spPr>
        <p:txBody>
          <a:bodyPr wrap="square" lIns="0" tIns="0" rIns="0" bIns="0" rtlCol="0" anchor="ctr"/>
          <a:lstStyle/>
          <a:p>
            <a:pPr indent="0" marL="0">
              <a:buNone/>
            </a:pPr>
            <a:r>
              <a:rPr lang="en-US" sz="1100" b="1" spc="150" kern="0" dirty="0">
                <a:solidFill>
                  <a:srgbClr val="A6192E"/>
                </a:solidFill>
                <a:latin typeface="Arial" pitchFamily="34" charset="0"/>
                <a:ea typeface="Arial" pitchFamily="34" charset="-122"/>
                <a:cs typeface="Arial" pitchFamily="34" charset="-120"/>
              </a:rPr>
              <a:t>TU APUESTA</a:t>
            </a:r>
            <a:endParaRPr lang="en-US" sz="1100" dirty="0"/>
          </a:p>
        </p:txBody>
      </p:sp>
      <p:sp>
        <p:nvSpPr>
          <p:cNvPr id="10" name="Text 6"/>
          <p:cNvSpPr txBox="1"/>
          <p:nvPr/>
        </p:nvSpPr>
        <p:spPr>
          <a:xfrm>
            <a:off x="8183880" y="2011680"/>
            <a:ext cx="3108960" cy="3108960"/>
          </a:xfrm>
          <a:prstGeom prst="rect">
            <a:avLst/>
          </a:prstGeom>
          <a:noFill/>
          <a:ln/>
        </p:spPr>
        <p:txBody>
          <a:bodyPr wrap="square" lIns="0" tIns="0" rIns="0" bIns="0" rtlCol="0" anchor="t"/>
          <a:lstStyle/>
          <a:p>
            <a:pPr indent="0" marL="0">
              <a:lnSpc>
                <a:spcPts val="2400"/>
              </a:lnSpc>
              <a:buNone/>
            </a:pPr>
            <a:r>
              <a:rPr lang="en-US" sz="1800" b="1" dirty="0">
                <a:solidFill>
                  <a:srgbClr val="1E1E1E"/>
                </a:solidFill>
                <a:latin typeface="Arial" pitchFamily="34" charset="0"/>
                <a:ea typeface="Arial" pitchFamily="34" charset="-122"/>
                <a:cs typeface="Arial" pitchFamily="34" charset="-120"/>
              </a:rPr>
              <a:t>9 filas tienen Cantidad negativa. ¿Qué haces?</a:t>
            </a:r>
            <a:endParaRPr lang="en-US" sz="1800" dirty="0"/>
          </a:p>
        </p:txBody>
      </p:sp>
      <p:sp>
        <p:nvSpPr>
          <p:cNvPr id="11" name="Text 7"/>
          <p:cNvSpPr txBox="1"/>
          <p:nvPr/>
        </p:nvSpPr>
        <p:spPr>
          <a:xfrm>
            <a:off x="8183880" y="2971800"/>
            <a:ext cx="3200400" cy="2194560"/>
          </a:xfrm>
          <a:prstGeom prst="rect">
            <a:avLst/>
          </a:prstGeom>
          <a:noFill/>
          <a:ln/>
        </p:spPr>
        <p:txBody>
          <a:bodyPr wrap="square" lIns="0" tIns="0" rIns="0" bIns="0" rtlCol="0" anchor="t"/>
          <a:lstStyle/>
          <a:p>
            <a:pPr indent="0" marL="0">
              <a:spcAft>
                <a:spcPts val="800"/>
              </a:spcAft>
              <a:buNone/>
            </a:pPr>
            <a:r>
              <a:rPr lang="en-US" sz="1250" dirty="0">
                <a:solidFill>
                  <a:srgbClr val="1E1E1E"/>
                </a:solidFill>
                <a:latin typeface="Arial" pitchFamily="34" charset="0"/>
                <a:ea typeface="Arial" pitchFamily="34" charset="-122"/>
                <a:cs typeface="Arial" pitchFamily="34" charset="-120"/>
              </a:rPr>
              <a:t>A · Borrarlas: 9 en 1.335 no mueven nada.</a:t>
            </a:r>
            <a:endParaRPr lang="en-US" sz="1250" dirty="0"/>
          </a:p>
          <a:p>
            <a:pPr indent="0" marL="0">
              <a:spcAft>
                <a:spcPts val="800"/>
              </a:spcAft>
              <a:buNone/>
            </a:pPr>
            <a:r>
              <a:rPr lang="en-US" sz="1250" dirty="0">
                <a:solidFill>
                  <a:srgbClr val="1E1E1E"/>
                </a:solidFill>
                <a:latin typeface="Arial" pitchFamily="34" charset="0"/>
                <a:ea typeface="Arial" pitchFamily="34" charset="-122"/>
                <a:cs typeface="Arial" pitchFamily="34" charset="-120"/>
              </a:rPr>
              <a:t>B · Valor absoluto: fue un signo mal digitado.</a:t>
            </a:r>
            <a:endParaRPr lang="en-US" sz="1250" dirty="0"/>
          </a:p>
          <a:p>
            <a:pPr indent="0" marL="0">
              <a:spcAft>
                <a:spcPts val="800"/>
              </a:spcAft>
              <a:buNone/>
            </a:pPr>
            <a:r>
              <a:rPr lang="en-US" sz="1250" dirty="0">
                <a:solidFill>
                  <a:srgbClr val="1E1E1E"/>
                </a:solidFill>
                <a:latin typeface="Arial" pitchFamily="34" charset="0"/>
                <a:ea typeface="Arial" pitchFamily="34" charset="-122"/>
                <a:cs typeface="Arial" pitchFamily="34" charset="-120"/>
              </a:rPr>
              <a:t>C · Preguntar al negocio si son devoluciones y documentar la respuesta.</a:t>
            </a:r>
            <a:endParaRPr lang="en-US" sz="1250" dirty="0"/>
          </a:p>
          <a:p>
            <a:pPr indent="0" marL="0">
              <a:spcAft>
                <a:spcPts val="800"/>
              </a:spcAft>
              <a:buNone/>
            </a:pPr>
            <a:r>
              <a:rPr lang="en-US" sz="1250" dirty="0">
                <a:solidFill>
                  <a:srgbClr val="1E1E1E"/>
                </a:solidFill>
                <a:latin typeface="Arial" pitchFamily="34" charset="0"/>
                <a:ea typeface="Arial" pitchFamily="34" charset="-122"/>
                <a:cs typeface="Arial" pitchFamily="34" charset="-120"/>
              </a:rPr>
              <a:t>D · Dejarlas: los datos no se tocan.</a:t>
            </a:r>
            <a:endParaRPr lang="en-US" sz="1250" dirty="0"/>
          </a:p>
        </p:txBody>
      </p:sp>
      <p:sp>
        <p:nvSpPr>
          <p:cNvPr id="12" name="Text 8"/>
          <p:cNvSpPr txBox="1"/>
          <p:nvPr/>
        </p:nvSpPr>
        <p:spPr>
          <a:xfrm>
            <a:off x="685800" y="5120640"/>
            <a:ext cx="6949440" cy="731520"/>
          </a:xfrm>
          <a:prstGeom prst="rect">
            <a:avLst/>
          </a:prstGeom>
          <a:noFill/>
          <a:ln/>
        </p:spPr>
        <p:txBody>
          <a:bodyPr wrap="square" lIns="0" tIns="0" rIns="0" bIns="0" rtlCol="0" anchor="ctr"/>
          <a:lstStyle/>
          <a:p>
            <a:pPr indent="0" marL="0">
              <a:lnSpc>
                <a:spcPts val="1800"/>
              </a:lnSpc>
              <a:buNone/>
            </a:pPr>
            <a:r>
              <a:rPr lang="en-US" sz="1300" dirty="0">
                <a:solidFill>
                  <a:srgbClr val="6B6B6B"/>
                </a:solidFill>
                <a:latin typeface="Arial" pitchFamily="34" charset="0"/>
                <a:ea typeface="Arial" pitchFamily="34" charset="-122"/>
                <a:cs typeface="Arial" pitchFamily="34" charset="-120"/>
              </a:rPr>
              <a:t>Dejarlas tampoco es neutral: cualquier suma de cantidades ya las está restando. La decisión honesta se escribe, sea cual sea.</a:t>
            </a:r>
            <a:endParaRPr lang="en-US" sz="1300" dirty="0"/>
          </a:p>
        </p:txBody>
      </p:sp>
      <p:sp>
        <p:nvSpPr>
          <p:cNvPr id="13" name="Shape 9"/>
          <p:cNvSpPr/>
          <p:nvPr/>
        </p:nvSpPr>
        <p:spPr>
          <a:xfrm>
            <a:off x="685800" y="6126480"/>
            <a:ext cx="109728" cy="457200"/>
          </a:xfrm>
          <a:prstGeom prst="rect">
            <a:avLst/>
          </a:prstGeom>
          <a:solidFill>
            <a:srgbClr val="A6192E"/>
          </a:solidFill>
          <a:ln/>
        </p:spPr>
      </p:sp>
      <p:sp>
        <p:nvSpPr>
          <p:cNvPr id="14" name="Text 10"/>
          <p:cNvSpPr txBox="1"/>
          <p:nvPr/>
        </p:nvSpPr>
        <p:spPr>
          <a:xfrm>
            <a:off x="960120" y="6126480"/>
            <a:ext cx="10515600" cy="457200"/>
          </a:xfrm>
          <a:prstGeom prst="rect">
            <a:avLst/>
          </a:prstGeom>
          <a:noFill/>
          <a:ln/>
        </p:spPr>
        <p:txBody>
          <a:bodyPr wrap="square" lIns="0" tIns="0" rIns="0" bIns="0" rtlCol="0" anchor="ctr"/>
          <a:lstStyle/>
          <a:p>
            <a:pPr indent="0" marL="0">
              <a:buNone/>
            </a:pPr>
            <a:r>
              <a:rPr lang="en-US" sz="1350" b="1" dirty="0">
                <a:solidFill>
                  <a:srgbClr val="A6192E"/>
                </a:solidFill>
                <a:latin typeface="Arial" pitchFamily="34" charset="0"/>
                <a:ea typeface="Arial" pitchFamily="34" charset="-122"/>
                <a:cs typeface="Arial" pitchFamily="34" charset="-120"/>
              </a:rPr>
              <a:t>BITÁCORA  </a:t>
            </a:r>
            <a:pPr indent="0" marL="0">
              <a:buNone/>
            </a:pPr>
            <a:r>
              <a:rPr lang="en-US" sz="1350" dirty="0">
                <a:solidFill>
                  <a:srgbClr val="1E1E1E"/>
                </a:solidFill>
                <a:latin typeface="Arial" pitchFamily="34" charset="0"/>
                <a:ea typeface="Arial" pitchFamily="34" charset="-122"/>
                <a:cs typeface="Arial" pitchFamily="34" charset="-120"/>
              </a:rPr>
              <a:t>Cantidad negativa · 9 · decisión: documentar la pregunta a ventas y la respuesta; no borrar ni cambiar el signo.</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89611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PASO 7 · DOS LIMPIEZAS RESUELTAS, CON SU VERIFICACIÓN</a:t>
            </a:r>
            <a:endParaRPr lang="en-US" sz="1300" dirty="0"/>
          </a:p>
        </p:txBody>
      </p:sp>
      <p:sp>
        <p:nvSpPr>
          <p:cNvPr id="3" name="Shape 1"/>
          <p:cNvSpPr/>
          <p:nvPr/>
        </p:nvSpPr>
        <p:spPr>
          <a:xfrm>
            <a:off x="9966960" y="411480"/>
            <a:ext cx="1554480" cy="457200"/>
          </a:xfrm>
          <a:prstGeom prst="roundRect">
            <a:avLst>
              <a:gd name="adj" fmla="val 50000"/>
            </a:avLst>
          </a:prstGeom>
          <a:solidFill>
            <a:srgbClr val="FBEDEF"/>
          </a:solidFill>
          <a:ln w="12700">
            <a:solidFill>
              <a:srgbClr val="A6192E"/>
            </a:solidFill>
            <a:prstDash val="solid"/>
          </a:ln>
        </p:spPr>
      </p:sp>
      <p:sp>
        <p:nvSpPr>
          <p:cNvPr id="4" name="Text 2"/>
          <p:cNvSpPr txBox="1"/>
          <p:nvPr/>
        </p:nvSpPr>
        <p:spPr>
          <a:xfrm>
            <a:off x="9966960" y="411480"/>
            <a:ext cx="1554480" cy="457200"/>
          </a:xfrm>
          <a:prstGeom prst="rect">
            <a:avLst/>
          </a:prstGeom>
          <a:noFill/>
          <a:ln/>
        </p:spPr>
        <p:txBody>
          <a:bodyPr wrap="square" lIns="0" tIns="0" rIns="0" bIns="0" rtlCol="0" anchor="ctr"/>
          <a:lstStyle/>
          <a:p>
            <a:pPr algn="ctr" indent="0" marL="0">
              <a:buNone/>
            </a:pPr>
            <a:r>
              <a:rPr lang="en-US" sz="1200" b="1" dirty="0">
                <a:solidFill>
                  <a:srgbClr val="A6192E"/>
                </a:solidFill>
                <a:latin typeface="Arial" pitchFamily="34" charset="0"/>
                <a:ea typeface="Arial" pitchFamily="34" charset="-122"/>
                <a:cs typeface="Arial" pitchFamily="34" charset="-120"/>
              </a:rPr>
              <a:t>MIN 73–80</a:t>
            </a:r>
            <a:endParaRPr lang="en-US" sz="1200" dirty="0"/>
          </a:p>
        </p:txBody>
      </p:sp>
      <p:sp>
        <p:nvSpPr>
          <p:cNvPr id="6" name="Text 3"/>
          <p:cNvSpPr txBox="1"/>
          <p:nvPr/>
        </p:nvSpPr>
        <p:spPr>
          <a:xfrm>
            <a:off x="685800" y="868680"/>
            <a:ext cx="10789920" cy="54864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Dos limpiezas, cada una con su verificación</a:t>
            </a:r>
            <a:endParaRPr lang="en-US" sz="2700" dirty="0"/>
          </a:p>
        </p:txBody>
      </p:sp>
      <p:sp>
        <p:nvSpPr>
          <p:cNvPr id="7" name="Text 4"/>
          <p:cNvSpPr txBox="1"/>
          <p:nvPr/>
        </p:nvSpPr>
        <p:spPr>
          <a:xfrm>
            <a:off x="685800" y="1554480"/>
            <a:ext cx="64008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A · VENTAS: DE "$1.234,56" A 1234.56, SOLO EN LAS 43 FILAS</a:t>
            </a:r>
            <a:endParaRPr lang="en-US" sz="1150" dirty="0"/>
          </a:p>
        </p:txBody>
      </p:sp>
      <p:sp>
        <p:nvSpPr>
          <p:cNvPr id="8" name="Shape 5"/>
          <p:cNvSpPr/>
          <p:nvPr/>
        </p:nvSpPr>
        <p:spPr>
          <a:xfrm>
            <a:off x="685800" y="1874520"/>
            <a:ext cx="5394960" cy="2223135"/>
          </a:xfrm>
          <a:prstGeom prst="roundRect">
            <a:avLst>
              <a:gd name="adj" fmla="val 3290"/>
            </a:avLst>
          </a:prstGeom>
          <a:solidFill>
            <a:srgbClr val="F4F4F4"/>
          </a:solidFill>
          <a:ln w="9525">
            <a:solidFill>
              <a:srgbClr val="E0E0E0"/>
            </a:solidFill>
            <a:prstDash val="solid"/>
          </a:ln>
        </p:spPr>
      </p:sp>
      <p:sp>
        <p:nvSpPr>
          <p:cNvPr id="9" name="Text 6"/>
          <p:cNvSpPr txBox="1"/>
          <p:nvPr/>
        </p:nvSpPr>
        <p:spPr>
          <a:xfrm>
            <a:off x="850392" y="1984248"/>
            <a:ext cx="5065776" cy="2003679"/>
          </a:xfrm>
          <a:prstGeom prst="rect">
            <a:avLst/>
          </a:prstGeom>
          <a:noFill/>
          <a:ln/>
        </p:spPr>
        <p:txBody>
          <a:bodyPr wrap="square" lIns="0" tIns="0" rIns="0" bIns="0" rtlCol="0" anchor="t"/>
          <a:lstStyle/>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mal = df["Ventas"].str.startswith("$")        </a:t>
            </a:r>
            <a:pPr indent="0" marL="0">
              <a:lnSpc>
                <a:spcPts val="1595"/>
              </a:lnSpc>
              <a:buNone/>
            </a:pPr>
            <a:r>
              <a:rPr lang="en-US" sz="1100" i="1" dirty="0">
                <a:solidFill>
                  <a:srgbClr val="8A8A8A"/>
                </a:solidFill>
                <a:latin typeface="Courier New" pitchFamily="34" charset="0"/>
                <a:ea typeface="Courier New" pitchFamily="34" charset="-122"/>
                <a:cs typeface="Courier New" pitchFamily="34" charset="-120"/>
              </a:rPr>
              <a:t># 43 filas</a:t>
            </a:r>
            <a:endParaRPr lang="en-US" sz="1100" dirty="0"/>
          </a:p>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df.loc[mal, "Ventas"] = (df.loc[mal, "Ventas"]</a:t>
            </a:r>
            <a:endParaRPr lang="en-US" sz="1100" dirty="0"/>
          </a:p>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    .str.replace("$", "", regex=False)</a:t>
            </a:r>
            <a:endParaRPr lang="en-US" sz="1100" dirty="0"/>
          </a:p>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    .str.replace(".", "", regex=False)         </a:t>
            </a:r>
            <a:pPr indent="0" marL="0">
              <a:lnSpc>
                <a:spcPts val="1595"/>
              </a:lnSpc>
              <a:buNone/>
            </a:pPr>
            <a:r>
              <a:rPr lang="en-US" sz="1100" i="1" dirty="0">
                <a:solidFill>
                  <a:srgbClr val="8A8A8A"/>
                </a:solidFill>
                <a:latin typeface="Courier New" pitchFamily="34" charset="0"/>
                <a:ea typeface="Courier New" pitchFamily="34" charset="-122"/>
                <a:cs typeface="Courier New" pitchFamily="34" charset="-120"/>
              </a:rPr>
              <a:t># miles</a:t>
            </a:r>
            <a:endParaRPr lang="en-US" sz="1100" dirty="0"/>
          </a:p>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    .str.replace(",", ".", regex=False))       </a:t>
            </a:r>
            <a:pPr indent="0" marL="0">
              <a:lnSpc>
                <a:spcPts val="1595"/>
              </a:lnSpc>
              <a:buNone/>
            </a:pPr>
            <a:r>
              <a:rPr lang="en-US" sz="1100" i="1" dirty="0">
                <a:solidFill>
                  <a:srgbClr val="8A8A8A"/>
                </a:solidFill>
                <a:latin typeface="Courier New" pitchFamily="34" charset="0"/>
                <a:ea typeface="Courier New" pitchFamily="34" charset="-122"/>
                <a:cs typeface="Courier New" pitchFamily="34" charset="-120"/>
              </a:rPr>
              <a:t># decimal</a:t>
            </a:r>
            <a:endParaRPr lang="en-US" sz="1100" dirty="0"/>
          </a:p>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df["Ventas"] = df["Ventas"].astype(float)</a:t>
            </a:r>
            <a:endParaRPr lang="en-US" sz="1100" dirty="0"/>
          </a:p>
          <a:p>
            <a:pPr indent="0" marL="0">
              <a:lnSpc>
                <a:spcPts val="1595"/>
              </a:lnSpc>
              <a:buNone/>
            </a:pPr>
            <a:endParaRPr lang="en-US" sz="1100" dirty="0"/>
          </a:p>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df["Ventas"].dtype        </a:t>
            </a:r>
            <a:pPr indent="0" marL="0">
              <a:lnSpc>
                <a:spcPts val="1595"/>
              </a:lnSpc>
              <a:buNone/>
            </a:pPr>
            <a:r>
              <a:rPr lang="en-US" sz="1100" i="1" dirty="0">
                <a:solidFill>
                  <a:srgbClr val="8A8A8A"/>
                </a:solidFill>
                <a:latin typeface="Courier New" pitchFamily="34" charset="0"/>
                <a:ea typeface="Courier New" pitchFamily="34" charset="-122"/>
                <a:cs typeface="Courier New" pitchFamily="34" charset="-120"/>
              </a:rPr>
              <a:t># float64  ← la prueba</a:t>
            </a:r>
            <a:endParaRPr lang="en-US" sz="1100" dirty="0"/>
          </a:p>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df["Ventas"].sum()        </a:t>
            </a:r>
            <a:pPr indent="0" marL="0">
              <a:lnSpc>
                <a:spcPts val="1595"/>
              </a:lnSpc>
              <a:buNone/>
            </a:pPr>
            <a:r>
              <a:rPr lang="en-US" sz="1100" i="1" dirty="0">
                <a:solidFill>
                  <a:srgbClr val="8A8A8A"/>
                </a:solidFill>
                <a:latin typeface="Courier New" pitchFamily="34" charset="0"/>
                <a:ea typeface="Courier New" pitchFamily="34" charset="-122"/>
                <a:cs typeface="Courier New" pitchFamily="34" charset="-120"/>
              </a:rPr>
              <a:t># 185,389.00</a:t>
            </a:r>
            <a:endParaRPr lang="en-US" sz="1100" dirty="0"/>
          </a:p>
        </p:txBody>
      </p:sp>
      <p:sp>
        <p:nvSpPr>
          <p:cNvPr id="10" name="Text 7"/>
          <p:cNvSpPr txBox="1"/>
          <p:nvPr/>
        </p:nvSpPr>
        <p:spPr>
          <a:xfrm>
            <a:off x="6400800" y="1554480"/>
            <a:ext cx="54864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B · FECHAS: DOS FORMATOS EN UNA COLUMNA</a:t>
            </a:r>
            <a:endParaRPr lang="en-US" sz="1150" dirty="0"/>
          </a:p>
        </p:txBody>
      </p:sp>
      <p:sp>
        <p:nvSpPr>
          <p:cNvPr id="11" name="Shape 8"/>
          <p:cNvSpPr/>
          <p:nvPr/>
        </p:nvSpPr>
        <p:spPr>
          <a:xfrm>
            <a:off x="6400800" y="1874520"/>
            <a:ext cx="5120640" cy="2006600"/>
          </a:xfrm>
          <a:prstGeom prst="roundRect">
            <a:avLst>
              <a:gd name="adj" fmla="val 3646"/>
            </a:avLst>
          </a:prstGeom>
          <a:solidFill>
            <a:srgbClr val="F4F4F4"/>
          </a:solidFill>
          <a:ln w="9525">
            <a:solidFill>
              <a:srgbClr val="E0E0E0"/>
            </a:solidFill>
            <a:prstDash val="solid"/>
          </a:ln>
        </p:spPr>
      </p:sp>
      <p:sp>
        <p:nvSpPr>
          <p:cNvPr id="12" name="Text 9"/>
          <p:cNvSpPr txBox="1"/>
          <p:nvPr/>
        </p:nvSpPr>
        <p:spPr>
          <a:xfrm>
            <a:off x="6565392" y="1984248"/>
            <a:ext cx="4791456" cy="1787144"/>
          </a:xfrm>
          <a:prstGeom prst="rect">
            <a:avLst/>
          </a:prstGeom>
          <a:noFill/>
          <a:ln/>
        </p:spPr>
        <p:txBody>
          <a:bodyPr wrap="square" lIns="0" tIns="0" rIns="0" bIns="0" rtlCol="0" anchor="t"/>
          <a:lstStyle/>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for c in ["Fecha Pedido", "Fecha Envío"]:</a:t>
            </a:r>
            <a:endParaRPr lang="en-US" sz="1100" dirty="0"/>
          </a:p>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    df[c] = pd.to_datetime(df[c], format="mixed",</a:t>
            </a:r>
            <a:endParaRPr lang="en-US" sz="1100" dirty="0"/>
          </a:p>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                           dayfirst=True)</a:t>
            </a:r>
            <a:endParaRPr lang="en-US" sz="1100" dirty="0"/>
          </a:p>
          <a:p>
            <a:pPr indent="0" marL="0">
              <a:lnSpc>
                <a:spcPts val="1595"/>
              </a:lnSpc>
              <a:buNone/>
            </a:pPr>
            <a:endParaRPr lang="en-US" sz="1100" dirty="0"/>
          </a:p>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df.dtypes[["Fecha Pedido", "Fecha Envío"]]</a:t>
            </a:r>
            <a:endParaRPr lang="en-US" sz="1100" dirty="0"/>
          </a:p>
          <a:p>
            <a:pPr indent="0" marL="0">
              <a:lnSpc>
                <a:spcPts val="1595"/>
              </a:lnSpc>
              <a:buNone/>
            </a:pPr>
            <a:r>
              <a:rPr lang="en-US" sz="1100" i="1" dirty="0">
                <a:solidFill>
                  <a:srgbClr val="8A8A8A"/>
                </a:solidFill>
                <a:latin typeface="Courier New" pitchFamily="34" charset="0"/>
                <a:ea typeface="Courier New" pitchFamily="34" charset="-122"/>
                <a:cs typeface="Courier New" pitchFamily="34" charset="-120"/>
              </a:rPr>
              <a:t># datetime64[ns]  ← la prueba</a:t>
            </a:r>
            <a:endParaRPr lang="en-US" sz="1100" dirty="0"/>
          </a:p>
          <a:p>
            <a:pPr indent="0" marL="0">
              <a:lnSpc>
                <a:spcPts val="1595"/>
              </a:lnSpc>
              <a:buNone/>
            </a:pPr>
            <a:r>
              <a:rPr lang="en-US" sz="1100" dirty="0">
                <a:solidFill>
                  <a:srgbClr val="1E1E1E"/>
                </a:solidFill>
                <a:latin typeface="Courier New" pitchFamily="34" charset="0"/>
                <a:ea typeface="Courier New" pitchFamily="34" charset="-122"/>
                <a:cs typeface="Courier New" pitchFamily="34" charset="-120"/>
              </a:rPr>
              <a:t>(df["Fecha Envío"] &lt; df["Fecha Pedido"]).sum()</a:t>
            </a:r>
            <a:endParaRPr lang="en-US" sz="1100" dirty="0"/>
          </a:p>
          <a:p>
            <a:pPr indent="0" marL="0">
              <a:lnSpc>
                <a:spcPts val="1595"/>
              </a:lnSpc>
              <a:buNone/>
            </a:pPr>
            <a:r>
              <a:rPr lang="en-US" sz="1100" i="1" dirty="0">
                <a:solidFill>
                  <a:srgbClr val="8A8A8A"/>
                </a:solidFill>
                <a:latin typeface="Courier New" pitchFamily="34" charset="0"/>
                <a:ea typeface="Courier New" pitchFamily="34" charset="-122"/>
                <a:cs typeface="Courier New" pitchFamily="34" charset="-120"/>
              </a:rPr>
              <a:t># 6</a:t>
            </a:r>
            <a:endParaRPr lang="en-US" sz="1100" dirty="0"/>
          </a:p>
        </p:txBody>
      </p:sp>
      <p:sp>
        <p:nvSpPr>
          <p:cNvPr id="13" name="Shape 10"/>
          <p:cNvSpPr/>
          <p:nvPr/>
        </p:nvSpPr>
        <p:spPr>
          <a:xfrm>
            <a:off x="6400800" y="3977640"/>
            <a:ext cx="5120640" cy="1188720"/>
          </a:xfrm>
          <a:prstGeom prst="rect">
            <a:avLst/>
          </a:prstGeom>
          <a:solidFill>
            <a:srgbClr val="FBEDEF"/>
          </a:solidFill>
          <a:ln/>
        </p:spPr>
      </p:sp>
      <p:sp>
        <p:nvSpPr>
          <p:cNvPr id="14" name="Text 11"/>
          <p:cNvSpPr txBox="1"/>
          <p:nvPr/>
        </p:nvSpPr>
        <p:spPr>
          <a:xfrm>
            <a:off x="6629400" y="3977640"/>
            <a:ext cx="4663440" cy="1188720"/>
          </a:xfrm>
          <a:prstGeom prst="rect">
            <a:avLst/>
          </a:prstGeom>
          <a:noFill/>
          <a:ln/>
        </p:spPr>
        <p:txBody>
          <a:bodyPr wrap="square" lIns="0" tIns="0" rIns="0" bIns="0" rtlCol="0" anchor="ctr"/>
          <a:lstStyle/>
          <a:p>
            <a:pPr indent="0" marL="0">
              <a:lnSpc>
                <a:spcPts val="1800"/>
              </a:lnSpc>
              <a:buNone/>
            </a:pPr>
            <a:r>
              <a:rPr lang="en-US" sz="1300" b="1" dirty="0">
                <a:solidFill>
                  <a:srgbClr val="A6192E"/>
                </a:solidFill>
                <a:latin typeface="Arial" pitchFamily="34" charset="0"/>
                <a:ea typeface="Arial" pitchFamily="34" charset="-122"/>
                <a:cs typeface="Arial" pitchFamily="34" charset="-120"/>
              </a:rPr>
              <a:t>La máscara importa: si aplicas el replace de puntos a toda la columna, 14.2 se convierte en 142 y dañas las 1.292 filas que estaban bien. Limpia solo lo que está roto.</a:t>
            </a:r>
            <a:endParaRPr lang="en-US" sz="1300" dirty="0"/>
          </a:p>
        </p:txBody>
      </p:sp>
      <p:sp>
        <p:nvSpPr>
          <p:cNvPr id="15" name="Text 12"/>
          <p:cNvSpPr txBox="1"/>
          <p:nvPr/>
        </p:nvSpPr>
        <p:spPr>
          <a:xfrm>
            <a:off x="685800" y="5349240"/>
            <a:ext cx="10835640" cy="457200"/>
          </a:xfrm>
          <a:prstGeom prst="rect">
            <a:avLst/>
          </a:prstGeom>
          <a:noFill/>
          <a:ln/>
        </p:spPr>
        <p:txBody>
          <a:bodyPr wrap="square" lIns="0" tIns="0" rIns="0" bIns="0" rtlCol="0" anchor="ctr"/>
          <a:lstStyle/>
          <a:p>
            <a:pPr indent="0" marL="0">
              <a:buNone/>
            </a:pPr>
            <a:r>
              <a:rPr lang="en-US" sz="1300" dirty="0">
                <a:solidFill>
                  <a:srgbClr val="6B6B6B"/>
                </a:solidFill>
                <a:latin typeface="Arial" pitchFamily="34" charset="0"/>
                <a:ea typeface="Arial" pitchFamily="34" charset="-122"/>
                <a:cs typeface="Arial" pitchFamily="34" charset="-120"/>
              </a:rPr>
              <a:t>Formato de la fila: qué había, cuántas filas, qué hiciste, por qué, y la evidencia de que quedó bien.</a:t>
            </a:r>
            <a:endParaRPr lang="en-US" sz="1300" dirty="0"/>
          </a:p>
        </p:txBody>
      </p:sp>
      <p:sp>
        <p:nvSpPr>
          <p:cNvPr id="16" name="Shape 13"/>
          <p:cNvSpPr/>
          <p:nvPr/>
        </p:nvSpPr>
        <p:spPr>
          <a:xfrm>
            <a:off x="685800" y="6126480"/>
            <a:ext cx="109728" cy="457200"/>
          </a:xfrm>
          <a:prstGeom prst="rect">
            <a:avLst/>
          </a:prstGeom>
          <a:solidFill>
            <a:srgbClr val="A6192E"/>
          </a:solidFill>
          <a:ln/>
        </p:spPr>
      </p:sp>
      <p:sp>
        <p:nvSpPr>
          <p:cNvPr id="17" name="Text 14"/>
          <p:cNvSpPr txBox="1"/>
          <p:nvPr/>
        </p:nvSpPr>
        <p:spPr>
          <a:xfrm>
            <a:off x="960120" y="6126480"/>
            <a:ext cx="10515600" cy="457200"/>
          </a:xfrm>
          <a:prstGeom prst="rect">
            <a:avLst/>
          </a:prstGeom>
          <a:noFill/>
          <a:ln/>
        </p:spPr>
        <p:txBody>
          <a:bodyPr wrap="square" lIns="0" tIns="0" rIns="0" bIns="0" rtlCol="0" anchor="ctr"/>
          <a:lstStyle/>
          <a:p>
            <a:pPr indent="0" marL="0">
              <a:buNone/>
            </a:pPr>
            <a:r>
              <a:rPr lang="en-US" sz="1350" b="1" dirty="0">
                <a:solidFill>
                  <a:srgbClr val="A6192E"/>
                </a:solidFill>
                <a:latin typeface="Arial" pitchFamily="34" charset="0"/>
                <a:ea typeface="Arial" pitchFamily="34" charset="-122"/>
                <a:cs typeface="Arial" pitchFamily="34" charset="-120"/>
              </a:rPr>
              <a:t>BITÁCORA  </a:t>
            </a:r>
            <a:pPr indent="0" marL="0">
              <a:buNone/>
            </a:pPr>
            <a:r>
              <a:rPr lang="en-US" sz="1350" dirty="0">
                <a:solidFill>
                  <a:srgbClr val="1E1E1E"/>
                </a:solidFill>
                <a:latin typeface="Arial" pitchFamily="34" charset="0"/>
                <a:ea typeface="Arial" pitchFamily="34" charset="-122"/>
                <a:cs typeface="Arial" pitchFamily="34" charset="-120"/>
              </a:rPr>
              <a:t>Ventas como texto · 43 · corregido con máscara · prueba: dtype float64. Fechas · 35 · corregido · prueba: datetime64.</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89611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PASO 8 · RESUMEN DE LA BITÁCORA</a:t>
            </a:r>
            <a:endParaRPr lang="en-US" sz="1300" dirty="0"/>
          </a:p>
        </p:txBody>
      </p:sp>
      <p:sp>
        <p:nvSpPr>
          <p:cNvPr id="3" name="Shape 1"/>
          <p:cNvSpPr/>
          <p:nvPr/>
        </p:nvSpPr>
        <p:spPr>
          <a:xfrm>
            <a:off x="9966960" y="411480"/>
            <a:ext cx="1554480" cy="457200"/>
          </a:xfrm>
          <a:prstGeom prst="roundRect">
            <a:avLst>
              <a:gd name="adj" fmla="val 50000"/>
            </a:avLst>
          </a:prstGeom>
          <a:solidFill>
            <a:srgbClr val="FBEDEF"/>
          </a:solidFill>
          <a:ln w="12700">
            <a:solidFill>
              <a:srgbClr val="A6192E"/>
            </a:solidFill>
            <a:prstDash val="solid"/>
          </a:ln>
        </p:spPr>
      </p:sp>
      <p:sp>
        <p:nvSpPr>
          <p:cNvPr id="4" name="Text 2"/>
          <p:cNvSpPr txBox="1"/>
          <p:nvPr/>
        </p:nvSpPr>
        <p:spPr>
          <a:xfrm>
            <a:off x="9966960" y="411480"/>
            <a:ext cx="1554480" cy="457200"/>
          </a:xfrm>
          <a:prstGeom prst="rect">
            <a:avLst/>
          </a:prstGeom>
          <a:noFill/>
          <a:ln/>
        </p:spPr>
        <p:txBody>
          <a:bodyPr wrap="square" lIns="0" tIns="0" rIns="0" bIns="0" rtlCol="0" anchor="ctr"/>
          <a:lstStyle/>
          <a:p>
            <a:pPr algn="ctr" indent="0" marL="0">
              <a:buNone/>
            </a:pPr>
            <a:r>
              <a:rPr lang="en-US" sz="1200" b="1" dirty="0">
                <a:solidFill>
                  <a:srgbClr val="A6192E"/>
                </a:solidFill>
                <a:latin typeface="Arial" pitchFamily="34" charset="0"/>
                <a:ea typeface="Arial" pitchFamily="34" charset="-122"/>
                <a:cs typeface="Arial" pitchFamily="34" charset="-120"/>
              </a:rPr>
              <a:t>MIN 80–84</a:t>
            </a:r>
            <a:endParaRPr lang="en-US" sz="1200" dirty="0"/>
          </a:p>
        </p:txBody>
      </p:sp>
      <p:sp>
        <p:nvSpPr>
          <p:cNvPr id="6" name="Text 3"/>
          <p:cNvSpPr txBox="1"/>
          <p:nvPr/>
        </p:nvSpPr>
        <p:spPr>
          <a:xfrm>
            <a:off x="685800" y="868680"/>
            <a:ext cx="10789920" cy="54864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Filas iniciales, filas finales, y la cifra que cambió</a:t>
            </a:r>
            <a:endParaRPr lang="en-US" sz="2700" dirty="0"/>
          </a:p>
        </p:txBody>
      </p:sp>
      <p:sp>
        <p:nvSpPr>
          <p:cNvPr id="7" name="Shape 4"/>
          <p:cNvSpPr/>
          <p:nvPr/>
        </p:nvSpPr>
        <p:spPr>
          <a:xfrm>
            <a:off x="685800" y="1554480"/>
            <a:ext cx="5486400" cy="1691640"/>
          </a:xfrm>
          <a:prstGeom prst="roundRect">
            <a:avLst>
              <a:gd name="adj" fmla="val 4324"/>
            </a:avLst>
          </a:prstGeom>
          <a:solidFill>
            <a:srgbClr val="F4F4F4"/>
          </a:solidFill>
          <a:ln w="9525">
            <a:solidFill>
              <a:srgbClr val="E0E0E0"/>
            </a:solidFill>
            <a:prstDash val="solid"/>
          </a:ln>
        </p:spPr>
      </p:sp>
      <p:sp>
        <p:nvSpPr>
          <p:cNvPr id="8" name="Text 5"/>
          <p:cNvSpPr txBox="1"/>
          <p:nvPr/>
        </p:nvSpPr>
        <p:spPr>
          <a:xfrm>
            <a:off x="850392" y="1664208"/>
            <a:ext cx="5157216" cy="1472184"/>
          </a:xfrm>
          <a:prstGeom prst="rect">
            <a:avLst/>
          </a:prstGeom>
          <a:noFill/>
          <a:ln/>
        </p:spPr>
        <p:txBody>
          <a:bodyPr wrap="square" lIns="0" tIns="0" rIns="0" bIns="0" rtlCol="0" anchor="t"/>
          <a:lstStyle/>
          <a:p>
            <a:pPr indent="0" marL="0">
              <a:lnSpc>
                <a:spcPts val="1740"/>
              </a:lnSpc>
              <a:buNone/>
            </a:pPr>
            <a:r>
              <a:rPr lang="en-US" sz="1200" dirty="0">
                <a:solidFill>
                  <a:srgbClr val="1E1E1E"/>
                </a:solidFill>
                <a:latin typeface="Courier New" pitchFamily="34" charset="0"/>
                <a:ea typeface="Courier New" pitchFamily="34" charset="-122"/>
                <a:cs typeface="Courier New" pitchFamily="34" charset="-120"/>
              </a:rPr>
              <a:t>limpio = df.drop(columns=["ID Fila"]).drop_duplicates()</a:t>
            </a:r>
            <a:endParaRPr lang="en-US" sz="1200" dirty="0"/>
          </a:p>
          <a:p>
            <a:pPr indent="0" marL="0">
              <a:lnSpc>
                <a:spcPts val="1740"/>
              </a:lnSpc>
              <a:buNone/>
            </a:pPr>
            <a:r>
              <a:rPr lang="en-US" sz="1200" dirty="0">
                <a:solidFill>
                  <a:srgbClr val="1E1E1E"/>
                </a:solidFill>
                <a:latin typeface="Courier New" pitchFamily="34" charset="0"/>
                <a:ea typeface="Courier New" pitchFamily="34" charset="-122"/>
                <a:cs typeface="Courier New" pitchFamily="34" charset="-120"/>
              </a:rPr>
              <a:t>len(df), len(limpio)</a:t>
            </a:r>
            <a:endParaRPr lang="en-US" sz="1200" dirty="0"/>
          </a:p>
          <a:p>
            <a:pPr indent="0" marL="0">
              <a:lnSpc>
                <a:spcPts val="1740"/>
              </a:lnSpc>
              <a:buNone/>
            </a:pPr>
            <a:r>
              <a:rPr lang="en-US" sz="1200" i="1" dirty="0">
                <a:solidFill>
                  <a:srgbClr val="8A8A8A"/>
                </a:solidFill>
                <a:latin typeface="Courier New" pitchFamily="34" charset="0"/>
                <a:ea typeface="Courier New" pitchFamily="34" charset="-122"/>
                <a:cs typeface="Courier New" pitchFamily="34" charset="-120"/>
              </a:rPr>
              <a:t># (1335, 1311)</a:t>
            </a:r>
            <a:endParaRPr lang="en-US" sz="1200" dirty="0"/>
          </a:p>
          <a:p>
            <a:pPr indent="0" marL="0">
              <a:lnSpc>
                <a:spcPts val="1740"/>
              </a:lnSpc>
              <a:buNone/>
            </a:pPr>
            <a:endParaRPr lang="en-US" sz="1200" dirty="0"/>
          </a:p>
          <a:p>
            <a:pPr indent="0" marL="0">
              <a:lnSpc>
                <a:spcPts val="1740"/>
              </a:lnSpc>
              <a:buNone/>
            </a:pPr>
            <a:r>
              <a:rPr lang="en-US" sz="1200" dirty="0">
                <a:solidFill>
                  <a:srgbClr val="1E1E1E"/>
                </a:solidFill>
                <a:latin typeface="Courier New" pitchFamily="34" charset="0"/>
                <a:ea typeface="Courier New" pitchFamily="34" charset="-122"/>
                <a:cs typeface="Courier New" pitchFamily="34" charset="-120"/>
              </a:rPr>
              <a:t>df["Total Pedido"].sum()   </a:t>
            </a:r>
            <a:pPr indent="0" marL="0">
              <a:lnSpc>
                <a:spcPts val="1740"/>
              </a:lnSpc>
              <a:buNone/>
            </a:pPr>
            <a:r>
              <a:rPr lang="en-US" sz="1200" i="1" dirty="0">
                <a:solidFill>
                  <a:srgbClr val="8A8A8A"/>
                </a:solidFill>
                <a:latin typeface="Courier New" pitchFamily="34" charset="0"/>
                <a:ea typeface="Courier New" pitchFamily="34" charset="-122"/>
                <a:cs typeface="Courier New" pitchFamily="34" charset="-120"/>
              </a:rPr>
              <a:t># la columna equivocada</a:t>
            </a:r>
            <a:endParaRPr lang="en-US" sz="1200" dirty="0"/>
          </a:p>
          <a:p>
            <a:pPr indent="0" marL="0">
              <a:lnSpc>
                <a:spcPts val="1740"/>
              </a:lnSpc>
              <a:buNone/>
            </a:pPr>
            <a:r>
              <a:rPr lang="en-US" sz="1200" dirty="0">
                <a:solidFill>
                  <a:srgbClr val="1E1E1E"/>
                </a:solidFill>
                <a:latin typeface="Courier New" pitchFamily="34" charset="0"/>
                <a:ea typeface="Courier New" pitchFamily="34" charset="-122"/>
                <a:cs typeface="Courier New" pitchFamily="34" charset="-120"/>
              </a:rPr>
              <a:t>limpio["Ventas"].sum()     </a:t>
            </a:r>
            <a:pPr indent="0" marL="0">
              <a:lnSpc>
                <a:spcPts val="1740"/>
              </a:lnSpc>
              <a:buNone/>
            </a:pPr>
            <a:r>
              <a:rPr lang="en-US" sz="1200" i="1" dirty="0">
                <a:solidFill>
                  <a:srgbClr val="8A8A8A"/>
                </a:solidFill>
                <a:latin typeface="Courier New" pitchFamily="34" charset="0"/>
                <a:ea typeface="Courier New" pitchFamily="34" charset="-122"/>
                <a:cs typeface="Courier New" pitchFamily="34" charset="-120"/>
              </a:rPr>
              <a:t># la venta del año, limpia</a:t>
            </a:r>
            <a:endParaRPr lang="en-US" sz="1200" dirty="0"/>
          </a:p>
        </p:txBody>
      </p:sp>
      <p:sp>
        <p:nvSpPr>
          <p:cNvPr id="9" name="Text 6"/>
          <p:cNvSpPr txBox="1"/>
          <p:nvPr/>
        </p:nvSpPr>
        <p:spPr>
          <a:xfrm>
            <a:off x="6675120" y="1508760"/>
            <a:ext cx="2926080" cy="822960"/>
          </a:xfrm>
          <a:prstGeom prst="rect">
            <a:avLst/>
          </a:prstGeom>
          <a:noFill/>
          <a:ln/>
        </p:spPr>
        <p:txBody>
          <a:bodyPr wrap="square" lIns="0" tIns="0" rIns="0" bIns="0" rtlCol="0" anchor="ctr"/>
          <a:lstStyle/>
          <a:p>
            <a:pPr indent="0" marL="0">
              <a:buNone/>
            </a:pPr>
            <a:r>
              <a:rPr lang="en-US" sz="4000" b="1" dirty="0">
                <a:solidFill>
                  <a:srgbClr val="1E1E1E"/>
                </a:solidFill>
                <a:latin typeface="Arial" pitchFamily="34" charset="0"/>
                <a:ea typeface="Arial" pitchFamily="34" charset="-122"/>
                <a:cs typeface="Arial" pitchFamily="34" charset="-120"/>
              </a:rPr>
              <a:t>$704,623</a:t>
            </a:r>
            <a:endParaRPr lang="en-US" sz="4000" dirty="0"/>
          </a:p>
        </p:txBody>
      </p:sp>
      <p:sp>
        <p:nvSpPr>
          <p:cNvPr id="10" name="Text 7"/>
          <p:cNvSpPr txBox="1"/>
          <p:nvPr/>
        </p:nvSpPr>
        <p:spPr>
          <a:xfrm>
            <a:off x="9509760" y="1737360"/>
            <a:ext cx="2103120" cy="548640"/>
          </a:xfrm>
          <a:prstGeom prst="rect">
            <a:avLst/>
          </a:prstGeom>
          <a:noFill/>
          <a:ln/>
        </p:spPr>
        <p:txBody>
          <a:bodyPr wrap="square" lIns="0" tIns="0" rIns="0" bIns="0" rtlCol="0" anchor="ctr"/>
          <a:lstStyle/>
          <a:p>
            <a:pPr indent="0" marL="0">
              <a:lnSpc>
                <a:spcPts val="1600"/>
              </a:lnSpc>
              <a:buNone/>
            </a:pPr>
            <a:r>
              <a:rPr lang="en-US" sz="1250" dirty="0">
                <a:solidFill>
                  <a:srgbClr val="6B6B6B"/>
                </a:solidFill>
                <a:latin typeface="Arial" pitchFamily="34" charset="0"/>
                <a:ea typeface="Arial" pitchFamily="34" charset="-122"/>
                <a:cs typeface="Arial" pitchFamily="34" charset="-120"/>
              </a:rPr>
              <a:t>sumando Total Pedido</a:t>
            </a:r>
            <a:endParaRPr lang="en-US" sz="1250" dirty="0"/>
          </a:p>
        </p:txBody>
      </p:sp>
      <p:sp>
        <p:nvSpPr>
          <p:cNvPr id="11" name="Text 8"/>
          <p:cNvSpPr txBox="1"/>
          <p:nvPr/>
        </p:nvSpPr>
        <p:spPr>
          <a:xfrm>
            <a:off x="6675120" y="2834640"/>
            <a:ext cx="2926080" cy="822960"/>
          </a:xfrm>
          <a:prstGeom prst="rect">
            <a:avLst/>
          </a:prstGeom>
          <a:noFill/>
          <a:ln/>
        </p:spPr>
        <p:txBody>
          <a:bodyPr wrap="square" lIns="0" tIns="0" rIns="0" bIns="0" rtlCol="0" anchor="ctr"/>
          <a:lstStyle/>
          <a:p>
            <a:pPr indent="0" marL="0">
              <a:buNone/>
            </a:pPr>
            <a:r>
              <a:rPr lang="en-US" sz="4000" b="1" dirty="0">
                <a:solidFill>
                  <a:srgbClr val="1E1E1E"/>
                </a:solidFill>
                <a:latin typeface="Arial" pitchFamily="34" charset="0"/>
                <a:ea typeface="Arial" pitchFamily="34" charset="-122"/>
                <a:cs typeface="Arial" pitchFamily="34" charset="-120"/>
              </a:rPr>
              <a:t>$185,389</a:t>
            </a:r>
            <a:endParaRPr lang="en-US" sz="4000" dirty="0"/>
          </a:p>
        </p:txBody>
      </p:sp>
      <p:sp>
        <p:nvSpPr>
          <p:cNvPr id="12" name="Text 9"/>
          <p:cNvSpPr txBox="1"/>
          <p:nvPr/>
        </p:nvSpPr>
        <p:spPr>
          <a:xfrm>
            <a:off x="9509760" y="3063240"/>
            <a:ext cx="2103120" cy="548640"/>
          </a:xfrm>
          <a:prstGeom prst="rect">
            <a:avLst/>
          </a:prstGeom>
          <a:noFill/>
          <a:ln/>
        </p:spPr>
        <p:txBody>
          <a:bodyPr wrap="square" lIns="0" tIns="0" rIns="0" bIns="0" rtlCol="0" anchor="ctr"/>
          <a:lstStyle/>
          <a:p>
            <a:pPr indent="0" marL="0">
              <a:lnSpc>
                <a:spcPts val="1600"/>
              </a:lnSpc>
              <a:buNone/>
            </a:pPr>
            <a:r>
              <a:rPr lang="en-US" sz="1250" dirty="0">
                <a:solidFill>
                  <a:srgbClr val="6B6B6B"/>
                </a:solidFill>
                <a:latin typeface="Arial" pitchFamily="34" charset="0"/>
                <a:ea typeface="Arial" pitchFamily="34" charset="-122"/>
                <a:cs typeface="Arial" pitchFamily="34" charset="-120"/>
              </a:rPr>
              <a:t>Ventas limpia, con duplicados</a:t>
            </a:r>
            <a:endParaRPr lang="en-US" sz="1250" dirty="0"/>
          </a:p>
        </p:txBody>
      </p:sp>
      <p:sp>
        <p:nvSpPr>
          <p:cNvPr id="13" name="Text 10"/>
          <p:cNvSpPr txBox="1"/>
          <p:nvPr/>
        </p:nvSpPr>
        <p:spPr>
          <a:xfrm>
            <a:off x="6675120" y="4160520"/>
            <a:ext cx="2926080" cy="822960"/>
          </a:xfrm>
          <a:prstGeom prst="rect">
            <a:avLst/>
          </a:prstGeom>
          <a:noFill/>
          <a:ln/>
        </p:spPr>
        <p:txBody>
          <a:bodyPr wrap="square" lIns="0" tIns="0" rIns="0" bIns="0" rtlCol="0" anchor="ctr"/>
          <a:lstStyle/>
          <a:p>
            <a:pPr indent="0" marL="0">
              <a:buNone/>
            </a:pPr>
            <a:r>
              <a:rPr lang="en-US" sz="4000" b="1" dirty="0">
                <a:solidFill>
                  <a:srgbClr val="A6192E"/>
                </a:solidFill>
                <a:latin typeface="Arial" pitchFamily="34" charset="0"/>
                <a:ea typeface="Arial" pitchFamily="34" charset="-122"/>
                <a:cs typeface="Arial" pitchFamily="34" charset="-120"/>
              </a:rPr>
              <a:t>$182,325</a:t>
            </a:r>
            <a:endParaRPr lang="en-US" sz="4000" dirty="0"/>
          </a:p>
        </p:txBody>
      </p:sp>
      <p:sp>
        <p:nvSpPr>
          <p:cNvPr id="14" name="Text 11"/>
          <p:cNvSpPr txBox="1"/>
          <p:nvPr/>
        </p:nvSpPr>
        <p:spPr>
          <a:xfrm>
            <a:off x="9509760" y="4389120"/>
            <a:ext cx="2103120" cy="548640"/>
          </a:xfrm>
          <a:prstGeom prst="rect">
            <a:avLst/>
          </a:prstGeom>
          <a:noFill/>
          <a:ln/>
        </p:spPr>
        <p:txBody>
          <a:bodyPr wrap="square" lIns="0" tIns="0" rIns="0" bIns="0" rtlCol="0" anchor="ctr"/>
          <a:lstStyle/>
          <a:p>
            <a:pPr indent="0" marL="0">
              <a:lnSpc>
                <a:spcPts val="1600"/>
              </a:lnSpc>
              <a:buNone/>
            </a:pPr>
            <a:r>
              <a:rPr lang="en-US" sz="1250" dirty="0">
                <a:solidFill>
                  <a:srgbClr val="6B6B6B"/>
                </a:solidFill>
                <a:latin typeface="Arial" pitchFamily="34" charset="0"/>
                <a:ea typeface="Arial" pitchFamily="34" charset="-122"/>
                <a:cs typeface="Arial" pitchFamily="34" charset="-120"/>
              </a:rPr>
              <a:t>Ventas limpia, sin duplicados</a:t>
            </a:r>
            <a:endParaRPr lang="en-US" sz="1250" dirty="0"/>
          </a:p>
        </p:txBody>
      </p:sp>
      <p:sp>
        <p:nvSpPr>
          <p:cNvPr id="15" name="Shape 12"/>
          <p:cNvSpPr/>
          <p:nvPr/>
        </p:nvSpPr>
        <p:spPr>
          <a:xfrm>
            <a:off x="685800" y="3977640"/>
            <a:ext cx="5486400" cy="1280160"/>
          </a:xfrm>
          <a:prstGeom prst="rect">
            <a:avLst/>
          </a:prstGeom>
          <a:solidFill>
            <a:srgbClr val="FBEDEF"/>
          </a:solidFill>
          <a:ln/>
        </p:spPr>
      </p:sp>
      <p:sp>
        <p:nvSpPr>
          <p:cNvPr id="16" name="Text 13"/>
          <p:cNvSpPr txBox="1"/>
          <p:nvPr/>
        </p:nvSpPr>
        <p:spPr>
          <a:xfrm>
            <a:off x="914400" y="3977640"/>
            <a:ext cx="5029200" cy="1280160"/>
          </a:xfrm>
          <a:prstGeom prst="rect">
            <a:avLst/>
          </a:prstGeom>
          <a:noFill/>
          <a:ln/>
        </p:spPr>
        <p:txBody>
          <a:bodyPr wrap="square" lIns="0" tIns="0" rIns="0" bIns="0" rtlCol="0" anchor="ctr"/>
          <a:lstStyle/>
          <a:p>
            <a:pPr indent="0" marL="0">
              <a:lnSpc>
                <a:spcPts val="1900"/>
              </a:lnSpc>
              <a:buNone/>
            </a:pPr>
            <a:r>
              <a:rPr lang="en-US" sz="1350" b="1" dirty="0">
                <a:solidFill>
                  <a:srgbClr val="A6192E"/>
                </a:solidFill>
                <a:latin typeface="Arial" pitchFamily="34" charset="0"/>
                <a:ea typeface="Arial" pitchFamily="34" charset="-122"/>
                <a:cs typeface="Arial" pitchFamily="34" charset="-120"/>
              </a:rPr>
              <a:t>Tu bitácora cierra con tres líneas: 1.335 filas iniciales, 1.311 finales, y la venta del año pasó de $185.389 a $182.325 al excluir duplicados.</a:t>
            </a:r>
            <a:endParaRPr lang="en-US" sz="1350" dirty="0"/>
          </a:p>
        </p:txBody>
      </p:sp>
      <p:sp>
        <p:nvSpPr>
          <p:cNvPr id="17" name="Text 14"/>
          <p:cNvSpPr txBox="1"/>
          <p:nvPr/>
        </p:nvSpPr>
        <p:spPr>
          <a:xfrm>
            <a:off x="685800" y="5394960"/>
            <a:ext cx="10835640" cy="548640"/>
          </a:xfrm>
          <a:prstGeom prst="rect">
            <a:avLst/>
          </a:prstGeom>
          <a:noFill/>
          <a:ln/>
        </p:spPr>
        <p:txBody>
          <a:bodyPr wrap="square" lIns="0" tIns="0" rIns="0" bIns="0" rtlCol="0" anchor="ctr"/>
          <a:lstStyle/>
          <a:p>
            <a:pPr indent="0" marL="0">
              <a:lnSpc>
                <a:spcPts val="1700"/>
              </a:lnSpc>
              <a:buNone/>
            </a:pPr>
            <a:r>
              <a:rPr lang="en-US" sz="1300" dirty="0">
                <a:solidFill>
                  <a:srgbClr val="6B6B6B"/>
                </a:solidFill>
                <a:latin typeface="Arial" pitchFamily="34" charset="0"/>
                <a:ea typeface="Arial" pitchFamily="34" charset="-122"/>
                <a:cs typeface="Arial" pitchFamily="34" charset="-120"/>
              </a:rPr>
              <a:t>Y el problema siguiente ya está a la vista: la utilidad todavía tiene 15 centinelas y las cantidades negativas siguen ahí. Eso también se escribe.</a:t>
            </a:r>
            <a:endParaRPr lang="en-US" sz="1300" dirty="0"/>
          </a:p>
        </p:txBody>
      </p:sp>
      <p:sp>
        <p:nvSpPr>
          <p:cNvPr id="18" name="Shape 15"/>
          <p:cNvSpPr/>
          <p:nvPr/>
        </p:nvSpPr>
        <p:spPr>
          <a:xfrm>
            <a:off x="685800" y="6126480"/>
            <a:ext cx="109728" cy="457200"/>
          </a:xfrm>
          <a:prstGeom prst="rect">
            <a:avLst/>
          </a:prstGeom>
          <a:solidFill>
            <a:srgbClr val="A6192E"/>
          </a:solidFill>
          <a:ln/>
        </p:spPr>
      </p:sp>
      <p:sp>
        <p:nvSpPr>
          <p:cNvPr id="19" name="Text 16"/>
          <p:cNvSpPr txBox="1"/>
          <p:nvPr/>
        </p:nvSpPr>
        <p:spPr>
          <a:xfrm>
            <a:off x="960120" y="6126480"/>
            <a:ext cx="10515600" cy="457200"/>
          </a:xfrm>
          <a:prstGeom prst="rect">
            <a:avLst/>
          </a:prstGeom>
          <a:noFill/>
          <a:ln/>
        </p:spPr>
        <p:txBody>
          <a:bodyPr wrap="square" lIns="0" tIns="0" rIns="0" bIns="0" rtlCol="0" anchor="ctr"/>
          <a:lstStyle/>
          <a:p>
            <a:pPr indent="0" marL="0">
              <a:buNone/>
            </a:pPr>
            <a:r>
              <a:rPr lang="en-US" sz="1350" b="1" dirty="0">
                <a:solidFill>
                  <a:srgbClr val="A6192E"/>
                </a:solidFill>
                <a:latin typeface="Arial" pitchFamily="34" charset="0"/>
                <a:ea typeface="Arial" pitchFamily="34" charset="-122"/>
                <a:cs typeface="Arial" pitchFamily="34" charset="-120"/>
              </a:rPr>
              <a:t>BITÁCORA  </a:t>
            </a:r>
            <a:pPr indent="0" marL="0">
              <a:buNone/>
            </a:pPr>
            <a:r>
              <a:rPr lang="en-US" sz="1350" dirty="0">
                <a:solidFill>
                  <a:srgbClr val="1E1E1E"/>
                </a:solidFill>
                <a:latin typeface="Arial" pitchFamily="34" charset="0"/>
                <a:ea typeface="Arial" pitchFamily="34" charset="-122"/>
                <a:cs typeface="Arial" pitchFamily="34" charset="-120"/>
              </a:rPr>
              <a:t>Resumen · 1.335 → 1.311 filas · venta del año: $182.325 · cifra que va al informe para Verónica.</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89611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EL DEBER 2 · BITÁCORA DE LIMPIEZA</a:t>
            </a:r>
            <a:endParaRPr lang="en-US" sz="1300" dirty="0"/>
          </a:p>
        </p:txBody>
      </p:sp>
      <p:sp>
        <p:nvSpPr>
          <p:cNvPr id="3" name="Shape 1"/>
          <p:cNvSpPr/>
          <p:nvPr/>
        </p:nvSpPr>
        <p:spPr>
          <a:xfrm>
            <a:off x="9966960" y="411480"/>
            <a:ext cx="1554480" cy="457200"/>
          </a:xfrm>
          <a:prstGeom prst="roundRect">
            <a:avLst>
              <a:gd name="adj" fmla="val 50000"/>
            </a:avLst>
          </a:prstGeom>
          <a:solidFill>
            <a:srgbClr val="FBEDEF"/>
          </a:solidFill>
          <a:ln w="12700">
            <a:solidFill>
              <a:srgbClr val="A6192E"/>
            </a:solidFill>
            <a:prstDash val="solid"/>
          </a:ln>
        </p:spPr>
      </p:sp>
      <p:sp>
        <p:nvSpPr>
          <p:cNvPr id="4" name="Text 2"/>
          <p:cNvSpPr txBox="1"/>
          <p:nvPr/>
        </p:nvSpPr>
        <p:spPr>
          <a:xfrm>
            <a:off x="9966960" y="411480"/>
            <a:ext cx="1554480" cy="457200"/>
          </a:xfrm>
          <a:prstGeom prst="rect">
            <a:avLst/>
          </a:prstGeom>
          <a:noFill/>
          <a:ln/>
        </p:spPr>
        <p:txBody>
          <a:bodyPr wrap="square" lIns="0" tIns="0" rIns="0" bIns="0" rtlCol="0" anchor="ctr"/>
          <a:lstStyle/>
          <a:p>
            <a:pPr algn="ctr" indent="0" marL="0">
              <a:buNone/>
            </a:pPr>
            <a:r>
              <a:rPr lang="en-US" sz="1200" b="1" dirty="0">
                <a:solidFill>
                  <a:srgbClr val="A6192E"/>
                </a:solidFill>
                <a:latin typeface="Arial" pitchFamily="34" charset="0"/>
                <a:ea typeface="Arial" pitchFamily="34" charset="-122"/>
                <a:cs typeface="Arial" pitchFamily="34" charset="-120"/>
              </a:rPr>
              <a:t>MIN 84–87</a:t>
            </a:r>
            <a:endParaRPr lang="en-US" sz="1200" dirty="0"/>
          </a:p>
        </p:txBody>
      </p:sp>
      <p:sp>
        <p:nvSpPr>
          <p:cNvPr id="6" name="Text 3"/>
          <p:cNvSpPr txBox="1"/>
          <p:nvPr/>
        </p:nvSpPr>
        <p:spPr>
          <a:xfrm>
            <a:off x="685800" y="868680"/>
            <a:ext cx="10789920" cy="54864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La bitácora, ordenada y entregada</a:t>
            </a:r>
            <a:endParaRPr lang="en-US" sz="2700" dirty="0"/>
          </a:p>
        </p:txBody>
      </p:sp>
      <p:sp>
        <p:nvSpPr>
          <p:cNvPr id="7" name="Text 4"/>
          <p:cNvSpPr txBox="1"/>
          <p:nvPr/>
        </p:nvSpPr>
        <p:spPr>
          <a:xfrm>
            <a:off x="685800" y="1554480"/>
            <a:ext cx="64008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QUÉ ENTREGAS · INDIVIDUAL · BUZÓN DEBER 2 EN D2L</a:t>
            </a:r>
            <a:endParaRPr lang="en-US" sz="1150" dirty="0"/>
          </a:p>
        </p:txBody>
      </p:sp>
      <p:sp>
        <p:nvSpPr>
          <p:cNvPr id="8" name="Text 5"/>
          <p:cNvSpPr txBox="1"/>
          <p:nvPr/>
        </p:nvSpPr>
        <p:spPr>
          <a:xfrm>
            <a:off x="685800" y="1920240"/>
            <a:ext cx="6583680" cy="2926080"/>
          </a:xfrm>
          <a:prstGeom prst="rect">
            <a:avLst/>
          </a:prstGeom>
          <a:noFill/>
          <a:ln/>
        </p:spPr>
        <p:txBody>
          <a:bodyPr wrap="square" lIns="0" tIns="0" rIns="0" bIns="0" rtlCol="0" anchor="ctr"/>
          <a:lstStyle/>
          <a:p>
            <a:pPr marL="177800" indent="-177800">
              <a:lnSpc>
                <a:spcPts val="2000"/>
              </a:lnSpc>
              <a:spcAft>
                <a:spcPts val="1200"/>
              </a:spcAft>
              <a:buSzPct val="100000"/>
              <a:buChar char="•"/>
            </a:pPr>
            <a:r>
              <a:rPr lang="en-US" sz="1400" dirty="0">
                <a:solidFill>
                  <a:srgbClr val="1E1E1E"/>
                </a:solidFill>
                <a:latin typeface="Arial" pitchFamily="34" charset="0"/>
                <a:ea typeface="Arial" pitchFamily="34" charset="-122"/>
                <a:cs typeface="Arial" pitchFamily="34" charset="-120"/>
              </a:rPr>
              <a:t>Una página (PDF o el propio cuaderno) con una tabla de al menos 6 problemas, uno por fila: problema, filas afectadas, evidencia en código, decisión y justificación de negocio.</a:t>
            </a:r>
            <a:endParaRPr lang="en-US" sz="1400" dirty="0"/>
          </a:p>
          <a:p>
            <a:pPr marL="177800" indent="-177800">
              <a:lnSpc>
                <a:spcPts val="2000"/>
              </a:lnSpc>
              <a:spcAft>
                <a:spcPts val="1200"/>
              </a:spcAft>
              <a:buSzPct val="100000"/>
              <a:buChar char="•"/>
            </a:pPr>
            <a:r>
              <a:rPr lang="en-US" sz="1400" dirty="0">
                <a:solidFill>
                  <a:srgbClr val="1E1E1E"/>
                </a:solidFill>
                <a:latin typeface="Arial" pitchFamily="34" charset="0"/>
                <a:ea typeface="Arial" pitchFamily="34" charset="-122"/>
                <a:cs typeface="Arial" pitchFamily="34" charset="-120"/>
              </a:rPr>
              <a:t>Cierre de tres líneas: filas iniciales, filas finales y qué cifra del negocio cambió con tu limpieza.</a:t>
            </a:r>
            <a:endParaRPr lang="en-US" sz="1400" dirty="0"/>
          </a:p>
          <a:p>
            <a:pPr marL="177800" indent="-177800">
              <a:lnSpc>
                <a:spcPts val="2000"/>
              </a:lnSpc>
              <a:spcAft>
                <a:spcPts val="1200"/>
              </a:spcAft>
              <a:buSzPct val="100000"/>
              <a:buChar char="•"/>
            </a:pPr>
            <a:r>
              <a:rPr lang="en-US" sz="1400" dirty="0">
                <a:solidFill>
                  <a:srgbClr val="1E1E1E"/>
                </a:solidFill>
                <a:latin typeface="Arial" pitchFamily="34" charset="0"/>
                <a:ea typeface="Arial" pitchFamily="34" charset="-122"/>
                <a:cs typeface="Arial" pitchFamily="34" charset="-120"/>
              </a:rPr>
              <a:t>Mismo buzón, segunda entrega del grupo: la propuesta de proyecto final, medio párrafo con dataset, pregunta de negocio y decisión que habilita.</a:t>
            </a:r>
            <a:endParaRPr lang="en-US" sz="1400" dirty="0"/>
          </a:p>
        </p:txBody>
      </p:sp>
      <p:sp>
        <p:nvSpPr>
          <p:cNvPr id="9" name="Text 6"/>
          <p:cNvSpPr txBox="1"/>
          <p:nvPr/>
        </p:nvSpPr>
        <p:spPr>
          <a:xfrm>
            <a:off x="7772400" y="1554480"/>
            <a:ext cx="3657600" cy="292608"/>
          </a:xfrm>
          <a:prstGeom prst="rect">
            <a:avLst/>
          </a:prstGeom>
          <a:noFill/>
          <a:ln/>
        </p:spPr>
        <p:txBody>
          <a:bodyPr wrap="square" lIns="0" tIns="0" rIns="0" bIns="0" rtlCol="0" anchor="ctr"/>
          <a:lstStyle/>
          <a:p>
            <a:pPr indent="0" marL="0">
              <a:buNone/>
            </a:pPr>
            <a:r>
              <a:rPr lang="en-US" sz="1150" b="1" spc="150" kern="0" dirty="0">
                <a:solidFill>
                  <a:srgbClr val="A6192E"/>
                </a:solidFill>
                <a:latin typeface="Arial" pitchFamily="34" charset="0"/>
                <a:ea typeface="Arial" pitchFamily="34" charset="-122"/>
                <a:cs typeface="Arial" pitchFamily="34" charset="-120"/>
              </a:rPr>
              <a:t>RÚBRICA · 10 PUNTOS</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0" y="1920240"/>
          <a:ext cx="3749040" cy="914400"/>
        </p:xfrm>
        <a:graphic>
          <a:graphicData uri="http://schemas.openxmlformats.org/drawingml/2006/table">
            <a:tbl>
              <a:tblPr/>
              <a:tblGrid>
                <a:gridCol w="3017520"/>
                <a:gridCol w="731520"/>
              </a:tblGrid>
              <a:tr h="502920">
                <a:tc>
                  <a:txBody>
                    <a:bodyPr/>
                    <a:lstStyle/>
                    <a:p>
                      <a:pPr algn="l" indent="0" marL="0">
                        <a:buNone/>
                      </a:pPr>
                      <a:r>
                        <a:rPr lang="en-US" sz="1050" b="1" dirty="0">
                          <a:solidFill>
                            <a:srgbClr val="A6192E"/>
                          </a:solidFill>
                          <a:latin typeface="Arial" pitchFamily="34" charset="0"/>
                          <a:ea typeface="Arial" pitchFamily="34" charset="-122"/>
                          <a:cs typeface="Arial" pitchFamily="34" charset="-120"/>
                        </a:rPr>
                        <a:t>Criterio</a:t>
                      </a:r>
                      <a:endParaRPr lang="en-US" sz="10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c>
                  <a:txBody>
                    <a:bodyPr/>
                    <a:lstStyle/>
                    <a:p>
                      <a:pPr algn="ctr" indent="0" marL="0">
                        <a:buNone/>
                      </a:pPr>
                      <a:r>
                        <a:rPr lang="en-US" sz="1050" b="1" dirty="0">
                          <a:solidFill>
                            <a:srgbClr val="A6192E"/>
                          </a:solidFill>
                          <a:latin typeface="Arial" pitchFamily="34" charset="0"/>
                          <a:ea typeface="Arial" pitchFamily="34" charset="-122"/>
                          <a:cs typeface="Arial" pitchFamily="34" charset="-120"/>
                        </a:rPr>
                        <a:t>Pts</a:t>
                      </a:r>
                      <a:endParaRPr lang="en-US" sz="105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BEDEF"/>
                    </a:solidFill>
                  </a:tcPr>
                </a:tc>
              </a:tr>
              <a:tr h="502920">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Detección: al menos 6 problemas reales</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1E1E"/>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Evidencia reproducible: cada conteo con su código</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1E1E"/>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Decisión y justificación de negocio por problema</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1E1E"/>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E1E1E"/>
                          </a:solidFill>
                          <a:latin typeface="Arial" pitchFamily="34" charset="0"/>
                          <a:ea typeface="Arial" pitchFamily="34" charset="-122"/>
                          <a:cs typeface="Arial" pitchFamily="34" charset="-120"/>
                        </a:rPr>
                        <a:t>Claridad de la bitácora y resumen final</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1E1E"/>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bl>
          </a:graphicData>
        </a:graphic>
      </p:graphicFrame>
      <p:sp>
        <p:nvSpPr>
          <p:cNvPr id="11" name="Shape 7"/>
          <p:cNvSpPr/>
          <p:nvPr/>
        </p:nvSpPr>
        <p:spPr>
          <a:xfrm>
            <a:off x="685800" y="4892040"/>
            <a:ext cx="10835640" cy="868680"/>
          </a:xfrm>
          <a:prstGeom prst="rect">
            <a:avLst/>
          </a:prstGeom>
          <a:solidFill>
            <a:srgbClr val="FBEDEF"/>
          </a:solidFill>
          <a:ln/>
        </p:spPr>
      </p:sp>
      <p:sp>
        <p:nvSpPr>
          <p:cNvPr id="12" name="Text 8"/>
          <p:cNvSpPr txBox="1"/>
          <p:nvPr/>
        </p:nvSpPr>
        <p:spPr>
          <a:xfrm>
            <a:off x="914400" y="4892040"/>
            <a:ext cx="10424160" cy="868680"/>
          </a:xfrm>
          <a:prstGeom prst="rect">
            <a:avLst/>
          </a:prstGeom>
          <a:noFill/>
          <a:ln/>
        </p:spPr>
        <p:txBody>
          <a:bodyPr wrap="square" lIns="0" tIns="0" rIns="0" bIns="0" rtlCol="0" anchor="ctr"/>
          <a:lstStyle/>
          <a:p>
            <a:pPr indent="0" marL="0">
              <a:lnSpc>
                <a:spcPts val="1900"/>
              </a:lnSpc>
              <a:buNone/>
            </a:pPr>
            <a:r>
              <a:rPr lang="en-US" sz="1400" b="1" dirty="0">
                <a:solidFill>
                  <a:srgbClr val="A6192E"/>
                </a:solidFill>
                <a:latin typeface="Arial" pitchFamily="34" charset="0"/>
                <a:ea typeface="Arial" pitchFamily="34" charset="-122"/>
                <a:cs typeface="Arial" pitchFamily="34" charset="-120"/>
              </a:rPr>
              <a:t>La semana que viene la tabla de indicadores se construye sobre esta misma base. Sin bitácora, los totales no cuadran entre compañeros ni con los de hoy.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89611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RESUMEN</a:t>
            </a:r>
            <a:endParaRPr lang="en-US" sz="1300" dirty="0"/>
          </a:p>
        </p:txBody>
      </p:sp>
      <p:sp>
        <p:nvSpPr>
          <p:cNvPr id="4" name="Shape 1"/>
          <p:cNvSpPr/>
          <p:nvPr/>
        </p:nvSpPr>
        <p:spPr>
          <a:xfrm>
            <a:off x="777240" y="1417320"/>
            <a:ext cx="502920" cy="502920"/>
          </a:xfrm>
          <a:prstGeom prst="ellipse">
            <a:avLst/>
          </a:prstGeom>
          <a:solidFill>
            <a:srgbClr val="A6192E"/>
          </a:solidFill>
          <a:ln/>
        </p:spPr>
      </p:sp>
      <p:sp>
        <p:nvSpPr>
          <p:cNvPr id="5" name="Text 2"/>
          <p:cNvSpPr txBox="1"/>
          <p:nvPr/>
        </p:nvSpPr>
        <p:spPr>
          <a:xfrm>
            <a:off x="777240" y="1417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3"/>
          <p:cNvSpPr txBox="1"/>
          <p:nvPr/>
        </p:nvSpPr>
        <p:spPr>
          <a:xfrm>
            <a:off x="1554480" y="1307592"/>
            <a:ext cx="9875520" cy="960120"/>
          </a:xfrm>
          <a:prstGeom prst="rect">
            <a:avLst/>
          </a:prstGeom>
          <a:noFill/>
          <a:ln/>
        </p:spPr>
        <p:txBody>
          <a:bodyPr wrap="square" lIns="0" tIns="0" rIns="0" bIns="0" rtlCol="0" anchor="ctr"/>
          <a:lstStyle/>
          <a:p>
            <a:pPr indent="0" marL="0">
              <a:lnSpc>
                <a:spcPts val="2300"/>
              </a:lnSpc>
              <a:buNone/>
            </a:pPr>
            <a:r>
              <a:rPr lang="en-US" sz="1650" dirty="0">
                <a:solidFill>
                  <a:srgbClr val="1E1E1E"/>
                </a:solidFill>
                <a:latin typeface="Arial" pitchFamily="34" charset="0"/>
                <a:ea typeface="Arial" pitchFamily="34" charset="-122"/>
                <a:cs typeface="Arial" pitchFamily="34" charset="-120"/>
              </a:rPr>
              <a:t>Orden de trabajo: qué es una fila, tipos, huecos, duplicados. En otro orden los conteos salen mal.</a:t>
            </a:r>
            <a:endParaRPr lang="en-US" sz="1650" dirty="0"/>
          </a:p>
        </p:txBody>
      </p:sp>
      <p:sp>
        <p:nvSpPr>
          <p:cNvPr id="7" name="Shape 4"/>
          <p:cNvSpPr/>
          <p:nvPr/>
        </p:nvSpPr>
        <p:spPr>
          <a:xfrm>
            <a:off x="777240" y="2532888"/>
            <a:ext cx="502920" cy="502920"/>
          </a:xfrm>
          <a:prstGeom prst="ellipse">
            <a:avLst/>
          </a:prstGeom>
          <a:solidFill>
            <a:srgbClr val="A6192E"/>
          </a:solidFill>
          <a:ln/>
        </p:spPr>
      </p:sp>
      <p:sp>
        <p:nvSpPr>
          <p:cNvPr id="8" name="Text 5"/>
          <p:cNvSpPr txBox="1"/>
          <p:nvPr/>
        </p:nvSpPr>
        <p:spPr>
          <a:xfrm>
            <a:off x="777240" y="25328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9" name="Text 6"/>
          <p:cNvSpPr txBox="1"/>
          <p:nvPr/>
        </p:nvSpPr>
        <p:spPr>
          <a:xfrm>
            <a:off x="1554480" y="2423160"/>
            <a:ext cx="9875520" cy="960120"/>
          </a:xfrm>
          <a:prstGeom prst="rect">
            <a:avLst/>
          </a:prstGeom>
          <a:noFill/>
          <a:ln/>
        </p:spPr>
        <p:txBody>
          <a:bodyPr wrap="square" lIns="0" tIns="0" rIns="0" bIns="0" rtlCol="0" anchor="ctr"/>
          <a:lstStyle/>
          <a:p>
            <a:pPr indent="0" marL="0">
              <a:lnSpc>
                <a:spcPts val="2300"/>
              </a:lnSpc>
              <a:buNone/>
            </a:pPr>
            <a:r>
              <a:rPr lang="en-US" sz="1650" dirty="0">
                <a:solidFill>
                  <a:srgbClr val="1E1E1E"/>
                </a:solidFill>
                <a:latin typeface="Arial" pitchFamily="34" charset="0"/>
                <a:ea typeface="Arial" pitchFamily="34" charset="-122"/>
                <a:cs typeface="Arial" pitchFamily="34" charset="-120"/>
              </a:rPr>
              <a:t>Cero es un dato, vacío es una pregunta y -9999 es un hueco guardado como número. isna() solo ve el segundo.</a:t>
            </a:r>
            <a:endParaRPr lang="en-US" sz="1650" dirty="0"/>
          </a:p>
        </p:txBody>
      </p:sp>
      <p:sp>
        <p:nvSpPr>
          <p:cNvPr id="10" name="Shape 7"/>
          <p:cNvSpPr/>
          <p:nvPr/>
        </p:nvSpPr>
        <p:spPr>
          <a:xfrm>
            <a:off x="777240" y="3648456"/>
            <a:ext cx="502920" cy="502920"/>
          </a:xfrm>
          <a:prstGeom prst="ellipse">
            <a:avLst/>
          </a:prstGeom>
          <a:solidFill>
            <a:srgbClr val="A6192E"/>
          </a:solidFill>
          <a:ln/>
        </p:spPr>
      </p:sp>
      <p:sp>
        <p:nvSpPr>
          <p:cNvPr id="11" name="Text 8"/>
          <p:cNvSpPr txBox="1"/>
          <p:nvPr/>
        </p:nvSpPr>
        <p:spPr>
          <a:xfrm>
            <a:off x="777240" y="364845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2" name="Text 9"/>
          <p:cNvSpPr txBox="1"/>
          <p:nvPr/>
        </p:nvSpPr>
        <p:spPr>
          <a:xfrm>
            <a:off x="1554480" y="3538728"/>
            <a:ext cx="9875520" cy="960120"/>
          </a:xfrm>
          <a:prstGeom prst="rect">
            <a:avLst/>
          </a:prstGeom>
          <a:noFill/>
          <a:ln/>
        </p:spPr>
        <p:txBody>
          <a:bodyPr wrap="square" lIns="0" tIns="0" rIns="0" bIns="0" rtlCol="0" anchor="ctr"/>
          <a:lstStyle/>
          <a:p>
            <a:pPr indent="0" marL="0">
              <a:lnSpc>
                <a:spcPts val="2300"/>
              </a:lnSpc>
              <a:buNone/>
            </a:pPr>
            <a:r>
              <a:rPr lang="en-US" sz="1650" dirty="0">
                <a:solidFill>
                  <a:srgbClr val="1E1E1E"/>
                </a:solidFill>
                <a:latin typeface="Arial" pitchFamily="34" charset="0"/>
                <a:ea typeface="Arial" pitchFamily="34" charset="-122"/>
                <a:cs typeface="Arial" pitchFamily="34" charset="-120"/>
              </a:rPr>
              <a:t>Antes de buscar duplicados, quitar los identificadores automáticos. Una columna de otra granularidad no se suma: aquí infla la venta 3.8 veces.</a:t>
            </a:r>
            <a:endParaRPr lang="en-US" sz="1650" dirty="0"/>
          </a:p>
        </p:txBody>
      </p:sp>
      <p:sp>
        <p:nvSpPr>
          <p:cNvPr id="13" name="Shape 10"/>
          <p:cNvSpPr/>
          <p:nvPr/>
        </p:nvSpPr>
        <p:spPr>
          <a:xfrm>
            <a:off x="777240" y="4764024"/>
            <a:ext cx="502920" cy="502920"/>
          </a:xfrm>
          <a:prstGeom prst="ellipse">
            <a:avLst/>
          </a:prstGeom>
          <a:solidFill>
            <a:srgbClr val="A6192E"/>
          </a:solidFill>
          <a:ln/>
        </p:spPr>
      </p:sp>
      <p:sp>
        <p:nvSpPr>
          <p:cNvPr id="14" name="Text 11"/>
          <p:cNvSpPr txBox="1"/>
          <p:nvPr/>
        </p:nvSpPr>
        <p:spPr>
          <a:xfrm>
            <a:off x="777240" y="47640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5" name="Text 12"/>
          <p:cNvSpPr txBox="1"/>
          <p:nvPr/>
        </p:nvSpPr>
        <p:spPr>
          <a:xfrm>
            <a:off x="1554480" y="4654296"/>
            <a:ext cx="9875520" cy="960120"/>
          </a:xfrm>
          <a:prstGeom prst="rect">
            <a:avLst/>
          </a:prstGeom>
          <a:noFill/>
          <a:ln/>
        </p:spPr>
        <p:txBody>
          <a:bodyPr wrap="square" lIns="0" tIns="0" rIns="0" bIns="0" rtlCol="0" anchor="ctr"/>
          <a:lstStyle/>
          <a:p>
            <a:pPr indent="0" marL="0">
              <a:lnSpc>
                <a:spcPts val="2300"/>
              </a:lnSpc>
              <a:buNone/>
            </a:pPr>
            <a:r>
              <a:rPr lang="en-US" sz="1650" dirty="0">
                <a:solidFill>
                  <a:srgbClr val="1E1E1E"/>
                </a:solidFill>
                <a:latin typeface="Arial" pitchFamily="34" charset="0"/>
                <a:ea typeface="Arial" pitchFamily="34" charset="-122"/>
                <a:cs typeface="Arial" pitchFamily="34" charset="-120"/>
              </a:rPr>
              <a:t>Un faltante se investiga por dónde se concentra y cómo se captura. No se borra ni se rellena sin documentarlo.</a:t>
            </a:r>
            <a:endParaRPr lang="en-US" sz="1650" dirty="0"/>
          </a:p>
        </p:txBody>
      </p:sp>
      <p:sp>
        <p:nvSpPr>
          <p:cNvPr id="16" name="Text 13"/>
          <p:cNvSpPr txBox="1"/>
          <p:nvPr/>
        </p:nvSpPr>
        <p:spPr>
          <a:xfrm>
            <a:off x="777240" y="6035040"/>
            <a:ext cx="10607040" cy="457200"/>
          </a:xfrm>
          <a:prstGeom prst="rect">
            <a:avLst/>
          </a:prstGeom>
          <a:noFill/>
          <a:ln/>
        </p:spPr>
        <p:txBody>
          <a:bodyPr wrap="square" lIns="0" tIns="0" rIns="0" bIns="0" rtlCol="0" anchor="ctr"/>
          <a:lstStyle/>
          <a:p>
            <a:pPr indent="0" marL="0">
              <a:buNone/>
            </a:pPr>
            <a:r>
              <a:rPr lang="en-US" sz="1300" dirty="0">
                <a:solidFill>
                  <a:srgbClr val="6B6B6B"/>
                </a:solidFill>
                <a:latin typeface="Arial" pitchFamily="34" charset="0"/>
                <a:ea typeface="Arial" pitchFamily="34" charset="-122"/>
                <a:cs typeface="Arial" pitchFamily="34" charset="-120"/>
              </a:rPr>
              <a:t>Lunes 14 · Uniones y cardinalidad sobre esta misma base. Trae tu bitácora.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Sesiones 7 y 8 · Anatomía y calidad de los datos</dc:title>
  <dc:subject>PptxGenJS Presentation</dc:subject>
  <dc:creator>ADM 2003 · USFQ Galápagos</dc:creator>
  <cp:lastModifiedBy>ADM 2003 · USFQ Galápagos</cp:lastModifiedBy>
  <cp:revision>1</cp:revision>
  <dcterms:created xsi:type="dcterms:W3CDTF">2026-09-09T14:52:24Z</dcterms:created>
  <dcterms:modified xsi:type="dcterms:W3CDTF">2026-09-09T14:52:24Z</dcterms:modified>
</cp:coreProperties>
</file>